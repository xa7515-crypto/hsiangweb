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</p:spPr>
        <p:txBody>
          <a:bodyPr/>
          <a:lstStyle>
            <a:lvl1pPr>
              <a:defRPr sz="11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0469" y="236415"/>
            <a:ext cx="785301" cy="365125"/>
          </a:xfrm>
        </p:spPr>
        <p:txBody>
          <a:bodyPr/>
          <a:lstStyle>
            <a:lvl1pPr>
              <a:defRPr sz="1400"/>
            </a:lvl1pPr>
          </a:lstStyle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7467600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7677151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7881939" y="209550"/>
              <a:ext cx="242887" cy="431800"/>
            </a:xfrm>
            <a:custGeom>
              <a:avLst/>
              <a:gdLst/>
              <a:ahLst/>
              <a:cxnLst>
                <a:cxn ang="0">
                  <a:pos x="62" y="0"/>
                </a:cxn>
                <a:cxn ang="0">
                  <a:pos x="0" y="0"/>
                </a:cxn>
                <a:cxn ang="0">
                  <a:pos x="89" y="136"/>
                </a:cxn>
                <a:cxn ang="0">
                  <a:pos x="89" y="136"/>
                </a:cxn>
                <a:cxn ang="0">
                  <a:pos x="0" y="272"/>
                </a:cxn>
                <a:cxn ang="0">
                  <a:pos x="62" y="272"/>
                </a:cxn>
                <a:cxn ang="0">
                  <a:pos x="153" y="136"/>
                </a:cxn>
                <a:cxn ang="0">
                  <a:pos x="62" y="0"/>
                </a:cxn>
              </a:cxnLst>
              <a:rect l="0" t="0" r="r" b="b"/>
              <a:pathLst>
                <a:path w="153" h="272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</p:spPr>
        <p:txBody>
          <a:bodyPr>
            <a:noAutofit/>
          </a:bodyPr>
          <a:lstStyle>
            <a:lvl1pPr algn="l">
              <a:defRPr sz="7200" baseline="0">
                <a:ln w="12700">
                  <a:solidFill>
                    <a:schemeClr val="tx2"/>
                  </a:solidFill>
                </a:ln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467600" cy="441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</p:spPr>
        <p:txBody>
          <a:bodyPr bIns="0"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</p:spPr>
        <p:txBody>
          <a:bodyPr>
            <a:noAutofit/>
          </a:bodyPr>
          <a:lstStyle>
            <a:lvl1pPr algn="l">
              <a:defRPr sz="7200" baseline="0">
                <a:ln w="12700">
                  <a:solidFill>
                    <a:schemeClr val="tx2"/>
                  </a:solidFill>
                </a:ln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16152" y="841248"/>
            <a:ext cx="3730752" cy="43891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5102352" y="841248"/>
            <a:ext cx="3730752" cy="438912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5400" y="841248"/>
            <a:ext cx="3735267" cy="533400"/>
          </a:xfrm>
        </p:spPr>
        <p:txBody>
          <a:bodyPr anchor="t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16152" y="1380744"/>
            <a:ext cx="3730752" cy="384048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02352" y="1380743"/>
            <a:ext cx="3730752" cy="384048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</p:spPr>
        <p:txBody>
          <a:bodyPr anchor="b"/>
          <a:lstStyle>
            <a:lvl1pPr algn="l">
              <a:defRPr sz="2000" b="1">
                <a:ln>
                  <a:noFill/>
                </a:ln>
                <a:solidFill>
                  <a:srgbClr val="FF7605"/>
                </a:solidFill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1557337"/>
            <a:ext cx="3008313" cy="438626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914400" y="381000"/>
            <a:ext cx="4800600" cy="59436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</p:spPr>
        <p:txBody>
          <a:bodyPr bIns="0" anchor="b"/>
          <a:lstStyle>
            <a:lvl1pPr algn="l">
              <a:defRPr sz="2000" b="1">
                <a:ln w="12700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23975" y="381000"/>
            <a:ext cx="5867400" cy="4081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029200"/>
            <a:ext cx="4038600" cy="13716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100000">
                <a:schemeClr val="accent6">
                  <a:lumMod val="75000"/>
                </a:schemeClr>
              </a:gs>
            </a:gsLst>
            <a:lin ang="5400000" scaled="0"/>
          </a:gradFill>
          <a:ln>
            <a:noFill/>
          </a:ln>
          <a:effectLst>
            <a:innerShdw blurRad="190500" dist="25400">
              <a:prstClr val="black">
                <a:alpha val="6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814C80A-96A2-473B-B0F8-C18AC6B26C8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Freeform 5"/>
          <p:cNvSpPr>
            <a:spLocks/>
          </p:cNvSpPr>
          <p:nvPr/>
        </p:nvSpPr>
        <p:spPr bwMode="auto">
          <a:xfrm>
            <a:off x="8453438" y="5715000"/>
            <a:ext cx="242887" cy="431800"/>
          </a:xfrm>
          <a:custGeom>
            <a:avLst/>
            <a:gdLst/>
            <a:ahLst/>
            <a:cxnLst>
              <a:cxn ang="0">
                <a:pos x="62" y="0"/>
              </a:cxn>
              <a:cxn ang="0">
                <a:pos x="0" y="0"/>
              </a:cxn>
              <a:cxn ang="0">
                <a:pos x="89" y="136"/>
              </a:cxn>
              <a:cxn ang="0">
                <a:pos x="89" y="136"/>
              </a:cxn>
              <a:cxn ang="0">
                <a:pos x="0" y="272"/>
              </a:cxn>
              <a:cxn ang="0">
                <a:pos x="62" y="272"/>
              </a:cxn>
              <a:cxn ang="0">
                <a:pos x="153" y="136"/>
              </a:cxn>
              <a:cxn ang="0">
                <a:pos x="62" y="0"/>
              </a:cxn>
            </a:cxnLst>
            <a:rect l="0" t="0" r="r" b="b"/>
            <a:pathLst>
              <a:path w="153" h="272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198682" y="4821116"/>
            <a:ext cx="262596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579B14F-3498-4ADA-874D-53C03A53A933}" type="datetimeFigureOut">
              <a:rPr lang="zh-TW" altLang="en-US" smtClean="0"/>
              <a:t>2015/4/15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  <p:txStyles>
    <p:titleStyle>
      <a:lvl1pPr algn="l" defTabSz="914400" rtl="0" eaLnBrk="1" latinLnBrk="0" hangingPunct="1">
        <a:spcBef>
          <a:spcPct val="0"/>
        </a:spcBef>
        <a:buNone/>
        <a:defRPr sz="7200" b="1" kern="1200">
          <a:ln w="12700">
            <a:solidFill>
              <a:schemeClr val="tx2"/>
            </a:solidFill>
          </a:ln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˃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&gt;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1"/>
        </a:buClr>
        <a:buFont typeface="Calibri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ownews.com/2011/01/07/11469-2680052.htm#ixzz1E6KJBKzl" TargetMode="External"/><Relationship Id="rId2" Type="http://schemas.openxmlformats.org/officeDocument/2006/relationships/hyperlink" Target="http://www.nownews.com/n/2011/01/03/581675#ixzz1DGFlVAT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71600" y="2778146"/>
            <a:ext cx="7632848" cy="1246391"/>
          </a:xfrm>
        </p:spPr>
        <p:txBody>
          <a:bodyPr/>
          <a:lstStyle/>
          <a:p>
            <a:r>
              <a:rPr lang="zh-TW" altLang="en-US" sz="72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愛河的簡介與故事</a:t>
            </a:r>
            <a:endParaRPr lang="zh-TW" altLang="en-US" sz="72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51620" y="4365104"/>
            <a:ext cx="7488832" cy="2088232"/>
          </a:xfrm>
        </p:spPr>
        <p:txBody>
          <a:bodyPr>
            <a:noAutofit/>
          </a:bodyPr>
          <a:lstStyle/>
          <a:p>
            <a:pPr algn="l"/>
            <a:r>
              <a:rPr lang="en-US" altLang="zh-TW" sz="3600" dirty="0" err="1" smtClean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klps506</a:t>
            </a:r>
            <a:r>
              <a:rPr lang="zh-TW" altLang="en-US" sz="3600" dirty="0" smtClean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隊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藍立偉、郭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胤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呈、</a:t>
            </a:r>
            <a:r>
              <a:rPr lang="en-US" altLang="zh-TW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陳怡伶、許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芙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甄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許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芷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瑜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黃玟瑜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黃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璽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云、葉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書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亨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3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夏</a:t>
            </a:r>
            <a:r>
              <a:rPr lang="zh-TW" altLang="en-US" sz="3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煜翔</a:t>
            </a:r>
          </a:p>
        </p:txBody>
      </p:sp>
      <p:pic>
        <p:nvPicPr>
          <p:cNvPr id="1028" name="Picture 4" descr="http://ftp.klps.kh.edu.tw/kt/t43/native/p8/images/p8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777896"/>
            <a:ext cx="2664296" cy="199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ftp.klps.kh.edu.tw/kt/t43/native/p8/images/p8d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5049"/>
            <a:ext cx="2664296" cy="199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ftp.klps.kh.edu.tw/kt/t43/native/p8/images/p8d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496" y="777896"/>
            <a:ext cx="2667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67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6336704" cy="908720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愛河的源頭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980728"/>
            <a:ext cx="7899648" cy="2808312"/>
          </a:xfrm>
        </p:spPr>
        <p:txBody>
          <a:bodyPr>
            <a:normAutofit/>
          </a:bodyPr>
          <a:lstStyle/>
          <a:p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「愛河」，源出於高雄縣仁武鄉八卦寮，西流經鼎金，新莊仔及凹仔底進入市區，像一條黑色巨龍，橫臥市內，貫穿市中心將高雄市分割為二（天然的區隔線），於鹽埕流入高雄港直奔大海。</a:t>
            </a:r>
          </a:p>
          <a:p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愛河，是一條港都的生命母河，是高雄的靈魂，大家只要談到高雄就聯想到高雄有一條愛河</a:t>
            </a:r>
            <a:r>
              <a:rPr lang="zh-TW" altLang="en-US" sz="2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600" dirty="0">
              <a:solidFill>
                <a:srgbClr val="002060"/>
              </a:solidFill>
            </a:endParaRPr>
          </a:p>
        </p:txBody>
      </p:sp>
      <p:pic>
        <p:nvPicPr>
          <p:cNvPr id="4" name="圖片 3" descr="日據時代的愛河沿岸圖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4" y="3573015"/>
            <a:ext cx="4680520" cy="30301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5498423" y="4149080"/>
            <a:ext cx="33550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圖片來源：</a:t>
            </a:r>
            <a:endParaRPr lang="en-US" altLang="zh-TW" sz="1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「親親愛河」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文化愛河協會出版 ，許憶萍繪製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878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243" y="0"/>
            <a:ext cx="6336704" cy="936104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愛河的流域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153719" y="842081"/>
            <a:ext cx="4573513" cy="5539247"/>
          </a:xfrm>
        </p:spPr>
        <p:txBody>
          <a:bodyPr>
            <a:normAutofit fontScale="92500"/>
          </a:bodyPr>
          <a:lstStyle/>
          <a:p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「愛河，經左營、三民、鼓山、鹽埕、前金、苓雅等區而注入高雄港第一港口。主流全長約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公里，在高雄市轄區的河道長約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10.5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公里愛河中、上游河道蜿蜒曲折，流經鼎金、新莊、凹仔底、鼓山，進入鹽埕後，才筆直地排入高雄港，是高雄市最大的一條河川。</a:t>
            </a:r>
          </a:p>
          <a:p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上游源於高雄縣仁武鄉，源頭是農田灌溉渠道。最接近源頭的橋是高雄榮民總醫院後側的後港橋。 總流域面積約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5600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公頃，沿岸居住人口約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72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萬人。</a:t>
            </a:r>
            <a:endParaRPr lang="zh-TW" altLang="en-US" sz="2600" dirty="0">
              <a:solidFill>
                <a:srgbClr val="00206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7544" y="6187402"/>
            <a:ext cx="45365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圖片來源：</a:t>
            </a:r>
            <a:endParaRPr lang="en-US" altLang="zh-TW" sz="1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「親親愛河」</a:t>
            </a:r>
            <a:r>
              <a:rPr lang="en-US" altLang="zh-TW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文化愛河協會出版 ，許憶萍繪製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現在的愛河沿岸圖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3686175" cy="5267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961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6336704" cy="908720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愛河的環境特色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980728"/>
            <a:ext cx="7899648" cy="36724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sz="2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一、河流短緩：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愛河發源於高雄縣仁武鄉八卦寮一帶，所以源頭範圍很小。而且它的流域範圍屬於高雄平原，地勢低平，再加上河流短促，使愛河水流沖刷力量不大，河中含沙量有限，很少有暴漲氾濫的現象</a:t>
            </a:r>
            <a:r>
              <a:rPr lang="zh-TW" altLang="en-US" sz="2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二、無基本流量：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愛河河川流量沒有明顯的乾枯季節。上游水源不固定、水量少、河川細短；下游海水大量湧入，所以河道寬廣開闊，但因無基本流量，因此自淨能力很弱</a:t>
            </a:r>
            <a:r>
              <a:rPr lang="zh-TW" altLang="en-US" sz="2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2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三、受海潮影響：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為感潮河川，河水水位受高雄港海水的漲退潮影響而變化，河水的鹽度和流量都受海水影響。河川的常年水位主要由潮汐決定，所以即使上游短，沒有固定水源，愛河的下游卻水量充沛，全年不會乾枯，這點與台灣一般荒溪型河川不同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479661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22511"/>
            <a:ext cx="33528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81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消失的「高雄川」鐵牌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7937"/>
            <a:ext cx="2315703" cy="11476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6336704" cy="908720"/>
          </a:xfrm>
        </p:spPr>
        <p:txBody>
          <a:bodyPr/>
          <a:lstStyle/>
          <a:p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愛河的身世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7975" y="953344"/>
            <a:ext cx="8656513" cy="59046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先住民的平埔族時期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zh-TW" altLang="en-US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擁有</a:t>
            </a:r>
            <a:r>
              <a:rPr lang="zh-TW" altLang="en-US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鹹淡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水河口</a:t>
            </a:r>
            <a:r>
              <a:rPr lang="zh-TW" altLang="en-US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豐富之生態，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提供以狩獵、捕魚為主的打狗地區先住民平埔族馬卡道人，豐足之食物的來源。</a:t>
            </a:r>
          </a:p>
          <a:p>
            <a:pPr marL="0" indent="0">
              <a:buNone/>
            </a:pPr>
            <a:r>
              <a:rPr lang="zh-TW" altLang="en-US" sz="14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荷西時期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荷蘭人當時繪製的地圖已經有愛河水域之標示，但是卻未見有愛河水域資料之記載。</a:t>
            </a:r>
          </a:p>
          <a:p>
            <a:pPr marL="0" indent="0">
              <a:buNone/>
            </a:pPr>
            <a:r>
              <a:rPr lang="zh-TW" altLang="en-US" sz="14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明清時期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西元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1661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，鄭成功驅逐荷蘭人，於台灣各地採屯田政策，屯墾後勁、右昌、前鋒、前鎮，而私田之墾植則為利用沿河川水路舟楫之便。清領時期，荷人在高雄地區的墾植，大致以鳳山縣舊城及埤頭新城間內陸因軍屯而發展之農墾區域，和丹鳳澳區（打狗港）的居民聚落，利用水楫之便，沿河發展之聚落即可船渡之處者，在「鳳山縣採訪冊」上所提及計有「船仔頭港」、「田尾港」、「龍水港」、「鹽埕港」、「前金港」、「三塊厝港」等。</a:t>
            </a:r>
          </a:p>
          <a:p>
            <a:pPr marL="0" indent="0">
              <a:buNone/>
            </a:pPr>
            <a:r>
              <a:rPr lang="zh-TW" altLang="en-US" sz="14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日治時期愛河的蛻變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日治初期時，稱愛河為「打狗川」，西元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1920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年，打狗就改名為高雄，就又改稱打狗川為「高雄川」或是「高雄運河」。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西元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1908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年開始的打狗港築港開發計畫，睿深高雄川，主要供沿岸設置之工業運輸用。西元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1912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第二期築港工程，首先將愛河另一出海河道「後壁港」填起，另掘一人工渠道替代，即大溝頂，並以之填築鹽埕，規劃為新市鎮，這是愛河第一次的面貌大改變，且愛河由舟楫之功能轉變為高雄港工業機械、原料運輸之功能。因此造就鹽埕區日漸繁榮，成為經濟重要之區域。</a:t>
            </a:r>
          </a:p>
          <a:p>
            <a:pPr marL="0" indent="0">
              <a:buNone/>
            </a:pPr>
            <a:r>
              <a:rPr lang="zh-TW" altLang="en-US" sz="14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台灣光復後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光復之後，來到台灣的國民政府也沿用高雄川之名。隨著台灣的經濟逐漸發展，愛河的河海運輸功能也變成了愛河的致命傷。</a:t>
            </a:r>
          </a:p>
          <a:p>
            <a:pPr marL="0" indent="0">
              <a:buNone/>
            </a:pP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1924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年升格為高雄市，之後，稱愛河為「高雄川」。當時因修築高雄港，而疏濬愛河成寬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73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至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128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公尺，深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3.6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公尺的航道，作為工業運輸之用，因此，又稱「高雄運河」。鐵道部在今建國橋北側的鐵路鐵橋邊立有「高雄川」的鐵牌</a:t>
            </a:r>
            <a:r>
              <a:rPr lang="zh-TW" altLang="en-US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r>
              <a:rPr lang="en-US" altLang="zh-TW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1995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年市政府拆除該鐵橋，「高雄川」鐵牌隨之消失。西元</a:t>
            </a:r>
            <a:r>
              <a:rPr lang="en-US" altLang="zh-TW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1951~1961</a:t>
            </a:r>
            <a:r>
              <a:rPr lang="zh-TW" altLang="en-US" sz="13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年代，大型合版木板公司在愛河中游沿岸設立，因為愛河中上游地區陂塘甚多，可作為貯木池，且藉由愛河河道之運輸甚為便利，但也成為愛河污染嚴重的原因</a:t>
            </a:r>
            <a:r>
              <a:rPr lang="zh-TW" altLang="en-US" sz="13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130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4572000" y="404664"/>
            <a:ext cx="1656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消失的「高雄川」鐵牌</a:t>
            </a:r>
            <a:endParaRPr lang="zh-TW" altLang="en-US" sz="1400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1407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8136904" cy="908720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愛河的名稱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由來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980728"/>
            <a:ext cx="7899648" cy="3672408"/>
          </a:xfrm>
        </p:spPr>
        <p:txBody>
          <a:bodyPr>
            <a:normAutofit fontScale="85000" lnSpcReduction="10000"/>
          </a:bodyPr>
          <a:lstStyle/>
          <a:p>
            <a:pPr marL="0" indent="542925">
              <a:buNone/>
            </a:pP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台灣光復後，政府將愛河兩岸闢為河畔公園，成為戀愛中情侶約會的勝地，但愛情發生波折時，也常是</a:t>
            </a:r>
            <a:r>
              <a:rPr lang="zh-TW" altLang="en-US" sz="2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殉情之地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0" indent="627063">
              <a:buNone/>
            </a:pP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愛河這個名字是出自於西元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1948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年市民陳江潘先生在中正橋附近開了一間划船店，請詩人呂筆命名為「</a:t>
            </a:r>
            <a:r>
              <a:rPr lang="zh-TW" altLang="en-US" sz="2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愛河遊船所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」。</a:t>
            </a:r>
          </a:p>
          <a:p>
            <a:pPr marL="0" indent="0">
              <a:buNone/>
            </a:pP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而在西元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1949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月（民國</a:t>
            </a:r>
            <a:r>
              <a:rPr lang="en-US" altLang="zh-TW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38</a:t>
            </a:r>
            <a:r>
              <a:rPr lang="zh-TW" altLang="en-US" sz="2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）曾有投河殉情的情侶，留下哀婉淒麗的遺書事件，讓高雄新生報以頭條社會新聞發布，剛好河岸旁的「愛河遊船所」招牌被颱風吹落，只剩「愛河」兩字，新聞記者誤以為此即河名，因此，每有情侶投水事件，便以「愛河」作醒目標題加以報導。此後「愛河」就成為媒體共同的名稱。而大家將錯就錯，也跟著新聞媒體一起叫這條河為「愛河」囉！</a:t>
            </a: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12" y="4485266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35" y="4465426"/>
            <a:ext cx="28575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447264"/>
            <a:ext cx="29241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820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8136904" cy="908720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故事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〈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〉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980728"/>
            <a:ext cx="7899648" cy="5688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愛河中的浮洲</a:t>
            </a:r>
          </a:p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早在愛河的下游河床很寬，約有現在的兩、三倍，位在高雄橋的附近，還有兩個浮洲；一個靠近鹽埕，以往鹽埕廟李府千歲生日的時候，</a:t>
            </a: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「請王」、「送王」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的儀式，都在這個沙洲上舉行；另一個則是靠近前金，即使水災這裡也不會淹水，所以當地人認為這裡是「</a:t>
            </a: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鼎簳穴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」，風水極佳，因此有位叫做許知的前金有錢人，就住在這個沙洲上。</a:t>
            </a:r>
          </a:p>
          <a:p>
            <a:pPr marL="0" indent="446088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過人算不如天算，日治時代開築高雄港，由於愛河下游緊連高雄港，因此在深高雄港區的時候，就連愛河下游也要一起清疏；靠近鹽埕的沙洲因為沒有人居住，清除沒有問題，然而靠近前金這塊由於有人住，當時日本的總督府便派人與許知交涉，表示願意支付補償金，請許知遷離沙洲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0" indent="265113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不過許知認為這是一塊風水寶地，怎樣都不肯搬走，工程人員拿他沒有辦法，只好暫時攔置，先著手清疏其他的地方。</a:t>
            </a:r>
          </a:p>
          <a:p>
            <a:pPr marL="0" indent="542925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在此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同時，許知為了更加鞏固他對於這塊沙洲的擁有權，便開始在上頭大興土木，起了間大瓦厝。當房子落成、要請吃入厝酒的時候，許知為了討吉利，不僅廣邀親朋好友，還特地請人去邀請一位乞丐，請他務必賞光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r>
              <a:rPr lang="en-US" altLang="zh-TW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入厝宴客當天，許知不斷地招呼著前來道賀的親友，不過一面寒暄，卻也心神不寧地不時到門口張望，當他看到特意邀請的乞丐終於大駕光臨，連忙三步併兩步趨上前去打招呼，甚至非常鄭重地拉起乞丐的雙手，請教這位乞丐尊姓大名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18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5580112" y="332656"/>
            <a:ext cx="31683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/>
              <a:t>部分文字摘自</a:t>
            </a:r>
            <a:r>
              <a:rPr lang="en-US" altLang="zh-TW" sz="1600" dirty="0" smtClean="0"/>
              <a:t>:</a:t>
            </a:r>
            <a:r>
              <a:rPr lang="zh-TW" altLang="en-US" sz="1600" dirty="0" smtClean="0"/>
              <a:t>傳說高雄</a:t>
            </a:r>
          </a:p>
          <a:p>
            <a:r>
              <a:rPr lang="zh-TW" altLang="en-US" sz="1600" dirty="0" smtClean="0"/>
              <a:t>資料來源</a:t>
            </a:r>
            <a:r>
              <a:rPr lang="en-US" altLang="zh-TW" sz="1600" dirty="0" smtClean="0"/>
              <a:t>:</a:t>
            </a:r>
            <a:r>
              <a:rPr lang="zh-TW" altLang="en-US" sz="1600" dirty="0" smtClean="0"/>
              <a:t>高雄市政府新聞處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1446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4" y="0"/>
            <a:ext cx="5040560" cy="908720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故事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〈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〉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980728"/>
            <a:ext cx="8208912" cy="5688632"/>
          </a:xfrm>
        </p:spPr>
        <p:txBody>
          <a:bodyPr>
            <a:noAutofit/>
          </a:bodyPr>
          <a:lstStyle/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原本乞丐對於這位富翁竟然會邀請他參加筵席，就已經受寵若驚了，這下還以如此大禮相迎，更是讓他感到全身不自在，這也就罷了，許知還一直詢問自己的名字；原來這位乞丐名叫「來富」，有這麼一個好名卻淪落為乞丐，本來就不想多提了，沒想到眼前這個請他來吃飯的有錢人還不斷問他貴姓大名，開始他感到納悶，想說何必明知故問、開他玩笑，因而置之不理，然而許知卻一而再、再而三地詢問，搞得乞丐不耐煩了，於是反問許知：「你既然不知道我是誰，請我來是</a:t>
            </a: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討孤屈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的嗎？」說完掉頭就走，留下一臉錯愕的許知。</a:t>
            </a:r>
          </a:p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許知這麼錯愕是有原因的；原來古早人相信家裡頭有喜事的時候，如果有人口出吉祥話，就會為這家人帶來好彩頭，所以許知特地安排讓這位乞丐前來赴宴，並且盤算著當地向這位乞丐詢問大名的時候，乞丐就會回答：「來富。」許知就會說：「很好、很好！」並且以上座招待他，如此一來「富」入許家、皆大歡喜。沒想到乞丐來富不但完全不照劇本來，還丟下一句觸霉頭的話；所謂</a:t>
            </a: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「孤屈」就是絕子絕孫的意思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，一心想要討吉利的許知，萬萬沒料到精心的安排，卻討來超不吉利的言語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8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446088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也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不知是不是乞丐的氣話真的成了詛咒，之後許知果然厄運連連、諸事不順，甚至他的兒子後來竟然夭折了，</a:t>
            </a:r>
            <a:r>
              <a:rPr lang="zh-TW" altLang="en-US" sz="1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乞丐的話一語成讖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</a:p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最後，許知終於連他的沙洲都保不住了。清港船把愛河下游都清疏的差不多，終究清到許知豪宅所在的沙洲附近，沙洲自然就變得搖搖欲墜、無法安心居住，許知只好放棄執著，舉家遷走，而</a:t>
            </a:r>
            <a:r>
              <a:rPr lang="zh-TW" altLang="en-US" sz="1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愛河僅存的浮洲也就自然消失了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0" indent="0">
              <a:buNone/>
            </a:pPr>
            <a:endParaRPr lang="zh-TW" altLang="en-US" sz="18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5724128" y="260648"/>
            <a:ext cx="27363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 smtClean="0"/>
              <a:t>部分文字摘自</a:t>
            </a:r>
            <a:r>
              <a:rPr lang="en-US" altLang="zh-TW" sz="1400" dirty="0" smtClean="0"/>
              <a:t>:</a:t>
            </a:r>
            <a:r>
              <a:rPr lang="zh-TW" altLang="en-US" sz="1400" dirty="0" smtClean="0"/>
              <a:t>傳說高雄</a:t>
            </a:r>
          </a:p>
          <a:p>
            <a:r>
              <a:rPr lang="zh-TW" altLang="en-US" sz="1400" dirty="0" smtClean="0"/>
              <a:t>資料來源</a:t>
            </a:r>
            <a:r>
              <a:rPr lang="en-US" altLang="zh-TW" sz="1400" dirty="0" smtClean="0"/>
              <a:t>:</a:t>
            </a:r>
            <a:r>
              <a:rPr lang="zh-TW" altLang="en-US" sz="1400" dirty="0" smtClean="0"/>
              <a:t>高雄市政府新聞處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8003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3" y="0"/>
            <a:ext cx="5346913" cy="836712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〈</a:t>
            </a:r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〉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7975" y="908720"/>
            <a:ext cx="8836025" cy="360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（一） 休閒</a:t>
            </a:r>
          </a:p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愛河規劃強調親水的設計，所以兩岸都留有約</a:t>
            </a:r>
            <a:r>
              <a:rPr lang="en-US" altLang="zh-TW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4~8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公尺的綠地，並加有石柱護衛，並設置亭台石凳，供遊客憩息。近年來又增設許多公園、休閒空間，讓愛河的沿岸，現在已成為高雄市民假日休閒的最佳去處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18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1800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（二）運輸</a:t>
            </a:r>
          </a:p>
          <a:p>
            <a:pPr marL="0" indent="446088">
              <a:buNone/>
            </a:pP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清代</a:t>
            </a: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，愛河是高雄平原與旗后港口間的交通路線。所以昔打狗地區，及腹地所產的米、糖、鹽、鳳梨等農產品，多由此水道經打狗港輸往臺灣南北或外運到廈門、福州等地。</a:t>
            </a:r>
          </a:p>
          <a:p>
            <a:pPr marL="0" indent="446088">
              <a:buNone/>
            </a:pPr>
            <a:r>
              <a:rPr lang="zh-TW" altLang="en-US" sz="18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日治時期，為配合高雄築港工程，愛河被疏濬成運河，自東北向西南流，穿越本市南北，小輪船可開到灣內，連絡市港間的水運交通，而農產品及工業製品甚至可由此遠銷至上海、天津、長崎、橫濱</a:t>
            </a:r>
            <a:r>
              <a:rPr lang="zh-TW" altLang="en-US" sz="18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18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18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7" y="4437112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997" y="4437112"/>
            <a:ext cx="28575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888497" y="6426348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400" b="1" dirty="0" smtClean="0">
                <a:solidFill>
                  <a:srgbClr val="C00000"/>
                </a:solidFill>
              </a:rPr>
              <a:t>愛河下游的河畔，已成為大家假日休閒的最佳去處</a:t>
            </a:r>
            <a:endParaRPr lang="zh-TW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97" y="4443413"/>
            <a:ext cx="2706687" cy="203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4583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3" y="0"/>
            <a:ext cx="5346913" cy="836712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愛河的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〈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〉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7975" y="908720"/>
            <a:ext cx="8836025" cy="4032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（三）灌溉</a:t>
            </a:r>
          </a:p>
          <a:p>
            <a:pPr marL="0" indent="446088">
              <a:buNone/>
            </a:pP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昔日愛河流域灌溉的水源都引自愛河各支流，使高雄平原成為魚米之鄉。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（四）製鹽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清代的「瀨南鹽場」位於愛河三角州，是當時全台四大鹽場之一。瀨南鹽場的鹽餉收入占鳳山縣（轄高雄縣市、屏東縣）總收入百分三十到四十，為鳳山縣的主要稅收。目前只留下鹽埕區區名、瀨南街及鹽埕街的舊地名作為歷史的見證。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（五）原木運輸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台灣光復後，因木材加工業發達，原木成為高雄港很重要的進口貨品。愛河北端中上游、內惟埤附近，便是儲存原木的最佳的場所，但這項發展，也同時為愛河的污染種下了開始的種子。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（六）排水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愛河因流經人口最稠密的高雄市中區（三民區、新興區、前金區、鹽埕區），因此成了最「方便」的天然排水渠道，卻也成最易受污染的河道。政府自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1979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年（民國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68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年）起整治愛河，並採用截流系統、攔截垃圾、清除淤泥，經過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年的努力，水質已漸獲改善，河中常見有魚，不再是從前「一汪死水」的景象。</a:t>
            </a: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978746"/>
            <a:ext cx="1908175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406" y="4978745"/>
            <a:ext cx="1908175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94014" y="6405908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愛河的上游多為灌溉農田的細小渠道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60032" y="6417944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愛河沿岸的截流站，具有去污、輸洪的功能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613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27583" y="0"/>
            <a:ext cx="5346913" cy="836712"/>
          </a:xfrm>
        </p:spPr>
        <p:txBody>
          <a:bodyPr/>
          <a:lstStyle/>
          <a:p>
            <a:r>
              <a:rPr lang="zh-TW" altLang="en-US" sz="4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愛河</a:t>
            </a:r>
            <a:r>
              <a:rPr lang="zh-TW" altLang="en-US" sz="4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的新聞</a:t>
            </a:r>
            <a:endParaRPr lang="zh-TW" altLang="en-US" sz="48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968979" y="1196752"/>
            <a:ext cx="6156176" cy="5616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斥資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16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億改造　愛河中上游全線完工啟用</a:t>
            </a:r>
          </a:p>
          <a:p>
            <a:pPr marL="0" indent="0">
              <a:buNone/>
            </a:pP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	斥資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16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億元，打造河堤路悠遊水岸景觀，愛河中上游河堤路全線工程於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99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年底完工，高雄市長陳菊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日主持完工啟用典禮時表示，感謝相關單位通力合作解決了該河段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27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年來的問題，為居民帶來安全舒適的水岸空間，未來將針對大高雄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38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區都市計畫進行整體檢視，確保各區的均衡發展</a:t>
            </a:r>
            <a:r>
              <a:rPr lang="zh-TW" altLang="en-US" sz="1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。記者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孫銘鍾</a:t>
            </a:r>
          </a:p>
          <a:p>
            <a:pPr marL="0" indent="0">
              <a:buNone/>
            </a:pPr>
            <a:r>
              <a:rPr lang="en-US" altLang="zh-TW" sz="1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http://</a:t>
            </a:r>
            <a:r>
              <a:rPr lang="en-US" altLang="zh-TW" sz="1600" dirty="0" err="1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www.nownews.com</a:t>
            </a:r>
            <a:r>
              <a:rPr lang="en-US" altLang="zh-TW" sz="1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/n/2011/01/03/</a:t>
            </a:r>
            <a:r>
              <a:rPr lang="en-US" altLang="zh-TW" sz="1600" dirty="0" err="1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581675#ixzz1DGFlVATo</a:t>
            </a:r>
            <a:endParaRPr lang="en-US" altLang="zh-TW" sz="1600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高市</a:t>
            </a:r>
            <a:r>
              <a:rPr lang="en-US" altLang="zh-TW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號鴨子船完成歲</a:t>
            </a:r>
            <a:r>
              <a:rPr lang="zh-TW" altLang="en-US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休加入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營運</a:t>
            </a:r>
            <a:endParaRPr lang="en-US" altLang="zh-TW" sz="20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1600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高雄市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公車處表示，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號鴨子船與捷運公司推出海陸通套票優惠，憑票一票到底可搭乘鴨子船、摩天輪、捷運，還可以超優惠價享有特約商店食宿遊樂的折扣優惠，好康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不完，超值又優惠。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【2011/01/07】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記者</a:t>
            </a:r>
            <a:r>
              <a:rPr lang="en-US" altLang="zh-TW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孫銘鍾</a:t>
            </a:r>
            <a:endParaRPr lang="en-US" altLang="zh-TW" sz="1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600" u="sng" dirty="0">
                <a:hlinkClick r:id="rId3"/>
              </a:rPr>
              <a:t>http://</a:t>
            </a:r>
            <a:r>
              <a:rPr lang="en-US" altLang="zh-TW" sz="1600" u="sng" dirty="0" err="1">
                <a:hlinkClick r:id="rId3"/>
              </a:rPr>
              <a:t>www.nownews.com</a:t>
            </a:r>
            <a:r>
              <a:rPr lang="en-US" altLang="zh-TW" sz="1600" u="sng" dirty="0">
                <a:hlinkClick r:id="rId3"/>
              </a:rPr>
              <a:t>/2011/01/07/</a:t>
            </a:r>
            <a:r>
              <a:rPr lang="en-US" altLang="zh-TW" sz="1600" u="sng" dirty="0" err="1">
                <a:hlinkClick r:id="rId3"/>
              </a:rPr>
              <a:t>11469-2680052.htm#ixzz1E6KJBKzl</a:t>
            </a:r>
            <a:endParaRPr lang="en-US" altLang="zh-TW" sz="1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1600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3" y="1196752"/>
            <a:ext cx="2384425" cy="17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4" y="3421544"/>
            <a:ext cx="2384425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37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75656" y="4797152"/>
            <a:ext cx="6552727" cy="1440160"/>
          </a:xfrm>
        </p:spPr>
        <p:txBody>
          <a:bodyPr/>
          <a:lstStyle/>
          <a:p>
            <a:r>
              <a:rPr lang="zh-TW" altLang="en-US" sz="9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謝謝大家</a:t>
            </a:r>
            <a:endParaRPr lang="zh-TW" altLang="en-US" sz="96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04664"/>
            <a:ext cx="7416824" cy="4171964"/>
          </a:xfrm>
        </p:spPr>
      </p:pic>
      <p:sp>
        <p:nvSpPr>
          <p:cNvPr id="6" name="AutoShape 4" descr="D:\103-506\%E6%A1%82%E6%9E%97%E5%A4%A7%E6%B2%B3%E6%88%80%E4%BB%8B%E7%B4%B9\%E6%84%9B%E6%B2%B3\%E6%84%9B%E6%B2%B3\library.taiwanschoolnet.org\cyberfair2005\yacjh\images\pru0-5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535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熱力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熱力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熱力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63500" dist="38100" dir="81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101600" dist="63500" dir="81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000000"/>
            </a:lightRig>
          </a:scene3d>
          <a:sp3d>
            <a:bevelT h="190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lumMod val="125000"/>
              </a:schemeClr>
            </a:gs>
            <a:gs pos="55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90000"/>
                <a:satMod val="300000"/>
                <a:lumMod val="9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8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1717</Words>
  <Application>Microsoft Office PowerPoint</Application>
  <PresentationFormat>如螢幕大小 (4:3)</PresentationFormat>
  <Paragraphs>76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熱力</vt:lpstr>
      <vt:lpstr>愛河的簡介與故事</vt:lpstr>
      <vt:lpstr>愛河的源頭</vt:lpstr>
      <vt:lpstr>愛河的流域</vt:lpstr>
      <vt:lpstr>愛河的環境特色</vt:lpstr>
      <vt:lpstr>愛河的身世</vt:lpstr>
      <vt:lpstr>愛河的名稱由來</vt:lpstr>
      <vt:lpstr>愛河的故事〈一〉</vt:lpstr>
      <vt:lpstr>愛河的故事〈二〉</vt:lpstr>
      <vt:lpstr>愛河的功能〈一〉</vt:lpstr>
      <vt:lpstr>愛河的功能〈二〉</vt:lpstr>
      <vt:lpstr>愛河的新聞</vt:lpstr>
      <vt:lpstr>謝謝大家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愛河的簡介與故事</dc:title>
  <dc:creator>user</dc:creator>
  <cp:lastModifiedBy>user</cp:lastModifiedBy>
  <cp:revision>28</cp:revision>
  <dcterms:created xsi:type="dcterms:W3CDTF">2015-04-08T07:10:36Z</dcterms:created>
  <dcterms:modified xsi:type="dcterms:W3CDTF">2015-04-15T04:13:45Z</dcterms:modified>
</cp:coreProperties>
</file>