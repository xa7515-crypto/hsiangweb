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69" r:id="rId4"/>
    <p:sldId id="268" r:id="rId5"/>
    <p:sldId id="270"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58" r:id="rId19"/>
    <p:sldId id="283" r:id="rId20"/>
    <p:sldId id="284" r:id="rId21"/>
    <p:sldId id="285" r:id="rId22"/>
    <p:sldId id="286" r:id="rId23"/>
    <p:sldId id="259" r:id="rId24"/>
    <p:sldId id="287" r:id="rId25"/>
    <p:sldId id="288" r:id="rId26"/>
    <p:sldId id="289" r:id="rId27"/>
    <p:sldId id="290" r:id="rId28"/>
    <p:sldId id="291" r:id="rId29"/>
    <p:sldId id="292" r:id="rId30"/>
    <p:sldId id="293" r:id="rId31"/>
    <p:sldId id="294" r:id="rId32"/>
    <p:sldId id="295" r:id="rId33"/>
    <p:sldId id="267" r:id="rId3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1A04"/>
    <a:srgbClr val="CCE9AD"/>
    <a:srgbClr val="B3EBFF"/>
    <a:srgbClr val="FFFEEB"/>
    <a:srgbClr val="FEECEC"/>
    <a:srgbClr val="FFEBFF"/>
    <a:srgbClr val="193111"/>
    <a:srgbClr val="333300"/>
    <a:srgbClr val="F97523"/>
    <a:srgbClr val="D856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51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577E33-A40A-41DA-9A44-6AD4BA846F36}"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zh-TW" altLang="en-US"/>
        </a:p>
      </dgm:t>
    </dgm:pt>
    <dgm:pt modelId="{5E7CC7CB-761F-4C5F-BA0E-293E50E708FE}">
      <dgm:prSet/>
      <dgm:spPr/>
      <dgm:t>
        <a:bodyPr/>
        <a:lstStyle/>
        <a:p>
          <a:pPr rtl="0"/>
          <a:r>
            <a:rPr lang="zh-TW" dirty="0" smtClean="0"/>
            <a:t>位於愛河上游，僅存的自然河岸</a:t>
          </a:r>
          <a:endParaRPr lang="zh-TW" dirty="0"/>
        </a:p>
      </dgm:t>
    </dgm:pt>
    <dgm:pt modelId="{F9C86D5F-B9FE-4940-93BA-1B07A3EC6CCC}" type="parTrans" cxnId="{221F9778-ECF3-4BD9-8824-B8084F67B603}">
      <dgm:prSet/>
      <dgm:spPr/>
      <dgm:t>
        <a:bodyPr/>
        <a:lstStyle/>
        <a:p>
          <a:endParaRPr lang="zh-TW" altLang="en-US"/>
        </a:p>
      </dgm:t>
    </dgm:pt>
    <dgm:pt modelId="{0126EAC5-CAB7-4ECF-876D-9A063F0C4D91}" type="sibTrans" cxnId="{221F9778-ECF3-4BD9-8824-B8084F67B603}">
      <dgm:prSet/>
      <dgm:spPr/>
      <dgm:t>
        <a:bodyPr/>
        <a:lstStyle/>
        <a:p>
          <a:endParaRPr lang="zh-TW" altLang="en-US"/>
        </a:p>
      </dgm:t>
    </dgm:pt>
    <dgm:pt modelId="{A7006A57-F9E0-4591-B052-D8D3B36EF642}" type="pres">
      <dgm:prSet presAssocID="{B7577E33-A40A-41DA-9A44-6AD4BA846F36}" presName="linear" presStyleCnt="0">
        <dgm:presLayoutVars>
          <dgm:animLvl val="lvl"/>
          <dgm:resizeHandles val="exact"/>
        </dgm:presLayoutVars>
      </dgm:prSet>
      <dgm:spPr/>
      <dgm:t>
        <a:bodyPr/>
        <a:lstStyle/>
        <a:p>
          <a:endParaRPr lang="zh-TW" altLang="en-US"/>
        </a:p>
      </dgm:t>
    </dgm:pt>
    <dgm:pt modelId="{F86C7539-6303-4479-BE7F-959BE4553442}" type="pres">
      <dgm:prSet presAssocID="{5E7CC7CB-761F-4C5F-BA0E-293E50E708FE}" presName="parentText" presStyleLbl="node1" presStyleIdx="0" presStyleCnt="1">
        <dgm:presLayoutVars>
          <dgm:chMax val="0"/>
          <dgm:bulletEnabled val="1"/>
        </dgm:presLayoutVars>
      </dgm:prSet>
      <dgm:spPr/>
      <dgm:t>
        <a:bodyPr/>
        <a:lstStyle/>
        <a:p>
          <a:endParaRPr lang="zh-TW" altLang="en-US"/>
        </a:p>
      </dgm:t>
    </dgm:pt>
  </dgm:ptLst>
  <dgm:cxnLst>
    <dgm:cxn modelId="{221F9778-ECF3-4BD9-8824-B8084F67B603}" srcId="{B7577E33-A40A-41DA-9A44-6AD4BA846F36}" destId="{5E7CC7CB-761F-4C5F-BA0E-293E50E708FE}" srcOrd="0" destOrd="0" parTransId="{F9C86D5F-B9FE-4940-93BA-1B07A3EC6CCC}" sibTransId="{0126EAC5-CAB7-4ECF-876D-9A063F0C4D91}"/>
    <dgm:cxn modelId="{20907A69-F762-49D9-9E3C-BB06BDB62245}" type="presOf" srcId="{5E7CC7CB-761F-4C5F-BA0E-293E50E708FE}" destId="{F86C7539-6303-4479-BE7F-959BE4553442}" srcOrd="0" destOrd="0" presId="urn:microsoft.com/office/officeart/2005/8/layout/vList2"/>
    <dgm:cxn modelId="{AD9A6548-41D4-44B4-AB11-1F63685148CC}" type="presOf" srcId="{B7577E33-A40A-41DA-9A44-6AD4BA846F36}" destId="{A7006A57-F9E0-4591-B052-D8D3B36EF642}" srcOrd="0" destOrd="0" presId="urn:microsoft.com/office/officeart/2005/8/layout/vList2"/>
    <dgm:cxn modelId="{B720FC4B-0959-44D3-93CE-9B8180BFFAB3}" type="presParOf" srcId="{A7006A57-F9E0-4591-B052-D8D3B36EF642}" destId="{F86C7539-6303-4479-BE7F-959BE45534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5BB9C0-C435-4AD9-8A51-DC43899DE3C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zh-TW" altLang="en-US"/>
        </a:p>
      </dgm:t>
    </dgm:pt>
    <dgm:pt modelId="{906101CD-B44E-423D-B52C-63A468D6BC59}">
      <dgm:prSet/>
      <dgm:spPr/>
      <dgm:t>
        <a:bodyPr/>
        <a:lstStyle/>
        <a:p>
          <a:pPr rtl="0"/>
          <a:r>
            <a:rPr lang="zh-TW" dirty="0" smtClean="0"/>
            <a:t>水泥河岸的設計，</a:t>
          </a:r>
          <a:endParaRPr lang="zh-TW" dirty="0"/>
        </a:p>
      </dgm:t>
    </dgm:pt>
    <dgm:pt modelId="{F4191411-458F-4045-9452-841514E37922}" type="parTrans" cxnId="{FAA2E5D2-A1A3-4F18-A42C-C7563EA1647B}">
      <dgm:prSet/>
      <dgm:spPr/>
      <dgm:t>
        <a:bodyPr/>
        <a:lstStyle/>
        <a:p>
          <a:endParaRPr lang="zh-TW" altLang="en-US"/>
        </a:p>
      </dgm:t>
    </dgm:pt>
    <dgm:pt modelId="{C418D912-DB19-4CB5-99E7-F7B3CE0056A8}" type="sibTrans" cxnId="{FAA2E5D2-A1A3-4F18-A42C-C7563EA1647B}">
      <dgm:prSet/>
      <dgm:spPr/>
      <dgm:t>
        <a:bodyPr/>
        <a:lstStyle/>
        <a:p>
          <a:endParaRPr lang="zh-TW" altLang="en-US"/>
        </a:p>
      </dgm:t>
    </dgm:pt>
    <dgm:pt modelId="{6C917182-03E1-49CE-B1AE-424CCEC57426}">
      <dgm:prSet/>
      <dgm:spPr/>
      <dgm:t>
        <a:bodyPr/>
        <a:lstStyle/>
        <a:p>
          <a:pPr rtl="0"/>
          <a:r>
            <a:rPr lang="zh-TW" smtClean="0"/>
            <a:t>讓一條河降格為一條水溝</a:t>
          </a:r>
          <a:endParaRPr lang="zh-TW"/>
        </a:p>
      </dgm:t>
    </dgm:pt>
    <dgm:pt modelId="{4E5CC182-594E-4215-89A8-00ADE6845A75}" type="parTrans" cxnId="{619C60D3-4704-4DD9-88BE-1AA32A175A1A}">
      <dgm:prSet/>
      <dgm:spPr/>
      <dgm:t>
        <a:bodyPr/>
        <a:lstStyle/>
        <a:p>
          <a:endParaRPr lang="zh-TW" altLang="en-US"/>
        </a:p>
      </dgm:t>
    </dgm:pt>
    <dgm:pt modelId="{B587F1F6-1D21-4EC8-9341-68BC13B71177}" type="sibTrans" cxnId="{619C60D3-4704-4DD9-88BE-1AA32A175A1A}">
      <dgm:prSet/>
      <dgm:spPr/>
      <dgm:t>
        <a:bodyPr/>
        <a:lstStyle/>
        <a:p>
          <a:endParaRPr lang="zh-TW" altLang="en-US"/>
        </a:p>
      </dgm:t>
    </dgm:pt>
    <dgm:pt modelId="{D89AAE0B-AA8D-46EA-89DE-12E772C177A5}" type="pres">
      <dgm:prSet presAssocID="{575BB9C0-C435-4AD9-8A51-DC43899DE3C5}" presName="linear" presStyleCnt="0">
        <dgm:presLayoutVars>
          <dgm:animLvl val="lvl"/>
          <dgm:resizeHandles val="exact"/>
        </dgm:presLayoutVars>
      </dgm:prSet>
      <dgm:spPr/>
      <dgm:t>
        <a:bodyPr/>
        <a:lstStyle/>
        <a:p>
          <a:endParaRPr lang="zh-TW" altLang="en-US"/>
        </a:p>
      </dgm:t>
    </dgm:pt>
    <dgm:pt modelId="{9AEBF1BB-F761-497F-B113-31CE8290762E}" type="pres">
      <dgm:prSet presAssocID="{906101CD-B44E-423D-B52C-63A468D6BC59}" presName="parentText" presStyleLbl="node1" presStyleIdx="0" presStyleCnt="2">
        <dgm:presLayoutVars>
          <dgm:chMax val="0"/>
          <dgm:bulletEnabled val="1"/>
        </dgm:presLayoutVars>
      </dgm:prSet>
      <dgm:spPr/>
      <dgm:t>
        <a:bodyPr/>
        <a:lstStyle/>
        <a:p>
          <a:endParaRPr lang="zh-TW" altLang="en-US"/>
        </a:p>
      </dgm:t>
    </dgm:pt>
    <dgm:pt modelId="{7FC6731E-D586-4DEF-B037-0DD5B6842AAC}" type="pres">
      <dgm:prSet presAssocID="{C418D912-DB19-4CB5-99E7-F7B3CE0056A8}" presName="spacer" presStyleCnt="0"/>
      <dgm:spPr/>
    </dgm:pt>
    <dgm:pt modelId="{3D3C6AE1-4AFE-4890-950A-382CF1A7B69F}" type="pres">
      <dgm:prSet presAssocID="{6C917182-03E1-49CE-B1AE-424CCEC57426}" presName="parentText" presStyleLbl="node1" presStyleIdx="1" presStyleCnt="2">
        <dgm:presLayoutVars>
          <dgm:chMax val="0"/>
          <dgm:bulletEnabled val="1"/>
        </dgm:presLayoutVars>
      </dgm:prSet>
      <dgm:spPr/>
      <dgm:t>
        <a:bodyPr/>
        <a:lstStyle/>
        <a:p>
          <a:endParaRPr lang="zh-TW" altLang="en-US"/>
        </a:p>
      </dgm:t>
    </dgm:pt>
  </dgm:ptLst>
  <dgm:cxnLst>
    <dgm:cxn modelId="{6369EF58-D553-4FAD-94B4-010AD37FA1A3}" type="presOf" srcId="{575BB9C0-C435-4AD9-8A51-DC43899DE3C5}" destId="{D89AAE0B-AA8D-46EA-89DE-12E772C177A5}" srcOrd="0" destOrd="0" presId="urn:microsoft.com/office/officeart/2005/8/layout/vList2"/>
    <dgm:cxn modelId="{619C60D3-4704-4DD9-88BE-1AA32A175A1A}" srcId="{575BB9C0-C435-4AD9-8A51-DC43899DE3C5}" destId="{6C917182-03E1-49CE-B1AE-424CCEC57426}" srcOrd="1" destOrd="0" parTransId="{4E5CC182-594E-4215-89A8-00ADE6845A75}" sibTransId="{B587F1F6-1D21-4EC8-9341-68BC13B71177}"/>
    <dgm:cxn modelId="{FAA2E5D2-A1A3-4F18-A42C-C7563EA1647B}" srcId="{575BB9C0-C435-4AD9-8A51-DC43899DE3C5}" destId="{906101CD-B44E-423D-B52C-63A468D6BC59}" srcOrd="0" destOrd="0" parTransId="{F4191411-458F-4045-9452-841514E37922}" sibTransId="{C418D912-DB19-4CB5-99E7-F7B3CE0056A8}"/>
    <dgm:cxn modelId="{0D8CD858-9209-4115-A367-F4241225F233}" type="presOf" srcId="{906101CD-B44E-423D-B52C-63A468D6BC59}" destId="{9AEBF1BB-F761-497F-B113-31CE8290762E}" srcOrd="0" destOrd="0" presId="urn:microsoft.com/office/officeart/2005/8/layout/vList2"/>
    <dgm:cxn modelId="{1EFB1775-2961-48C6-AEB5-044653E516B9}" type="presOf" srcId="{6C917182-03E1-49CE-B1AE-424CCEC57426}" destId="{3D3C6AE1-4AFE-4890-950A-382CF1A7B69F}" srcOrd="0" destOrd="0" presId="urn:microsoft.com/office/officeart/2005/8/layout/vList2"/>
    <dgm:cxn modelId="{ED0E997A-931A-4576-BB1C-768CE4A39D2F}" type="presParOf" srcId="{D89AAE0B-AA8D-46EA-89DE-12E772C177A5}" destId="{9AEBF1BB-F761-497F-B113-31CE8290762E}" srcOrd="0" destOrd="0" presId="urn:microsoft.com/office/officeart/2005/8/layout/vList2"/>
    <dgm:cxn modelId="{BCE334E2-0635-4268-9BF7-F53D65217798}" type="presParOf" srcId="{D89AAE0B-AA8D-46EA-89DE-12E772C177A5}" destId="{7FC6731E-D586-4DEF-B037-0DD5B6842AAC}" srcOrd="1" destOrd="0" presId="urn:microsoft.com/office/officeart/2005/8/layout/vList2"/>
    <dgm:cxn modelId="{ACF30792-04F5-4CB9-A298-31EC745EB4B9}" type="presParOf" srcId="{D89AAE0B-AA8D-46EA-89DE-12E772C177A5}" destId="{3D3C6AE1-4AFE-4890-950A-382CF1A7B69F}"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6C7539-6303-4479-BE7F-959BE4553442}">
      <dsp:nvSpPr>
        <dsp:cNvPr id="0" name=""/>
        <dsp:cNvSpPr/>
      </dsp:nvSpPr>
      <dsp:spPr>
        <a:xfrm>
          <a:off x="0" y="8890"/>
          <a:ext cx="1878716" cy="505439"/>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zh-TW" sz="1200" kern="1200" dirty="0" smtClean="0"/>
            <a:t>位於愛河上游，僅存的自然河岸</a:t>
          </a:r>
          <a:endParaRPr lang="zh-TW" sz="1200" kern="1200" dirty="0"/>
        </a:p>
      </dsp:txBody>
      <dsp:txXfrm>
        <a:off x="24673" y="33563"/>
        <a:ext cx="1829370" cy="4560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EBF1BB-F761-497F-B113-31CE8290762E}">
      <dsp:nvSpPr>
        <dsp:cNvPr id="0" name=""/>
        <dsp:cNvSpPr/>
      </dsp:nvSpPr>
      <dsp:spPr>
        <a:xfrm>
          <a:off x="0" y="18576"/>
          <a:ext cx="1651857" cy="2594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l" defTabSz="444500" rtl="0">
            <a:lnSpc>
              <a:spcPct val="90000"/>
            </a:lnSpc>
            <a:spcBef>
              <a:spcPct val="0"/>
            </a:spcBef>
            <a:spcAft>
              <a:spcPct val="35000"/>
            </a:spcAft>
          </a:pPr>
          <a:r>
            <a:rPr lang="zh-TW" sz="1000" kern="1200" dirty="0" smtClean="0"/>
            <a:t>水泥河岸的設計，</a:t>
          </a:r>
          <a:endParaRPr lang="zh-TW" sz="1000" kern="1200" dirty="0"/>
        </a:p>
      </dsp:txBody>
      <dsp:txXfrm>
        <a:off x="12663" y="31239"/>
        <a:ext cx="1626531" cy="234084"/>
      </dsp:txXfrm>
    </dsp:sp>
    <dsp:sp modelId="{3D3C6AE1-4AFE-4890-950A-382CF1A7B69F}">
      <dsp:nvSpPr>
        <dsp:cNvPr id="0" name=""/>
        <dsp:cNvSpPr/>
      </dsp:nvSpPr>
      <dsp:spPr>
        <a:xfrm>
          <a:off x="0" y="306787"/>
          <a:ext cx="1651857" cy="2594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l" defTabSz="444500" rtl="0">
            <a:lnSpc>
              <a:spcPct val="90000"/>
            </a:lnSpc>
            <a:spcBef>
              <a:spcPct val="0"/>
            </a:spcBef>
            <a:spcAft>
              <a:spcPct val="35000"/>
            </a:spcAft>
          </a:pPr>
          <a:r>
            <a:rPr lang="zh-TW" sz="1000" kern="1200" smtClean="0"/>
            <a:t>讓一條河降格為一條水溝</a:t>
          </a:r>
          <a:endParaRPr lang="zh-TW" sz="1000" kern="1200"/>
        </a:p>
      </dsp:txBody>
      <dsp:txXfrm>
        <a:off x="12663" y="319450"/>
        <a:ext cx="1626531" cy="23408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1" name="Rectangle 10"/>
          <p:cNvSpPr/>
          <p:nvPr/>
        </p:nvSpPr>
        <p:spPr>
          <a:xfrm>
            <a:off x="0" y="0"/>
            <a:ext cx="752475" cy="6858000"/>
          </a:xfrm>
          <a:prstGeom prst="rect">
            <a:avLst/>
          </a:prstGeom>
          <a:gradFill>
            <a:gsLst>
              <a:gs pos="0">
                <a:schemeClr val="accent1">
                  <a:lumMod val="60000"/>
                  <a:lumOff val="40000"/>
                </a:schemeClr>
              </a:gs>
              <a:gs pos="50000">
                <a:schemeClr val="accent1"/>
              </a:gs>
              <a:gs pos="100000">
                <a:schemeClr val="accent6">
                  <a:lumMod val="75000"/>
                </a:schemeClr>
              </a:gs>
            </a:gsLst>
            <a:lin ang="5400000" scaled="0"/>
          </a:gradFill>
          <a:ln>
            <a:noFill/>
          </a:ln>
          <a:effectLst>
            <a:innerShdw blurRad="190500" dist="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innerShdw blurRad="63500" dist="50800" dir="18900000">
                  <a:prstClr val="black">
                    <a:alpha val="50000"/>
                  </a:prstClr>
                </a:innerShdw>
              </a:effectLst>
            </a:endParaRPr>
          </a:p>
        </p:txBody>
      </p:sp>
      <p:sp>
        <p:nvSpPr>
          <p:cNvPr id="2" name="Title 1"/>
          <p:cNvSpPr>
            <a:spLocks noGrp="1"/>
          </p:cNvSpPr>
          <p:nvPr>
            <p:ph type="ctrTitle"/>
          </p:nvPr>
        </p:nvSpPr>
        <p:spPr>
          <a:xfrm>
            <a:off x="1216152" y="1267485"/>
            <a:ext cx="7235981" cy="5133316"/>
          </a:xfrm>
        </p:spPr>
        <p:txBody>
          <a:bodyPr/>
          <a:lstStyle>
            <a:lvl1pPr>
              <a:defRPr sz="115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216151" y="201702"/>
            <a:ext cx="6189583" cy="949569"/>
          </a:xfrm>
        </p:spPr>
        <p:txBody>
          <a:bodyPr>
            <a:normAutofit/>
          </a:bodyPr>
          <a:lstStyle>
            <a:lvl1pPr marL="0" indent="0" algn="r">
              <a:buNone/>
              <a:defRPr sz="2400">
                <a:solidFill>
                  <a:schemeClr val="tx2">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7579B14F-3498-4ADA-874D-53C03A53A933}" type="datetimeFigureOut">
              <a:rPr lang="zh-TW" altLang="en-US" smtClean="0"/>
              <a:t>2015/5/5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a:xfrm>
            <a:off x="8150469" y="236415"/>
            <a:ext cx="785301" cy="365125"/>
          </a:xfrm>
        </p:spPr>
        <p:txBody>
          <a:bodyPr/>
          <a:lstStyle>
            <a:lvl1pPr>
              <a:defRPr sz="1400"/>
            </a:lvl1pPr>
          </a:lstStyle>
          <a:p>
            <a:fld id="{5814C80A-96A2-473B-B0F8-C18AC6B26C8D}" type="slidenum">
              <a:rPr lang="zh-TW" altLang="en-US" smtClean="0"/>
              <a:t>‹#›</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500"/>
                                  </p:stCondLst>
                                  <p:childTnLst>
                                    <p:animEffect transition="out" filter="fade">
                                      <p:cBhvr>
                                        <p:cTn id="6" dur="2000"/>
                                        <p:tgtEl>
                                          <p:spTgt spid="11"/>
                                        </p:tgtEl>
                                      </p:cBhvr>
                                    </p:animEffect>
                                    <p:set>
                                      <p:cBhvr>
                                        <p:cTn id="7" dur="1" fill="hold">
                                          <p:stCondLst>
                                            <p:cond delay="1999"/>
                                          </p:stCondLst>
                                        </p:cTn>
                                        <p:tgtEl>
                                          <p:spTgt spid="11"/>
                                        </p:tgtEl>
                                        <p:attrNameLst>
                                          <p:attrName>style.visibility</p:attrName>
                                        </p:attrNameLst>
                                      </p:cBhvr>
                                      <p:to>
                                        <p:strVal val="hidden"/>
                                      </p:to>
                                    </p:set>
                                  </p:childTnLst>
                                </p:cTn>
                              </p:par>
                            </p:childTnLst>
                          </p:cTn>
                        </p:par>
                        <p:par>
                          <p:cTn id="8" fill="hold">
                            <p:stCondLst>
                              <p:cond delay="2500"/>
                            </p:stCondLst>
                            <p:childTnLst>
                              <p:par>
                                <p:cTn id="9" presetID="10" presetClass="entr" presetSubtype="0" fill="hold" grpId="1"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a:xfrm>
            <a:off x="1219200" y="5257800"/>
            <a:ext cx="7239000" cy="1143000"/>
          </a:xfrm>
        </p:spPr>
        <p:txBody>
          <a:bodyPr>
            <a:noAutofit/>
          </a:bodyPr>
          <a:lstStyle>
            <a:lvl1pPr algn="l">
              <a:defRPr sz="7200" baseline="0">
                <a:ln w="12700">
                  <a:solidFill>
                    <a:schemeClr val="tx2"/>
                  </a:solidFill>
                </a:ln>
              </a:defRPr>
            </a:lvl1pPr>
          </a:lstStyle>
          <a:p>
            <a:r>
              <a:rPr lang="zh-TW" altLang="en-US" smtClean="0"/>
              <a:t>按一下以編輯母片標題樣式</a:t>
            </a:r>
            <a:endParaRPr lang="en-US" dirty="0"/>
          </a:p>
        </p:txBody>
      </p:sp>
      <p:sp>
        <p:nvSpPr>
          <p:cNvPr id="3" name="Content Placeholder 2"/>
          <p:cNvSpPr>
            <a:spLocks noGrp="1"/>
          </p:cNvSpPr>
          <p:nvPr>
            <p:ph idx="1"/>
          </p:nvPr>
        </p:nvSpPr>
        <p:spPr>
          <a:xfrm>
            <a:off x="1219200" y="838200"/>
            <a:ext cx="7467600" cy="4419600"/>
          </a:xfrm>
        </p:spPr>
        <p:txBody>
          <a:bodyPr>
            <a:normAutofit/>
          </a:bodyPr>
          <a:lstStyle>
            <a:lvl1pPr>
              <a:defRPr sz="2800"/>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7579B14F-3498-4ADA-874D-53C03A53A933}" type="datetimeFigureOut">
              <a:rPr lang="zh-TW" altLang="en-US" smtClean="0"/>
              <a:t>2015/5/5</a:t>
            </a:fld>
            <a:endParaRPr lang="zh-TW" altLang="en-US"/>
          </a:p>
        </p:txBody>
      </p:sp>
      <p:sp>
        <p:nvSpPr>
          <p:cNvPr id="10" name="Slide Number Placeholder 9"/>
          <p:cNvSpPr>
            <a:spLocks noGrp="1"/>
          </p:cNvSpPr>
          <p:nvPr>
            <p:ph type="sldNum" sz="quarter" idx="11"/>
          </p:nvPr>
        </p:nvSpPr>
        <p:spPr/>
        <p:txBody>
          <a:bodyPr/>
          <a:lstStyle/>
          <a:p>
            <a:fld id="{5814C80A-96A2-473B-B0F8-C18AC6B26C8D}" type="slidenum">
              <a:rPr lang="zh-TW" altLang="en-US" smtClean="0"/>
              <a:t>‹#›</a:t>
            </a:fld>
            <a:endParaRPr lang="zh-TW" altLang="en-US"/>
          </a:p>
        </p:txBody>
      </p:sp>
      <p:sp>
        <p:nvSpPr>
          <p:cNvPr id="12" name="Footer Placeholder 11"/>
          <p:cNvSpPr>
            <a:spLocks noGrp="1"/>
          </p:cNvSpPr>
          <p:nvPr>
            <p:ph type="ftr" sz="quarter" idx="12"/>
          </p:nvPr>
        </p:nvSpPr>
        <p:spPr/>
        <p:txBody>
          <a:bodyPr/>
          <a:lstStyle/>
          <a:p>
            <a:endParaRPr lang="zh-TW"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19199" y="4484080"/>
            <a:ext cx="7239001" cy="762000"/>
          </a:xfrm>
        </p:spPr>
        <p:txBody>
          <a:bodyPr bIns="0"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13" name="Title 1"/>
          <p:cNvSpPr>
            <a:spLocks noGrp="1"/>
          </p:cNvSpPr>
          <p:nvPr>
            <p:ph type="title"/>
          </p:nvPr>
        </p:nvSpPr>
        <p:spPr>
          <a:xfrm>
            <a:off x="1219200" y="5257800"/>
            <a:ext cx="7239000" cy="1143000"/>
          </a:xfrm>
        </p:spPr>
        <p:txBody>
          <a:bodyPr>
            <a:noAutofit/>
          </a:bodyPr>
          <a:lstStyle>
            <a:lvl1pPr algn="l">
              <a:defRPr sz="7200" baseline="0">
                <a:ln w="12700">
                  <a:solidFill>
                    <a:schemeClr val="tx2"/>
                  </a:solidFill>
                </a:ln>
              </a:defRPr>
            </a:lvl1pPr>
          </a:lstStyle>
          <a:p>
            <a:r>
              <a:rPr lang="zh-TW" altLang="en-US" smtClean="0"/>
              <a:t>按一下以編輯母片標題樣式</a:t>
            </a:r>
            <a:endParaRPr lang="en-US" dirty="0"/>
          </a:p>
        </p:txBody>
      </p:sp>
      <p:sp>
        <p:nvSpPr>
          <p:cNvPr id="19" name="Date Placeholder 18"/>
          <p:cNvSpPr>
            <a:spLocks noGrp="1"/>
          </p:cNvSpPr>
          <p:nvPr>
            <p:ph type="dt" sz="half" idx="10"/>
          </p:nvPr>
        </p:nvSpPr>
        <p:spPr/>
        <p:txBody>
          <a:bodyPr/>
          <a:lstStyle/>
          <a:p>
            <a:fld id="{7579B14F-3498-4ADA-874D-53C03A53A933}" type="datetimeFigureOut">
              <a:rPr lang="zh-TW" altLang="en-US" smtClean="0"/>
              <a:t>2015/5/5</a:t>
            </a:fld>
            <a:endParaRPr lang="zh-TW" altLang="en-US"/>
          </a:p>
        </p:txBody>
      </p:sp>
      <p:sp>
        <p:nvSpPr>
          <p:cNvPr id="20" name="Slide Number Placeholder 19"/>
          <p:cNvSpPr>
            <a:spLocks noGrp="1"/>
          </p:cNvSpPr>
          <p:nvPr>
            <p:ph type="sldNum" sz="quarter" idx="11"/>
          </p:nvPr>
        </p:nvSpPr>
        <p:spPr/>
        <p:txBody>
          <a:bodyPr/>
          <a:lstStyle/>
          <a:p>
            <a:fld id="{5814C80A-96A2-473B-B0F8-C18AC6B26C8D}" type="slidenum">
              <a:rPr lang="zh-TW" altLang="en-US" smtClean="0"/>
              <a:t>‹#›</a:t>
            </a:fld>
            <a:endParaRPr lang="zh-TW" altLang="en-US"/>
          </a:p>
        </p:txBody>
      </p:sp>
      <p:sp>
        <p:nvSpPr>
          <p:cNvPr id="21" name="Footer Placeholder 20"/>
          <p:cNvSpPr>
            <a:spLocks noGrp="1"/>
          </p:cNvSpPr>
          <p:nvPr>
            <p:ph type="ftr" sz="quarter" idx="12"/>
          </p:nvPr>
        </p:nvSpPr>
        <p:spPr/>
        <p:txBody>
          <a:bodyPr/>
          <a:lstStyle/>
          <a:p>
            <a:endParaRPr lang="zh-TW"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smtClean="0"/>
              <a:t>按一下以編輯母片標題樣式</a:t>
            </a:r>
            <a:endParaRPr lang="en-US" dirty="0"/>
          </a:p>
        </p:txBody>
      </p:sp>
      <p:sp>
        <p:nvSpPr>
          <p:cNvPr id="5" name="Date Placeholder 4"/>
          <p:cNvSpPr>
            <a:spLocks noGrp="1"/>
          </p:cNvSpPr>
          <p:nvPr>
            <p:ph type="dt" sz="half" idx="10"/>
          </p:nvPr>
        </p:nvSpPr>
        <p:spPr/>
        <p:txBody>
          <a:bodyPr/>
          <a:lstStyle/>
          <a:p>
            <a:fld id="{7579B14F-3498-4ADA-874D-53C03A53A933}" type="datetimeFigureOut">
              <a:rPr lang="zh-TW" altLang="en-US" smtClean="0"/>
              <a:t>2015/5/5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5814C80A-96A2-473B-B0F8-C18AC6B26C8D}" type="slidenum">
              <a:rPr lang="zh-TW" altLang="en-US" smtClean="0"/>
              <a:t>‹#›</a:t>
            </a:fld>
            <a:endParaRPr lang="zh-TW" altLang="en-US"/>
          </a:p>
        </p:txBody>
      </p:sp>
      <p:sp>
        <p:nvSpPr>
          <p:cNvPr id="9" name="Content Placeholder 8"/>
          <p:cNvSpPr>
            <a:spLocks noGrp="1"/>
          </p:cNvSpPr>
          <p:nvPr>
            <p:ph sz="quarter" idx="13"/>
          </p:nvPr>
        </p:nvSpPr>
        <p:spPr>
          <a:xfrm>
            <a:off x="1216152" y="841248"/>
            <a:ext cx="3730752" cy="438912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11" name="Content Placeholder 10"/>
          <p:cNvSpPr>
            <a:spLocks noGrp="1"/>
          </p:cNvSpPr>
          <p:nvPr>
            <p:ph sz="quarter" idx="14"/>
          </p:nvPr>
        </p:nvSpPr>
        <p:spPr>
          <a:xfrm>
            <a:off x="5102352" y="841248"/>
            <a:ext cx="3730752" cy="438912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1219200" y="841248"/>
            <a:ext cx="3733800" cy="533400"/>
          </a:xfrm>
        </p:spPr>
        <p:txBody>
          <a:bodyPr anchor="t">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5" name="Text Placeholder 4"/>
          <p:cNvSpPr>
            <a:spLocks noGrp="1"/>
          </p:cNvSpPr>
          <p:nvPr>
            <p:ph type="body" sz="quarter" idx="3"/>
          </p:nvPr>
        </p:nvSpPr>
        <p:spPr>
          <a:xfrm>
            <a:off x="5105400" y="841248"/>
            <a:ext cx="3735267" cy="533400"/>
          </a:xfrm>
        </p:spPr>
        <p:txBody>
          <a:bodyPr anchor="t">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7" name="Date Placeholder 6"/>
          <p:cNvSpPr>
            <a:spLocks noGrp="1"/>
          </p:cNvSpPr>
          <p:nvPr>
            <p:ph type="dt" sz="half" idx="10"/>
          </p:nvPr>
        </p:nvSpPr>
        <p:spPr/>
        <p:txBody>
          <a:bodyPr/>
          <a:lstStyle/>
          <a:p>
            <a:fld id="{7579B14F-3498-4ADA-874D-53C03A53A933}" type="datetimeFigureOut">
              <a:rPr lang="zh-TW" altLang="en-US" smtClean="0"/>
              <a:t>2015/5/5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5814C80A-96A2-473B-B0F8-C18AC6B26C8D}" type="slidenum">
              <a:rPr lang="zh-TW" altLang="en-US" smtClean="0"/>
              <a:t>‹#›</a:t>
            </a:fld>
            <a:endParaRPr lang="zh-TW" altLang="en-US"/>
          </a:p>
        </p:txBody>
      </p:sp>
      <p:sp>
        <p:nvSpPr>
          <p:cNvPr id="11" name="Content Placeholder 10"/>
          <p:cNvSpPr>
            <a:spLocks noGrp="1"/>
          </p:cNvSpPr>
          <p:nvPr>
            <p:ph sz="quarter" idx="13"/>
          </p:nvPr>
        </p:nvSpPr>
        <p:spPr>
          <a:xfrm>
            <a:off x="1216152" y="1380744"/>
            <a:ext cx="3730752" cy="384048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13" name="Content Placeholder 12"/>
          <p:cNvSpPr>
            <a:spLocks noGrp="1"/>
          </p:cNvSpPr>
          <p:nvPr>
            <p:ph sz="quarter" idx="14"/>
          </p:nvPr>
        </p:nvSpPr>
        <p:spPr>
          <a:xfrm>
            <a:off x="5102352" y="1380743"/>
            <a:ext cx="3730752" cy="384048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7579B14F-3498-4ADA-874D-53C03A53A933}" type="datetimeFigureOut">
              <a:rPr lang="zh-TW" altLang="en-US" smtClean="0"/>
              <a:t>2015/5/5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5814C80A-96A2-473B-B0F8-C18AC6B26C8D}" type="slidenum">
              <a:rPr lang="zh-TW" altLang="en-US" smtClean="0"/>
              <a:t>‹#›</a:t>
            </a:fld>
            <a:endParaRPr lang="zh-TW"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7579B14F-3498-4ADA-874D-53C03A53A933}" type="datetimeFigureOut">
              <a:rPr lang="zh-TW" altLang="en-US" smtClean="0"/>
              <a:t>2015/5/5</a:t>
            </a:fld>
            <a:endParaRPr lang="zh-TW" altLang="en-US"/>
          </a:p>
        </p:txBody>
      </p:sp>
      <p:sp>
        <p:nvSpPr>
          <p:cNvPr id="6" name="Slide Number Placeholder 5"/>
          <p:cNvSpPr>
            <a:spLocks noGrp="1"/>
          </p:cNvSpPr>
          <p:nvPr>
            <p:ph type="sldNum" sz="quarter" idx="11"/>
          </p:nvPr>
        </p:nvSpPr>
        <p:spPr/>
        <p:txBody>
          <a:bodyPr/>
          <a:lstStyle/>
          <a:p>
            <a:fld id="{5814C80A-96A2-473B-B0F8-C18AC6B26C8D}" type="slidenum">
              <a:rPr lang="zh-TW" altLang="en-US" smtClean="0"/>
              <a:t>‹#›</a:t>
            </a:fld>
            <a:endParaRPr lang="zh-TW" altLang="en-US"/>
          </a:p>
        </p:txBody>
      </p:sp>
      <p:sp>
        <p:nvSpPr>
          <p:cNvPr id="7" name="Footer Placeholder 6"/>
          <p:cNvSpPr>
            <a:spLocks noGrp="1"/>
          </p:cNvSpPr>
          <p:nvPr>
            <p:ph type="ftr" sz="quarter" idx="12"/>
          </p:nvPr>
        </p:nvSpPr>
        <p:spPr/>
        <p:txBody>
          <a:bodyPr/>
          <a:lstStyle/>
          <a:p>
            <a:endParaRPr lang="zh-TW"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5715000" y="395287"/>
            <a:ext cx="3008313" cy="1162050"/>
          </a:xfrm>
        </p:spPr>
        <p:txBody>
          <a:bodyPr anchor="b"/>
          <a:lstStyle>
            <a:lvl1pPr algn="l">
              <a:defRPr sz="2000" b="1">
                <a:ln>
                  <a:noFill/>
                </a:ln>
                <a:solidFill>
                  <a:srgbClr val="FF7605"/>
                </a:solidFill>
                <a:effectLst/>
              </a:defRPr>
            </a:lvl1pPr>
          </a:lstStyle>
          <a:p>
            <a:r>
              <a:rPr lang="zh-TW" altLang="en-US" smtClean="0"/>
              <a:t>按一下以編輯母片標題樣式</a:t>
            </a:r>
            <a:endParaRPr lang="en-US" dirty="0"/>
          </a:p>
        </p:txBody>
      </p:sp>
      <p:sp>
        <p:nvSpPr>
          <p:cNvPr id="4" name="Text Placeholder 3"/>
          <p:cNvSpPr>
            <a:spLocks noGrp="1"/>
          </p:cNvSpPr>
          <p:nvPr>
            <p:ph type="body" sz="half" idx="2"/>
          </p:nvPr>
        </p:nvSpPr>
        <p:spPr>
          <a:xfrm>
            <a:off x="5715000" y="1557337"/>
            <a:ext cx="3008313" cy="4386263"/>
          </a:xfrm>
        </p:spPr>
        <p:txBody>
          <a:bodyPr/>
          <a:lstStyle>
            <a:lvl1pPr marL="0" indent="0">
              <a:buNone/>
              <a:defRPr sz="1400">
                <a:solidFill>
                  <a:schemeClr val="tx1">
                    <a:lumMod val="50000"/>
                    <a:lumOff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14" name="Content Placeholder 13"/>
          <p:cNvSpPr>
            <a:spLocks noGrp="1"/>
          </p:cNvSpPr>
          <p:nvPr>
            <p:ph sz="quarter" idx="13"/>
          </p:nvPr>
        </p:nvSpPr>
        <p:spPr>
          <a:xfrm>
            <a:off x="914400" y="381000"/>
            <a:ext cx="4800600" cy="59436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9" name="Date Placeholder 8"/>
          <p:cNvSpPr>
            <a:spLocks noGrp="1"/>
          </p:cNvSpPr>
          <p:nvPr>
            <p:ph type="dt" sz="half" idx="14"/>
          </p:nvPr>
        </p:nvSpPr>
        <p:spPr/>
        <p:txBody>
          <a:bodyPr/>
          <a:lstStyle/>
          <a:p>
            <a:fld id="{7579B14F-3498-4ADA-874D-53C03A53A933}" type="datetimeFigureOut">
              <a:rPr lang="zh-TW" altLang="en-US" smtClean="0"/>
              <a:t>2015/5/5</a:t>
            </a:fld>
            <a:endParaRPr lang="zh-TW" altLang="en-US"/>
          </a:p>
        </p:txBody>
      </p:sp>
      <p:sp>
        <p:nvSpPr>
          <p:cNvPr id="10" name="Slide Number Placeholder 9"/>
          <p:cNvSpPr>
            <a:spLocks noGrp="1"/>
          </p:cNvSpPr>
          <p:nvPr>
            <p:ph type="sldNum" sz="quarter" idx="15"/>
          </p:nvPr>
        </p:nvSpPr>
        <p:spPr/>
        <p:txBody>
          <a:bodyPr/>
          <a:lstStyle/>
          <a:p>
            <a:fld id="{5814C80A-96A2-473B-B0F8-C18AC6B26C8D}" type="slidenum">
              <a:rPr lang="zh-TW" altLang="en-US" smtClean="0"/>
              <a:t>‹#›</a:t>
            </a:fld>
            <a:endParaRPr lang="zh-TW" altLang="en-US"/>
          </a:p>
        </p:txBody>
      </p:sp>
      <p:sp>
        <p:nvSpPr>
          <p:cNvPr id="13" name="Footer Placeholder 12"/>
          <p:cNvSpPr>
            <a:spLocks noGrp="1"/>
          </p:cNvSpPr>
          <p:nvPr>
            <p:ph type="ftr" sz="quarter" idx="16"/>
          </p:nvPr>
        </p:nvSpPr>
        <p:spPr/>
        <p:txBody>
          <a:bodyPr/>
          <a:lstStyle/>
          <a:p>
            <a:endParaRPr lang="zh-TW"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1219200" y="4624754"/>
            <a:ext cx="5486400" cy="404446"/>
          </a:xfrm>
        </p:spPr>
        <p:txBody>
          <a:bodyPr bIns="0" anchor="b"/>
          <a:lstStyle>
            <a:lvl1pPr algn="l">
              <a:defRPr sz="2000" b="1">
                <a:ln w="12700">
                  <a:noFill/>
                </a:ln>
                <a:solidFill>
                  <a:schemeClr val="tx1"/>
                </a:solidFill>
                <a:effectLst/>
              </a:defRPr>
            </a:lvl1pPr>
          </a:lstStyle>
          <a:p>
            <a:r>
              <a:rPr lang="zh-TW" altLang="en-US" smtClean="0"/>
              <a:t>按一下以編輯母片標題樣式</a:t>
            </a:r>
            <a:endParaRPr lang="en-US" dirty="0"/>
          </a:p>
        </p:txBody>
      </p:sp>
      <p:sp>
        <p:nvSpPr>
          <p:cNvPr id="3" name="Picture Placeholder 2"/>
          <p:cNvSpPr>
            <a:spLocks noGrp="1"/>
          </p:cNvSpPr>
          <p:nvPr>
            <p:ph type="pic" idx="1"/>
          </p:nvPr>
        </p:nvSpPr>
        <p:spPr>
          <a:xfrm>
            <a:off x="1323975" y="381000"/>
            <a:ext cx="5867400" cy="408146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a:p>
        </p:txBody>
      </p:sp>
      <p:sp>
        <p:nvSpPr>
          <p:cNvPr id="4" name="Text Placeholder 3"/>
          <p:cNvSpPr>
            <a:spLocks noGrp="1"/>
          </p:cNvSpPr>
          <p:nvPr>
            <p:ph type="body" sz="half" idx="2"/>
          </p:nvPr>
        </p:nvSpPr>
        <p:spPr>
          <a:xfrm>
            <a:off x="1219200" y="5029200"/>
            <a:ext cx="4038600" cy="1371600"/>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7579B14F-3498-4ADA-874D-53C03A53A933}" type="datetimeFigureOut">
              <a:rPr lang="zh-TW" altLang="en-US" smtClean="0"/>
              <a:t>2015/5/5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5814C80A-96A2-473B-B0F8-C18AC6B26C8D}" type="slidenum">
              <a:rPr lang="zh-TW" altLang="en-US" smtClean="0"/>
              <a:t>‹#›</a:t>
            </a:fld>
            <a:endParaRPr lang="zh-TW"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Date Placeholder 3"/>
          <p:cNvSpPr>
            <a:spLocks noGrp="1"/>
          </p:cNvSpPr>
          <p:nvPr>
            <p:ph type="dt" sz="half" idx="10"/>
          </p:nvPr>
        </p:nvSpPr>
        <p:spPr/>
        <p:txBody>
          <a:bodyPr/>
          <a:lstStyle/>
          <a:p>
            <a:fld id="{7579B14F-3498-4ADA-874D-53C03A53A933}" type="datetimeFigureOut">
              <a:rPr lang="zh-TW" altLang="en-US" smtClean="0"/>
              <a:t>2015/5/5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814C80A-96A2-473B-B0F8-C18AC6B26C8D}" type="slidenum">
              <a:rPr lang="zh-TW" altLang="en-US" smtClean="0"/>
              <a:t>‹#›</a:t>
            </a:fld>
            <a:endParaRPr lang="zh-TW"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Date Placeholder 3"/>
          <p:cNvSpPr>
            <a:spLocks noGrp="1"/>
          </p:cNvSpPr>
          <p:nvPr>
            <p:ph type="dt" sz="half" idx="10"/>
          </p:nvPr>
        </p:nvSpPr>
        <p:spPr/>
        <p:txBody>
          <a:bodyPr/>
          <a:lstStyle/>
          <a:p>
            <a:fld id="{7579B14F-3498-4ADA-874D-53C03A53A933}" type="datetimeFigureOut">
              <a:rPr lang="zh-TW" altLang="en-US" smtClean="0"/>
              <a:t>2015/5/5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814C80A-96A2-473B-B0F8-C18AC6B26C8D}" type="slidenum">
              <a:rPr lang="zh-TW" altLang="en-US" smtClean="0"/>
              <a:t>‹#›</a:t>
            </a:fld>
            <a:endParaRPr lang="zh-TW"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228600" cy="6858000"/>
          </a:xfrm>
          <a:prstGeom prst="rect">
            <a:avLst/>
          </a:prstGeom>
          <a:gradFill>
            <a:gsLst>
              <a:gs pos="0">
                <a:schemeClr val="accent1"/>
              </a:gs>
              <a:gs pos="52000">
                <a:schemeClr val="accent6">
                  <a:lumMod val="75000"/>
                </a:schemeClr>
              </a:gs>
              <a:gs pos="100000">
                <a:schemeClr val="accent6">
                  <a:lumMod val="50000"/>
                </a:schemeClr>
              </a:gs>
            </a:gsLst>
            <a:lin ang="5400000" scaled="0"/>
          </a:gradFill>
          <a:ln>
            <a:noFill/>
          </a:ln>
          <a:effectLst>
            <a:innerShdw blurRad="190500" dist="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innerShdw blurRad="63500" dist="50800" dir="18900000">
                  <a:prstClr val="black">
                    <a:alpha val="50000"/>
                  </a:prstClr>
                </a:innerShdw>
              </a:effectLst>
            </a:endParaRPr>
          </a:p>
        </p:txBody>
      </p:sp>
      <p:sp>
        <p:nvSpPr>
          <p:cNvPr id="13" name="Rectangle 12"/>
          <p:cNvSpPr/>
          <p:nvPr/>
        </p:nvSpPr>
        <p:spPr>
          <a:xfrm>
            <a:off x="0" y="0"/>
            <a:ext cx="228600" cy="6858000"/>
          </a:xfrm>
          <a:prstGeom prst="rect">
            <a:avLst/>
          </a:prstGeom>
          <a:gradFill>
            <a:gsLst>
              <a:gs pos="0">
                <a:schemeClr val="accent1">
                  <a:lumMod val="60000"/>
                  <a:lumOff val="40000"/>
                </a:schemeClr>
              </a:gs>
              <a:gs pos="50000">
                <a:schemeClr val="accent1"/>
              </a:gs>
              <a:gs pos="100000">
                <a:schemeClr val="accent6">
                  <a:lumMod val="75000"/>
                </a:schemeClr>
              </a:gs>
            </a:gsLst>
            <a:lin ang="5400000" scaled="0"/>
          </a:gradFill>
          <a:ln>
            <a:noFill/>
          </a:ln>
          <a:effectLst>
            <a:innerShdw blurRad="190500" dist="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innerShdw blurRad="63500" dist="50800" dir="18900000">
                  <a:prstClr val="black">
                    <a:alpha val="50000"/>
                  </a:prstClr>
                </a:innerShdw>
              </a:effectLst>
            </a:endParaRPr>
          </a:p>
        </p:txBody>
      </p:sp>
      <p:sp>
        <p:nvSpPr>
          <p:cNvPr id="2" name="Title Placeholder 1"/>
          <p:cNvSpPr>
            <a:spLocks noGrp="1"/>
          </p:cNvSpPr>
          <p:nvPr>
            <p:ph type="title"/>
          </p:nvPr>
        </p:nvSpPr>
        <p:spPr>
          <a:xfrm>
            <a:off x="1219200" y="5257800"/>
            <a:ext cx="7239000" cy="1143000"/>
          </a:xfrm>
          <a:prstGeom prst="rect">
            <a:avLst/>
          </a:prstGeom>
        </p:spPr>
        <p:txBody>
          <a:bodyPr vert="horz" lIns="91440" tIns="45720" rIns="91440" bIns="45720" rtlCol="0" anchor="b">
            <a:noAutofit/>
          </a:bodyPr>
          <a:lstStyle/>
          <a:p>
            <a:endParaRPr lang="en-US" dirty="0"/>
          </a:p>
        </p:txBody>
      </p:sp>
      <p:sp>
        <p:nvSpPr>
          <p:cNvPr id="3" name="Text Placeholder 2"/>
          <p:cNvSpPr>
            <a:spLocks noGrp="1"/>
          </p:cNvSpPr>
          <p:nvPr>
            <p:ph type="body" idx="1"/>
          </p:nvPr>
        </p:nvSpPr>
        <p:spPr>
          <a:xfrm>
            <a:off x="1219200" y="838200"/>
            <a:ext cx="7467600" cy="44196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Footer Placeholder 4"/>
          <p:cNvSpPr>
            <a:spLocks noGrp="1"/>
          </p:cNvSpPr>
          <p:nvPr>
            <p:ph type="ftr" sz="quarter" idx="3"/>
          </p:nvPr>
        </p:nvSpPr>
        <p:spPr>
          <a:xfrm>
            <a:off x="1259680" y="6553200"/>
            <a:ext cx="7162800" cy="228600"/>
          </a:xfrm>
          <a:prstGeom prst="rect">
            <a:avLst/>
          </a:prstGeom>
        </p:spPr>
        <p:txBody>
          <a:bodyPr vert="horz" lIns="91440" tIns="45720" rIns="91440" bIns="45720" rtlCol="0" anchor="ctr"/>
          <a:lstStyle>
            <a:lvl1pPr algn="l">
              <a:defRPr sz="1200">
                <a:solidFill>
                  <a:schemeClr val="tx1">
                    <a:lumMod val="60000"/>
                    <a:lumOff val="40000"/>
                  </a:schemeClr>
                </a:solidFill>
              </a:defRPr>
            </a:lvl1pPr>
          </a:lstStyle>
          <a:p>
            <a:endParaRPr lang="zh-TW" altLang="en-US"/>
          </a:p>
        </p:txBody>
      </p:sp>
      <p:sp>
        <p:nvSpPr>
          <p:cNvPr id="6" name="Slide Number Placeholder 5"/>
          <p:cNvSpPr>
            <a:spLocks noGrp="1"/>
          </p:cNvSpPr>
          <p:nvPr>
            <p:ph type="sldNum" sz="quarter" idx="4"/>
          </p:nvPr>
        </p:nvSpPr>
        <p:spPr>
          <a:xfrm>
            <a:off x="8686800" y="5740400"/>
            <a:ext cx="381000" cy="365125"/>
          </a:xfrm>
          <a:prstGeom prst="rect">
            <a:avLst/>
          </a:prstGeom>
        </p:spPr>
        <p:txBody>
          <a:bodyPr vert="horz" lIns="91440" tIns="45720" rIns="91440" bIns="45720" rtlCol="0" anchor="ctr"/>
          <a:lstStyle>
            <a:lvl1pPr algn="l">
              <a:defRPr sz="1200" b="0">
                <a:solidFill>
                  <a:schemeClr val="tx2">
                    <a:lumMod val="60000"/>
                    <a:lumOff val="40000"/>
                  </a:schemeClr>
                </a:solidFill>
              </a:defRPr>
            </a:lvl1pPr>
          </a:lstStyle>
          <a:p>
            <a:fld id="{5814C80A-96A2-473B-B0F8-C18AC6B26C8D}" type="slidenum">
              <a:rPr lang="zh-TW" altLang="en-US" smtClean="0"/>
              <a:t>‹#›</a:t>
            </a:fld>
            <a:endParaRPr lang="zh-TW" altLang="en-US"/>
          </a:p>
        </p:txBody>
      </p:sp>
      <p:sp>
        <p:nvSpPr>
          <p:cNvPr id="4" name="Date Placeholder 3"/>
          <p:cNvSpPr>
            <a:spLocks noGrp="1"/>
          </p:cNvSpPr>
          <p:nvPr>
            <p:ph type="dt" sz="half" idx="2"/>
          </p:nvPr>
        </p:nvSpPr>
        <p:spPr>
          <a:xfrm rot="16200000">
            <a:off x="-1198682" y="4821116"/>
            <a:ext cx="2625969" cy="228600"/>
          </a:xfrm>
          <a:prstGeom prst="rect">
            <a:avLst/>
          </a:prstGeom>
        </p:spPr>
        <p:txBody>
          <a:bodyPr vert="horz" lIns="91440" tIns="45720" rIns="91440" bIns="45720" rtlCol="0" anchor="ctr"/>
          <a:lstStyle>
            <a:lvl1pPr algn="l">
              <a:defRPr sz="1200">
                <a:solidFill>
                  <a:srgbClr val="FFFFFF"/>
                </a:solidFill>
              </a:defRPr>
            </a:lvl1pPr>
          </a:lstStyle>
          <a:p>
            <a:fld id="{7579B14F-3498-4ADA-874D-53C03A53A933}" type="datetimeFigureOut">
              <a:rPr lang="zh-TW" altLang="en-US" smtClean="0"/>
              <a:t>2015/5/5</a:t>
            </a:fld>
            <a:endParaRPr lang="zh-TW" alt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500"/>
                                  </p:stCondLst>
                                  <p:childTnLst>
                                    <p:animEffect transition="out" filter="fade">
                                      <p:cBhvr>
                                        <p:cTn id="6" dur="2000"/>
                                        <p:tgtEl>
                                          <p:spTgt spid="13"/>
                                        </p:tgtEl>
                                      </p:cBhvr>
                                    </p:animEffect>
                                    <p:set>
                                      <p:cBhvr>
                                        <p:cTn id="7" dur="1" fill="hold">
                                          <p:stCondLst>
                                            <p:cond delay="1999"/>
                                          </p:stCondLst>
                                        </p:cTn>
                                        <p:tgtEl>
                                          <p:spTgt spid="13"/>
                                        </p:tgtEl>
                                        <p:attrNameLst>
                                          <p:attrName>style.visibility</p:attrName>
                                        </p:attrNameLst>
                                      </p:cBhvr>
                                      <p:to>
                                        <p:strVal val="hidden"/>
                                      </p:to>
                                    </p:set>
                                  </p:childTnLst>
                                </p:cTn>
                              </p:par>
                            </p:childTnLst>
                          </p:cTn>
                        </p:par>
                        <p:par>
                          <p:cTn id="8" fill="hold">
                            <p:stCondLst>
                              <p:cond delay="2500"/>
                            </p:stCondLst>
                            <p:childTnLst>
                              <p:par>
                                <p:cTn id="9" presetID="10" presetClass="entr" presetSubtype="0" fill="hold" grpId="1"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Lst>
  </p:timing>
  <p:txStyles>
    <p:titleStyle>
      <a:lvl1pPr algn="l" defTabSz="914400" rtl="0" eaLnBrk="1" latinLnBrk="0" hangingPunct="1">
        <a:spcBef>
          <a:spcPct val="0"/>
        </a:spcBef>
        <a:buNone/>
        <a:defRPr sz="7200" b="1" kern="1200">
          <a:ln w="12700">
            <a:solidFill>
              <a:schemeClr val="tx2"/>
            </a:solidFill>
          </a:ln>
          <a:solidFill>
            <a:schemeClr val="bg1"/>
          </a:solidFill>
          <a:effectLst>
            <a:outerShdw blurRad="50800" dist="38100" dir="8100000" algn="tr" rotWithShape="0">
              <a:prstClr val="black">
                <a:alpha val="40000"/>
              </a:prstClr>
            </a:outerShd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Clr>
          <a:schemeClr val="tx1"/>
        </a:buClr>
        <a:buFont typeface="Calibri" pitchFamily="34" charset="0"/>
        <a:buChar char="&gt;"/>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s/_rels/slide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8.jpg"/></Relationships>
</file>

<file path=ppt/slides/_rels/slide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2.xml"/><Relationship Id="rId4" Type="http://schemas.openxmlformats.org/officeDocument/2006/relationships/image" Target="../media/image32.jpg"/></Relationships>
</file>

<file path=ppt/slides/_rels/slide14.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2.xml"/><Relationship Id="rId4" Type="http://schemas.openxmlformats.org/officeDocument/2006/relationships/image" Target="../media/image37.jpg"/></Relationships>
</file>

<file path=ppt/slides/_rels/slide16.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2.xml"/><Relationship Id="rId4" Type="http://schemas.openxmlformats.org/officeDocument/2006/relationships/image" Target="../media/image40.jpg"/></Relationships>
</file>

<file path=ppt/slides/_rels/slide17.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5.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6.jp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jpg"/><Relationship Id="rId1" Type="http://schemas.openxmlformats.org/officeDocument/2006/relationships/slideLayout" Target="../slideLayouts/slideLayout2.xml"/><Relationship Id="rId4" Type="http://schemas.openxmlformats.org/officeDocument/2006/relationships/image" Target="../media/image49.jpg"/></Relationships>
</file>

<file path=ppt/slides/_rels/slide24.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image" Target="../media/image5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332656"/>
            <a:ext cx="7776864" cy="5832648"/>
          </a:xfrm>
          <a:prstGeom prst="rect">
            <a:avLst/>
          </a:prstGeom>
        </p:spPr>
      </p:pic>
      <p:sp>
        <p:nvSpPr>
          <p:cNvPr id="2" name="標題 1"/>
          <p:cNvSpPr>
            <a:spLocks noGrp="1"/>
          </p:cNvSpPr>
          <p:nvPr>
            <p:ph type="ctrTitle"/>
          </p:nvPr>
        </p:nvSpPr>
        <p:spPr>
          <a:xfrm>
            <a:off x="1979712" y="188640"/>
            <a:ext cx="5976664" cy="1246391"/>
          </a:xfrm>
        </p:spPr>
        <p:txBody>
          <a:bodyPr/>
          <a:lstStyle/>
          <a:p>
            <a:r>
              <a:rPr lang="zh-TW" altLang="en-US" sz="7200" dirty="0" smtClean="0">
                <a:solidFill>
                  <a:srgbClr val="007FDE"/>
                </a:solidFill>
                <a:latin typeface="標楷體" panose="03000509000000000000" pitchFamily="65" charset="-120"/>
                <a:ea typeface="標楷體" panose="03000509000000000000" pitchFamily="65" charset="-120"/>
              </a:rPr>
              <a:t>愛河</a:t>
            </a:r>
            <a:r>
              <a:rPr lang="zh-TW" altLang="en-US" sz="7200" dirty="0">
                <a:solidFill>
                  <a:srgbClr val="007FDE"/>
                </a:solidFill>
                <a:latin typeface="標楷體" panose="03000509000000000000" pitchFamily="65" charset="-120"/>
                <a:ea typeface="標楷體" panose="03000509000000000000" pitchFamily="65" charset="-120"/>
              </a:rPr>
              <a:t>生態探索</a:t>
            </a:r>
          </a:p>
        </p:txBody>
      </p:sp>
      <p:sp>
        <p:nvSpPr>
          <p:cNvPr id="3" name="副標題 2"/>
          <p:cNvSpPr>
            <a:spLocks noGrp="1"/>
          </p:cNvSpPr>
          <p:nvPr>
            <p:ph type="subTitle" idx="1"/>
          </p:nvPr>
        </p:nvSpPr>
        <p:spPr>
          <a:xfrm>
            <a:off x="899592" y="5614087"/>
            <a:ext cx="8424936" cy="1102433"/>
          </a:xfrm>
        </p:spPr>
        <p:txBody>
          <a:bodyPr>
            <a:noAutofit/>
          </a:bodyPr>
          <a:lstStyle/>
          <a:p>
            <a:pPr algn="l"/>
            <a:r>
              <a:rPr lang="en-US" altLang="zh-TW" sz="2800" b="1" dirty="0" err="1" smtClean="0">
                <a:solidFill>
                  <a:srgbClr val="4A206A"/>
                </a:solidFill>
                <a:latin typeface="標楷體" panose="03000509000000000000" pitchFamily="65" charset="-120"/>
                <a:ea typeface="標楷體" panose="03000509000000000000" pitchFamily="65" charset="-120"/>
              </a:rPr>
              <a:t>klps506</a:t>
            </a:r>
            <a:r>
              <a:rPr lang="zh-TW" altLang="en-US" sz="2800" b="1" dirty="0" smtClean="0">
                <a:solidFill>
                  <a:srgbClr val="4A206A"/>
                </a:solidFill>
                <a:latin typeface="標楷體" panose="03000509000000000000" pitchFamily="65" charset="-120"/>
                <a:ea typeface="標楷體" panose="03000509000000000000" pitchFamily="65" charset="-120"/>
              </a:rPr>
              <a:t>隊</a:t>
            </a:r>
            <a:r>
              <a:rPr lang="zh-TW" altLang="en-US" sz="2800" dirty="0" smtClean="0">
                <a:solidFill>
                  <a:srgbClr val="002060"/>
                </a:solidFill>
                <a:latin typeface="標楷體" panose="03000509000000000000" pitchFamily="65" charset="-120"/>
                <a:ea typeface="標楷體" panose="03000509000000000000" pitchFamily="65" charset="-120"/>
              </a:rPr>
              <a:t>：</a:t>
            </a:r>
            <a:r>
              <a:rPr lang="zh-TW" altLang="en-US" sz="2800" b="1" dirty="0" smtClean="0">
                <a:solidFill>
                  <a:schemeClr val="tx1"/>
                </a:solidFill>
                <a:latin typeface="標楷體" panose="03000509000000000000" pitchFamily="65" charset="-120"/>
                <a:ea typeface="標楷體" panose="03000509000000000000" pitchFamily="65" charset="-120"/>
              </a:rPr>
              <a:t>藍立偉、郭</a:t>
            </a:r>
            <a:r>
              <a:rPr lang="zh-TW" altLang="en-US" sz="2800" b="1" dirty="0">
                <a:solidFill>
                  <a:schemeClr val="tx1"/>
                </a:solidFill>
                <a:latin typeface="標楷體" panose="03000509000000000000" pitchFamily="65" charset="-120"/>
                <a:ea typeface="標楷體" panose="03000509000000000000" pitchFamily="65" charset="-120"/>
              </a:rPr>
              <a:t>胤</a:t>
            </a:r>
            <a:r>
              <a:rPr lang="zh-TW" altLang="en-US" sz="2800" b="1" dirty="0" smtClean="0">
                <a:solidFill>
                  <a:schemeClr val="tx1"/>
                </a:solidFill>
                <a:latin typeface="標楷體" panose="03000509000000000000" pitchFamily="65" charset="-120"/>
                <a:ea typeface="標楷體" panose="03000509000000000000" pitchFamily="65" charset="-120"/>
              </a:rPr>
              <a:t>呈、陳怡伶、許</a:t>
            </a:r>
            <a:r>
              <a:rPr lang="zh-TW" altLang="en-US" sz="2800" b="1" dirty="0">
                <a:solidFill>
                  <a:schemeClr val="tx1"/>
                </a:solidFill>
                <a:latin typeface="標楷體" panose="03000509000000000000" pitchFamily="65" charset="-120"/>
                <a:ea typeface="標楷體" panose="03000509000000000000" pitchFamily="65" charset="-120"/>
              </a:rPr>
              <a:t>芙</a:t>
            </a:r>
            <a:r>
              <a:rPr lang="zh-TW" altLang="en-US" sz="2800" b="1" dirty="0" smtClean="0">
                <a:solidFill>
                  <a:schemeClr val="tx1"/>
                </a:solidFill>
                <a:latin typeface="標楷體" panose="03000509000000000000" pitchFamily="65" charset="-120"/>
                <a:ea typeface="標楷體" panose="03000509000000000000" pitchFamily="65" charset="-120"/>
              </a:rPr>
              <a:t>甄、</a:t>
            </a:r>
            <a:r>
              <a:rPr lang="en-US" altLang="zh-TW" sz="2800" b="1" dirty="0" smtClean="0">
                <a:solidFill>
                  <a:schemeClr val="tx1"/>
                </a:solidFill>
                <a:latin typeface="標楷體" panose="03000509000000000000" pitchFamily="65" charset="-120"/>
                <a:ea typeface="標楷體" panose="03000509000000000000" pitchFamily="65" charset="-120"/>
              </a:rPr>
              <a:t/>
            </a:r>
            <a:br>
              <a:rPr lang="en-US" altLang="zh-TW" sz="2800" b="1" dirty="0" smtClean="0">
                <a:solidFill>
                  <a:schemeClr val="tx1"/>
                </a:solidFill>
                <a:latin typeface="標楷體" panose="03000509000000000000" pitchFamily="65" charset="-120"/>
                <a:ea typeface="標楷體" panose="03000509000000000000" pitchFamily="65" charset="-120"/>
              </a:rPr>
            </a:br>
            <a:r>
              <a:rPr lang="zh-TW" altLang="en-US" sz="2800" b="1" dirty="0" smtClean="0">
                <a:solidFill>
                  <a:schemeClr val="tx1"/>
                </a:solidFill>
                <a:latin typeface="標楷體" panose="03000509000000000000" pitchFamily="65" charset="-120"/>
                <a:ea typeface="標楷體" panose="03000509000000000000" pitchFamily="65" charset="-120"/>
              </a:rPr>
              <a:t>許</a:t>
            </a:r>
            <a:r>
              <a:rPr lang="zh-TW" altLang="en-US" sz="2800" b="1" dirty="0">
                <a:solidFill>
                  <a:schemeClr val="tx1"/>
                </a:solidFill>
                <a:latin typeface="標楷體" panose="03000509000000000000" pitchFamily="65" charset="-120"/>
                <a:ea typeface="標楷體" panose="03000509000000000000" pitchFamily="65" charset="-120"/>
              </a:rPr>
              <a:t>芷</a:t>
            </a:r>
            <a:r>
              <a:rPr lang="zh-TW" altLang="en-US" sz="2800" b="1" dirty="0" smtClean="0">
                <a:solidFill>
                  <a:schemeClr val="tx1"/>
                </a:solidFill>
                <a:latin typeface="標楷體" panose="03000509000000000000" pitchFamily="65" charset="-120"/>
                <a:ea typeface="標楷體" panose="03000509000000000000" pitchFamily="65" charset="-120"/>
              </a:rPr>
              <a:t>瑜</a:t>
            </a:r>
            <a:r>
              <a:rPr lang="zh-TW" altLang="en-US" sz="2800" b="1" dirty="0">
                <a:solidFill>
                  <a:schemeClr val="tx1"/>
                </a:solidFill>
                <a:latin typeface="標楷體" panose="03000509000000000000" pitchFamily="65" charset="-120"/>
                <a:ea typeface="標楷體" panose="03000509000000000000" pitchFamily="65" charset="-120"/>
              </a:rPr>
              <a:t>、</a:t>
            </a:r>
            <a:r>
              <a:rPr lang="zh-TW" altLang="en-US" sz="2800" b="1" dirty="0" smtClean="0">
                <a:solidFill>
                  <a:schemeClr val="tx1"/>
                </a:solidFill>
                <a:latin typeface="標楷體" panose="03000509000000000000" pitchFamily="65" charset="-120"/>
                <a:ea typeface="標楷體" panose="03000509000000000000" pitchFamily="65" charset="-120"/>
              </a:rPr>
              <a:t>黃玟瑜</a:t>
            </a:r>
            <a:r>
              <a:rPr lang="zh-TW" altLang="en-US" sz="2800" b="1" dirty="0">
                <a:solidFill>
                  <a:schemeClr val="tx1"/>
                </a:solidFill>
                <a:latin typeface="標楷體" panose="03000509000000000000" pitchFamily="65" charset="-120"/>
                <a:ea typeface="標楷體" panose="03000509000000000000" pitchFamily="65" charset="-120"/>
              </a:rPr>
              <a:t>、</a:t>
            </a:r>
            <a:r>
              <a:rPr lang="zh-TW" altLang="en-US" sz="2800" b="1" dirty="0" smtClean="0">
                <a:solidFill>
                  <a:schemeClr val="tx1"/>
                </a:solidFill>
                <a:latin typeface="標楷體" panose="03000509000000000000" pitchFamily="65" charset="-120"/>
                <a:ea typeface="標楷體" panose="03000509000000000000" pitchFamily="65" charset="-120"/>
              </a:rPr>
              <a:t>黃</a:t>
            </a:r>
            <a:r>
              <a:rPr lang="zh-TW" altLang="en-US" sz="2800" b="1" dirty="0">
                <a:solidFill>
                  <a:schemeClr val="tx1"/>
                </a:solidFill>
                <a:latin typeface="標楷體" panose="03000509000000000000" pitchFamily="65" charset="-120"/>
                <a:ea typeface="標楷體" panose="03000509000000000000" pitchFamily="65" charset="-120"/>
              </a:rPr>
              <a:t>璽</a:t>
            </a:r>
            <a:r>
              <a:rPr lang="zh-TW" altLang="en-US" sz="2800" b="1" dirty="0" smtClean="0">
                <a:solidFill>
                  <a:schemeClr val="tx1"/>
                </a:solidFill>
                <a:latin typeface="標楷體" panose="03000509000000000000" pitchFamily="65" charset="-120"/>
                <a:ea typeface="標楷體" panose="03000509000000000000" pitchFamily="65" charset="-120"/>
              </a:rPr>
              <a:t>云、葉</a:t>
            </a:r>
            <a:r>
              <a:rPr lang="zh-TW" altLang="en-US" sz="2800" b="1" dirty="0">
                <a:solidFill>
                  <a:schemeClr val="tx1"/>
                </a:solidFill>
                <a:latin typeface="標楷體" panose="03000509000000000000" pitchFamily="65" charset="-120"/>
                <a:ea typeface="標楷體" panose="03000509000000000000" pitchFamily="65" charset="-120"/>
              </a:rPr>
              <a:t>書</a:t>
            </a:r>
            <a:r>
              <a:rPr lang="zh-TW" altLang="en-US" sz="2800" b="1" dirty="0" smtClean="0">
                <a:solidFill>
                  <a:schemeClr val="tx1"/>
                </a:solidFill>
                <a:latin typeface="標楷體" panose="03000509000000000000" pitchFamily="65" charset="-120"/>
                <a:ea typeface="標楷體" panose="03000509000000000000" pitchFamily="65" charset="-120"/>
              </a:rPr>
              <a:t>亨</a:t>
            </a:r>
            <a:r>
              <a:rPr lang="zh-TW" altLang="en-US" sz="2800" b="1" dirty="0">
                <a:solidFill>
                  <a:schemeClr val="tx1"/>
                </a:solidFill>
                <a:latin typeface="標楷體" panose="03000509000000000000" pitchFamily="65" charset="-120"/>
                <a:ea typeface="標楷體" panose="03000509000000000000" pitchFamily="65" charset="-120"/>
              </a:rPr>
              <a:t>、</a:t>
            </a:r>
            <a:r>
              <a:rPr lang="zh-TW" altLang="en-US" sz="2800" b="1" dirty="0" smtClean="0">
                <a:solidFill>
                  <a:schemeClr val="tx1"/>
                </a:solidFill>
                <a:latin typeface="標楷體" panose="03000509000000000000" pitchFamily="65" charset="-120"/>
                <a:ea typeface="標楷體" panose="03000509000000000000" pitchFamily="65" charset="-120"/>
              </a:rPr>
              <a:t>夏</a:t>
            </a:r>
            <a:r>
              <a:rPr lang="zh-TW" altLang="en-US" sz="2800" b="1" dirty="0">
                <a:solidFill>
                  <a:schemeClr val="tx1"/>
                </a:solidFill>
                <a:latin typeface="標楷體" panose="03000509000000000000" pitchFamily="65" charset="-120"/>
                <a:ea typeface="標楷體" panose="03000509000000000000" pitchFamily="65" charset="-120"/>
              </a:rPr>
              <a:t>煜翔</a:t>
            </a:r>
          </a:p>
        </p:txBody>
      </p:sp>
    </p:spTree>
    <p:extLst>
      <p:ext uri="{BB962C8B-B14F-4D97-AF65-F5344CB8AC3E}">
        <p14:creationId xmlns:p14="http://schemas.microsoft.com/office/powerpoint/2010/main" val="8416757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7584" y="0"/>
            <a:ext cx="6336704"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沿岸生態～</a:t>
            </a:r>
            <a:r>
              <a:rPr lang="zh-TW" altLang="en-US" sz="4800" dirty="0" smtClean="0">
                <a:solidFill>
                  <a:srgbClr val="0070C0"/>
                </a:solidFill>
                <a:latin typeface="標楷體" panose="03000509000000000000" pitchFamily="65" charset="-120"/>
                <a:ea typeface="標楷體" panose="03000509000000000000" pitchFamily="65" charset="-120"/>
              </a:rPr>
              <a:t>前言</a:t>
            </a:r>
            <a:endParaRPr lang="zh-TW" altLang="en-US" sz="4800" dirty="0">
              <a:solidFill>
                <a:srgbClr val="0070C0"/>
              </a:solidFill>
              <a:latin typeface="標楷體" panose="03000509000000000000" pitchFamily="65" charset="-120"/>
              <a:ea typeface="標楷體" panose="03000509000000000000" pitchFamily="65" charset="-120"/>
            </a:endParaRPr>
          </a:p>
        </p:txBody>
      </p:sp>
      <p:pic>
        <p:nvPicPr>
          <p:cNvPr id="6" name="圖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608" y="4553077"/>
            <a:ext cx="2921483" cy="21911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圖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2919" y="4529943"/>
            <a:ext cx="2952327" cy="22142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內容版面配置區 2"/>
          <p:cNvSpPr>
            <a:spLocks noGrp="1"/>
          </p:cNvSpPr>
          <p:nvPr>
            <p:ph idx="1"/>
          </p:nvPr>
        </p:nvSpPr>
        <p:spPr>
          <a:xfrm>
            <a:off x="611560" y="836712"/>
            <a:ext cx="8280920" cy="4032448"/>
          </a:xfrm>
        </p:spPr>
        <p:txBody>
          <a:bodyPr>
            <a:noAutofit/>
          </a:bodyPr>
          <a:lstStyle/>
          <a:p>
            <a:pPr marL="0" indent="808038">
              <a:buNone/>
            </a:pPr>
            <a:r>
              <a:rPr lang="zh-TW" altLang="en-US" sz="3000" dirty="0">
                <a:solidFill>
                  <a:srgbClr val="002060"/>
                </a:solidFill>
                <a:latin typeface="標楷體" panose="03000509000000000000" pitchFamily="65" charset="-120"/>
                <a:ea typeface="標楷體" panose="03000509000000000000" pitchFamily="65" charset="-120"/>
              </a:rPr>
              <a:t>愛河以前是個很漂亮的河流，有很多的魚、蝦子、螃蟹</a:t>
            </a:r>
            <a:r>
              <a:rPr lang="en-US" altLang="zh-TW" sz="3000" dirty="0">
                <a:solidFill>
                  <a:srgbClr val="002060"/>
                </a:solidFill>
                <a:latin typeface="標楷體" panose="03000509000000000000" pitchFamily="65" charset="-120"/>
                <a:ea typeface="標楷體" panose="03000509000000000000" pitchFamily="65" charset="-120"/>
              </a:rPr>
              <a:t>……</a:t>
            </a:r>
            <a:r>
              <a:rPr lang="zh-TW" altLang="en-US" sz="3000" dirty="0">
                <a:solidFill>
                  <a:srgbClr val="002060"/>
                </a:solidFill>
                <a:latin typeface="標楷體" panose="03000509000000000000" pitchFamily="65" charset="-120"/>
                <a:ea typeface="標楷體" panose="03000509000000000000" pitchFamily="65" charset="-120"/>
              </a:rPr>
              <a:t>等動物，也有很多的鳥類，河堤邊也有許許多多的植物，但是，好景不常在，就在那個時候，</a:t>
            </a:r>
            <a:r>
              <a:rPr lang="zh-TW" altLang="en-US" sz="3000" dirty="0">
                <a:solidFill>
                  <a:srgbClr val="FF0000"/>
                </a:solidFill>
                <a:latin typeface="標楷體" panose="03000509000000000000" pitchFamily="65" charset="-120"/>
                <a:ea typeface="標楷體" panose="03000509000000000000" pitchFamily="65" charset="-120"/>
              </a:rPr>
              <a:t>高雄港開始築港</a:t>
            </a:r>
            <a:r>
              <a:rPr lang="zh-TW" altLang="en-US" sz="3000" dirty="0">
                <a:solidFill>
                  <a:srgbClr val="002060"/>
                </a:solidFill>
                <a:latin typeface="標楷體" panose="03000509000000000000" pitchFamily="65" charset="-120"/>
                <a:ea typeface="標楷體" panose="03000509000000000000" pitchFamily="65" charset="-120"/>
              </a:rPr>
              <a:t>，就漸漸的把愛河</a:t>
            </a:r>
            <a:r>
              <a:rPr lang="zh-TW" altLang="en-US" sz="3000" dirty="0">
                <a:solidFill>
                  <a:srgbClr val="FF0000"/>
                </a:solidFill>
                <a:latin typeface="標楷體" panose="03000509000000000000" pitchFamily="65" charset="-120"/>
                <a:ea typeface="標楷體" panose="03000509000000000000" pitchFamily="65" charset="-120"/>
              </a:rPr>
              <a:t>河堤邊的紅樹林漸漸砍光</a:t>
            </a:r>
            <a:r>
              <a:rPr lang="zh-TW" altLang="en-US" sz="3000" dirty="0">
                <a:solidFill>
                  <a:srgbClr val="002060"/>
                </a:solidFill>
                <a:latin typeface="標楷體" panose="03000509000000000000" pitchFamily="65" charset="-120"/>
                <a:ea typeface="標楷體" panose="03000509000000000000" pitchFamily="65" charset="-120"/>
              </a:rPr>
              <a:t>，河 水也漸漸的變臭，漸漸的，也沒有人想要靠近那臭死人的愛河，不過，終於有人有了環保意識！於是，政府開始著手整治愛河，使得愛河又漸漸恢復生機</a:t>
            </a:r>
            <a:r>
              <a:rPr lang="en-US" altLang="zh-TW" sz="3000" dirty="0">
                <a:solidFill>
                  <a:srgbClr val="002060"/>
                </a:solidFill>
                <a:latin typeface="標楷體" panose="03000509000000000000" pitchFamily="65" charset="-120"/>
                <a:ea typeface="標楷體" panose="03000509000000000000" pitchFamily="65" charset="-120"/>
              </a:rPr>
              <a:t>......</a:t>
            </a:r>
            <a:endParaRPr lang="zh-TW" altLang="en-US" sz="3000" dirty="0">
              <a:solidFill>
                <a:srgbClr val="002060"/>
              </a:solidFill>
            </a:endParaRPr>
          </a:p>
        </p:txBody>
      </p:sp>
    </p:spTree>
    <p:extLst>
      <p:ext uri="{BB962C8B-B14F-4D97-AF65-F5344CB8AC3E}">
        <p14:creationId xmlns:p14="http://schemas.microsoft.com/office/powerpoint/2010/main" val="42187850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7584" y="0"/>
            <a:ext cx="6336704"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沿岸生態</a:t>
            </a:r>
            <a:r>
              <a:rPr lang="zh-TW" altLang="en-US" sz="4800" dirty="0" smtClean="0">
                <a:solidFill>
                  <a:srgbClr val="0070C0"/>
                </a:solidFill>
                <a:latin typeface="標楷體" panose="03000509000000000000" pitchFamily="65" charset="-120"/>
                <a:ea typeface="標楷體" panose="03000509000000000000" pitchFamily="65" charset="-120"/>
              </a:rPr>
              <a:t>～魚類種類</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4" name="矩形 3"/>
          <p:cNvSpPr/>
          <p:nvPr/>
        </p:nvSpPr>
        <p:spPr>
          <a:xfrm>
            <a:off x="583774" y="5365727"/>
            <a:ext cx="4572000" cy="646331"/>
          </a:xfrm>
          <a:prstGeom prst="rect">
            <a:avLst/>
          </a:prstGeom>
        </p:spPr>
        <p:txBody>
          <a:bodyPr>
            <a:spAutoFit/>
          </a:bodyPr>
          <a:lstStyle/>
          <a:p>
            <a:r>
              <a:rPr lang="en-US" altLang="zh-TW" dirty="0"/>
              <a:t>&lt;&lt;</a:t>
            </a:r>
            <a:r>
              <a:rPr lang="zh-TW" altLang="en-US" dirty="0"/>
              <a:t>節錄</a:t>
            </a:r>
            <a:r>
              <a:rPr lang="en-US" altLang="zh-TW" dirty="0"/>
              <a:t>&gt;&gt;</a:t>
            </a:r>
            <a:r>
              <a:rPr lang="zh-TW" altLang="en-US" dirty="0"/>
              <a:t>文化愛河鄉土教育創意課程，「魚兒魚兒水中游」，鼓山高中</a:t>
            </a:r>
          </a:p>
        </p:txBody>
      </p:sp>
      <p:pic>
        <p:nvPicPr>
          <p:cNvPr id="6" name="圖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52371" y="4259728"/>
            <a:ext cx="3347864" cy="25108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內容版面配置區 2"/>
          <p:cNvSpPr>
            <a:spLocks noGrp="1"/>
          </p:cNvSpPr>
          <p:nvPr>
            <p:ph idx="1"/>
          </p:nvPr>
        </p:nvSpPr>
        <p:spPr>
          <a:xfrm>
            <a:off x="323528" y="836714"/>
            <a:ext cx="9001000" cy="4498974"/>
          </a:xfrm>
        </p:spPr>
        <p:txBody>
          <a:bodyPr>
            <a:noAutofit/>
          </a:bodyPr>
          <a:lstStyle/>
          <a:p>
            <a:pPr marL="0" indent="712788">
              <a:buNone/>
            </a:pPr>
            <a:r>
              <a:rPr lang="en-US" altLang="zh-TW" sz="2600" dirty="0">
                <a:solidFill>
                  <a:srgbClr val="FF0000"/>
                </a:solidFill>
                <a:latin typeface="標楷體" panose="03000509000000000000" pitchFamily="65" charset="-120"/>
                <a:ea typeface="標楷體" panose="03000509000000000000" pitchFamily="65" charset="-120"/>
              </a:rPr>
              <a:t>1979</a:t>
            </a:r>
            <a:r>
              <a:rPr lang="zh-TW" altLang="en-US" sz="2600" dirty="0">
                <a:solidFill>
                  <a:srgbClr val="002060"/>
                </a:solidFill>
                <a:latin typeface="標楷體" panose="03000509000000000000" pitchFamily="65" charset="-120"/>
                <a:ea typeface="標楷體" panose="03000509000000000000" pitchFamily="65" charset="-120"/>
              </a:rPr>
              <a:t>年市政府開始執行愛河整治計畫，經過</a:t>
            </a:r>
            <a:r>
              <a:rPr lang="zh-TW" altLang="en-US" sz="2600" dirty="0">
                <a:solidFill>
                  <a:srgbClr val="FF0000"/>
                </a:solidFill>
                <a:latin typeface="標楷體" panose="03000509000000000000" pitchFamily="65" charset="-120"/>
                <a:ea typeface="標楷體" panose="03000509000000000000" pitchFamily="65" charset="-120"/>
              </a:rPr>
              <a:t>二十年</a:t>
            </a:r>
            <a:r>
              <a:rPr lang="zh-TW" altLang="en-US" sz="2600" dirty="0">
                <a:solidFill>
                  <a:srgbClr val="002060"/>
                </a:solidFill>
                <a:latin typeface="標楷體" panose="03000509000000000000" pitchFamily="65" charset="-120"/>
                <a:ea typeface="標楷體" panose="03000509000000000000" pitchFamily="65" charset="-120"/>
              </a:rPr>
              <a:t>的努力，愛河逐漸復甦，魚兒開始重現。</a:t>
            </a:r>
          </a:p>
          <a:p>
            <a:pPr marL="0" indent="808038">
              <a:buNone/>
            </a:pPr>
            <a:r>
              <a:rPr lang="zh-TW" altLang="en-US" sz="2600" dirty="0" smtClean="0">
                <a:solidFill>
                  <a:srgbClr val="002060"/>
                </a:solidFill>
                <a:latin typeface="標楷體" panose="03000509000000000000" pitchFamily="65" charset="-120"/>
                <a:ea typeface="標楷體" panose="03000509000000000000" pitchFamily="65" charset="-120"/>
              </a:rPr>
              <a:t>首先</a:t>
            </a:r>
            <a:r>
              <a:rPr lang="zh-TW" altLang="en-US" sz="2600" dirty="0">
                <a:solidFill>
                  <a:srgbClr val="002060"/>
                </a:solidFill>
                <a:latin typeface="標楷體" panose="03000509000000000000" pitchFamily="65" charset="-120"/>
                <a:ea typeface="標楷體" panose="03000509000000000000" pitchFamily="65" charset="-120"/>
              </a:rPr>
              <a:t>登場的是</a:t>
            </a:r>
            <a:r>
              <a:rPr lang="zh-TW" altLang="en-US" sz="2600" dirty="0">
                <a:solidFill>
                  <a:srgbClr val="FF0000"/>
                </a:solidFill>
                <a:latin typeface="標楷體" panose="03000509000000000000" pitchFamily="65" charset="-120"/>
                <a:ea typeface="標楷體" panose="03000509000000000000" pitchFamily="65" charset="-120"/>
              </a:rPr>
              <a:t>藤壺，</a:t>
            </a:r>
            <a:r>
              <a:rPr lang="zh-TW" altLang="en-US" sz="2600" dirty="0">
                <a:solidFill>
                  <a:srgbClr val="002060"/>
                </a:solidFill>
                <a:latin typeface="標楷體" panose="03000509000000000000" pitchFamily="65" charset="-120"/>
                <a:ea typeface="標楷體" panose="03000509000000000000" pitchFamily="65" charset="-120"/>
              </a:rPr>
              <a:t>接著有</a:t>
            </a:r>
            <a:r>
              <a:rPr lang="zh-TW" altLang="en-US" sz="2600" dirty="0">
                <a:solidFill>
                  <a:srgbClr val="FF0000"/>
                </a:solidFill>
                <a:latin typeface="標楷體" panose="03000509000000000000" pitchFamily="65" charset="-120"/>
                <a:ea typeface="標楷體" panose="03000509000000000000" pitchFamily="65" charset="-120"/>
              </a:rPr>
              <a:t>土黃仔、狗更仔、大眼海鰱、豆仔魚、歪美仔、虱目魚、紅蟳、小蝦等</a:t>
            </a:r>
            <a:r>
              <a:rPr lang="en-US" altLang="zh-TW" sz="2600" dirty="0">
                <a:solidFill>
                  <a:srgbClr val="FF0000"/>
                </a:solidFill>
                <a:latin typeface="標楷體" panose="03000509000000000000" pitchFamily="65" charset="-120"/>
                <a:ea typeface="標楷體" panose="03000509000000000000" pitchFamily="65" charset="-120"/>
              </a:rPr>
              <a:t>20</a:t>
            </a:r>
            <a:r>
              <a:rPr lang="zh-TW" altLang="en-US" sz="2600" dirty="0">
                <a:solidFill>
                  <a:srgbClr val="FF0000"/>
                </a:solidFill>
                <a:latin typeface="標楷體" panose="03000509000000000000" pitchFamily="65" charset="-120"/>
                <a:ea typeface="標楷體" panose="03000509000000000000" pitchFamily="65" charset="-120"/>
              </a:rPr>
              <a:t>種</a:t>
            </a:r>
            <a:r>
              <a:rPr lang="zh-TW" altLang="en-US" sz="2600" dirty="0">
                <a:solidFill>
                  <a:srgbClr val="002060"/>
                </a:solidFill>
                <a:latin typeface="標楷體" panose="03000509000000000000" pitchFamily="65" charset="-120"/>
                <a:ea typeface="標楷體" panose="03000509000000000000" pitchFamily="65" charset="-120"/>
              </a:rPr>
              <a:t>的魚蝦貝類</a:t>
            </a:r>
            <a:r>
              <a:rPr lang="zh-TW" altLang="en-US" sz="2600" dirty="0" smtClean="0">
                <a:solidFill>
                  <a:srgbClr val="002060"/>
                </a:solidFill>
                <a:latin typeface="標楷體" panose="03000509000000000000" pitchFamily="65" charset="-120"/>
                <a:ea typeface="標楷體" panose="03000509000000000000" pitchFamily="65" charset="-120"/>
              </a:rPr>
              <a:t>。</a:t>
            </a:r>
            <a:endParaRPr lang="en-US" altLang="zh-TW" sz="2600" dirty="0" smtClean="0">
              <a:solidFill>
                <a:srgbClr val="002060"/>
              </a:solidFill>
              <a:latin typeface="標楷體" panose="03000509000000000000" pitchFamily="65" charset="-120"/>
              <a:ea typeface="標楷體" panose="03000509000000000000" pitchFamily="65" charset="-120"/>
            </a:endParaRPr>
          </a:p>
          <a:p>
            <a:pPr marL="0" indent="712788">
              <a:buNone/>
            </a:pPr>
            <a:r>
              <a:rPr lang="zh-TW" altLang="en-US" sz="2600" dirty="0" smtClean="0">
                <a:solidFill>
                  <a:srgbClr val="002060"/>
                </a:solidFill>
                <a:latin typeface="標楷體" panose="03000509000000000000" pitchFamily="65" charset="-120"/>
                <a:ea typeface="標楷體" panose="03000509000000000000" pitchFamily="65" charset="-120"/>
              </a:rPr>
              <a:t>「</a:t>
            </a:r>
            <a:r>
              <a:rPr lang="zh-TW" altLang="en-US" sz="2600" dirty="0" smtClean="0">
                <a:solidFill>
                  <a:srgbClr val="FF0000"/>
                </a:solidFill>
                <a:latin typeface="標楷體" panose="03000509000000000000" pitchFamily="65" charset="-120"/>
                <a:ea typeface="標楷體" panose="03000509000000000000" pitchFamily="65" charset="-120"/>
              </a:rPr>
              <a:t>愛河</a:t>
            </a:r>
            <a:r>
              <a:rPr lang="zh-TW" altLang="en-US" sz="2600" dirty="0">
                <a:solidFill>
                  <a:srgbClr val="FF0000"/>
                </a:solidFill>
                <a:latin typeface="標楷體" panose="03000509000000000000" pitchFamily="65" charset="-120"/>
                <a:ea typeface="標楷體" panose="03000509000000000000" pitchFamily="65" charset="-120"/>
              </a:rPr>
              <a:t>有魚</a:t>
            </a:r>
            <a:r>
              <a:rPr lang="zh-TW" altLang="en-US" sz="2600" dirty="0">
                <a:solidFill>
                  <a:srgbClr val="002060"/>
                </a:solidFill>
                <a:latin typeface="標楷體" panose="03000509000000000000" pitchFamily="65" charset="-120"/>
                <a:ea typeface="標楷體" panose="03000509000000000000" pitchFamily="65" charset="-120"/>
              </a:rPr>
              <a:t>」竟然成了市民最大的驚嘆</a:t>
            </a:r>
            <a:r>
              <a:rPr lang="zh-TW" altLang="en-US" sz="2600" dirty="0" smtClean="0">
                <a:solidFill>
                  <a:srgbClr val="002060"/>
                </a:solidFill>
                <a:latin typeface="標楷體" panose="03000509000000000000" pitchFamily="65" charset="-120"/>
                <a:ea typeface="標楷體" panose="03000509000000000000" pitchFamily="65" charset="-120"/>
              </a:rPr>
              <a:t>。愛河</a:t>
            </a:r>
            <a:r>
              <a:rPr lang="zh-TW" altLang="en-US" sz="2600" dirty="0">
                <a:solidFill>
                  <a:srgbClr val="002060"/>
                </a:solidFill>
                <a:latin typeface="標楷體" panose="03000509000000000000" pitchFamily="65" charset="-120"/>
                <a:ea typeface="標楷體" panose="03000509000000000000" pitchFamily="65" charset="-120"/>
              </a:rPr>
              <a:t>有魚了</a:t>
            </a:r>
            <a:r>
              <a:rPr lang="zh-TW" altLang="en-US" sz="2600" dirty="0" smtClean="0">
                <a:solidFill>
                  <a:srgbClr val="002060"/>
                </a:solidFill>
                <a:latin typeface="標楷體" panose="03000509000000000000" pitchFamily="65" charset="-120"/>
                <a:ea typeface="標楷體" panose="03000509000000000000" pitchFamily="65" charset="-120"/>
              </a:rPr>
              <a:t>。</a:t>
            </a:r>
            <a:endParaRPr lang="en-US" altLang="zh-TW" sz="2600" dirty="0" smtClean="0">
              <a:solidFill>
                <a:srgbClr val="002060"/>
              </a:solidFill>
              <a:latin typeface="標楷體" panose="03000509000000000000" pitchFamily="65" charset="-120"/>
              <a:ea typeface="標楷體" panose="03000509000000000000" pitchFamily="65" charset="-120"/>
            </a:endParaRPr>
          </a:p>
          <a:p>
            <a:pPr marL="0" indent="627063">
              <a:buNone/>
            </a:pPr>
            <a:r>
              <a:rPr lang="zh-TW" altLang="en-US" sz="2600" dirty="0" smtClean="0">
                <a:solidFill>
                  <a:srgbClr val="002060"/>
                </a:solidFill>
                <a:latin typeface="標楷體" panose="03000509000000000000" pitchFamily="65" charset="-120"/>
                <a:ea typeface="標楷體" panose="03000509000000000000" pitchFamily="65" charset="-120"/>
              </a:rPr>
              <a:t>曾</a:t>
            </a:r>
            <a:r>
              <a:rPr lang="zh-TW" altLang="en-US" sz="2600" dirty="0">
                <a:solidFill>
                  <a:srgbClr val="002060"/>
                </a:solidFill>
                <a:latin typeface="標楷體" panose="03000509000000000000" pitchFamily="65" charset="-120"/>
                <a:ea typeface="標楷體" panose="03000509000000000000" pitchFamily="65" charset="-120"/>
              </a:rPr>
              <a:t>宣告死亡的愛河正在甦醒，正在努力的洗刷黑河的污名，這個時候的愛河最需要的就是市民的關心。沒有市民的關心，即使愛河的魚群滿河游，愛河仍不會活在市民的心中。缺乏市民的關心，愛河將難成為高雄人的生命力。</a:t>
            </a:r>
          </a:p>
        </p:txBody>
      </p:sp>
    </p:spTree>
    <p:extLst>
      <p:ext uri="{BB962C8B-B14F-4D97-AF65-F5344CB8AC3E}">
        <p14:creationId xmlns:p14="http://schemas.microsoft.com/office/powerpoint/2010/main" val="40179028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內容版面配置區 6"/>
          <p:cNvGraphicFramePr>
            <a:graphicFrameLocks noGrp="1"/>
          </p:cNvGraphicFramePr>
          <p:nvPr>
            <p:ph idx="1"/>
            <p:extLst>
              <p:ext uri="{D42A27DB-BD31-4B8C-83A1-F6EECF244321}">
                <p14:modId xmlns:p14="http://schemas.microsoft.com/office/powerpoint/2010/main" val="3790676975"/>
              </p:ext>
            </p:extLst>
          </p:nvPr>
        </p:nvGraphicFramePr>
        <p:xfrm>
          <a:off x="395536" y="1052736"/>
          <a:ext cx="8568952" cy="5509200"/>
        </p:xfrm>
        <a:graphic>
          <a:graphicData uri="http://schemas.openxmlformats.org/drawingml/2006/table">
            <a:tbl>
              <a:tblPr firstRow="1" bandRow="1">
                <a:tableStyleId>{5C22544A-7EE6-4342-B048-85BDC9FD1C3A}</a:tableStyleId>
              </a:tblPr>
              <a:tblGrid>
                <a:gridCol w="1584176"/>
                <a:gridCol w="6984776"/>
              </a:tblGrid>
              <a:tr h="1080120">
                <a:tc>
                  <a:txBody>
                    <a:bodyPr/>
                    <a:lstStyle/>
                    <a:p>
                      <a:endParaRPr lang="zh-TW" altLang="en-US" dirty="0"/>
                    </a:p>
                  </a:txBody>
                  <a:tcPr>
                    <a:solidFill>
                      <a:schemeClr val="accent6">
                        <a:lumMod val="20000"/>
                        <a:lumOff val="80000"/>
                      </a:schemeClr>
                    </a:solidFill>
                  </a:tcPr>
                </a:tc>
                <a:tc>
                  <a:txBody>
                    <a:bodyPr/>
                    <a:lstStyle/>
                    <a:p>
                      <a:r>
                        <a:rPr lang="zh-TW" altLang="en-US" dirty="0" smtClean="0">
                          <a:solidFill>
                            <a:srgbClr val="FF0000"/>
                          </a:solidFill>
                          <a:latin typeface="標楷體" panose="03000509000000000000" pitchFamily="65" charset="-120"/>
                          <a:ea typeface="標楷體" panose="03000509000000000000" pitchFamily="65" charset="-120"/>
                        </a:rPr>
                        <a:t>環球海鰶</a:t>
                      </a:r>
                    </a:p>
                    <a:p>
                      <a:r>
                        <a:rPr lang="zh-TW" altLang="en-US" dirty="0" smtClean="0">
                          <a:solidFill>
                            <a:schemeClr val="tx1"/>
                          </a:solidFill>
                          <a:latin typeface="標楷體" panose="03000509000000000000" pitchFamily="65" charset="-120"/>
                          <a:ea typeface="標楷體" panose="03000509000000000000" pitchFamily="65" charset="-120"/>
                        </a:rPr>
                        <a:t>約</a:t>
                      </a:r>
                      <a:r>
                        <a:rPr lang="en-US" altLang="zh-TW" dirty="0" smtClean="0">
                          <a:solidFill>
                            <a:schemeClr val="tx1"/>
                          </a:solidFill>
                          <a:latin typeface="標楷體" panose="03000509000000000000" pitchFamily="65" charset="-120"/>
                          <a:ea typeface="標楷體" panose="03000509000000000000" pitchFamily="65" charset="-120"/>
                        </a:rPr>
                        <a:t>10-20</a:t>
                      </a:r>
                      <a:r>
                        <a:rPr lang="zh-TW" altLang="en-US" dirty="0" smtClean="0">
                          <a:solidFill>
                            <a:schemeClr val="tx1"/>
                          </a:solidFill>
                          <a:latin typeface="標楷體" panose="03000509000000000000" pitchFamily="65" charset="-120"/>
                          <a:ea typeface="標楷體" panose="03000509000000000000" pitchFamily="65" charset="-120"/>
                        </a:rPr>
                        <a:t>公分，分布在河川出海口之淡</a:t>
                      </a:r>
                      <a:r>
                        <a:rPr lang="en-US" altLang="zh-TW" dirty="0" smtClean="0">
                          <a:solidFill>
                            <a:schemeClr val="tx1"/>
                          </a:solidFill>
                          <a:latin typeface="標楷體" panose="03000509000000000000" pitchFamily="65" charset="-120"/>
                          <a:ea typeface="標楷體" panose="03000509000000000000" pitchFamily="65" charset="-120"/>
                        </a:rPr>
                        <a:t>/</a:t>
                      </a:r>
                      <a:r>
                        <a:rPr lang="zh-TW" altLang="en-US" dirty="0" smtClean="0">
                          <a:solidFill>
                            <a:schemeClr val="tx1"/>
                          </a:solidFill>
                          <a:latin typeface="標楷體" panose="03000509000000000000" pitchFamily="65" charset="-120"/>
                          <a:ea typeface="標楷體" panose="03000509000000000000" pitchFamily="65" charset="-120"/>
                        </a:rPr>
                        <a:t>鹹水海域，時常進入河川下游地區。具有溯河產卵的習性。</a:t>
                      </a:r>
                    </a:p>
                    <a:p>
                      <a:endParaRPr lang="zh-TW" altLang="en-US" dirty="0">
                        <a:latin typeface="標楷體" panose="03000509000000000000" pitchFamily="65" charset="-120"/>
                        <a:ea typeface="標楷體" panose="03000509000000000000" pitchFamily="65" charset="-120"/>
                      </a:endParaRPr>
                    </a:p>
                  </a:txBody>
                  <a:tcPr>
                    <a:solidFill>
                      <a:schemeClr val="accent6">
                        <a:lumMod val="20000"/>
                        <a:lumOff val="80000"/>
                      </a:schemeClr>
                    </a:solidFill>
                  </a:tcPr>
                </a:tc>
              </a:tr>
              <a:tr h="1080120">
                <a:tc>
                  <a:txBody>
                    <a:bodyPr/>
                    <a:lstStyle/>
                    <a:p>
                      <a:endParaRPr lang="zh-TW" altLang="en-US" dirty="0"/>
                    </a:p>
                  </a:txBody>
                  <a:tcPr>
                    <a:solidFill>
                      <a:srgbClr val="E3FDF6"/>
                    </a:solidFill>
                  </a:tcPr>
                </a:tc>
                <a:tc>
                  <a:txBody>
                    <a:bodyPr/>
                    <a:lstStyle/>
                    <a:p>
                      <a:r>
                        <a:rPr lang="zh-TW" altLang="en-US" b="1" dirty="0" smtClean="0">
                          <a:solidFill>
                            <a:srgbClr val="FF0000"/>
                          </a:solidFill>
                          <a:latin typeface="標楷體" panose="03000509000000000000" pitchFamily="65" charset="-120"/>
                          <a:ea typeface="標楷體" panose="03000509000000000000" pitchFamily="65" charset="-120"/>
                        </a:rPr>
                        <a:t>大眼海鰱</a:t>
                      </a:r>
                    </a:p>
                    <a:p>
                      <a:r>
                        <a:rPr lang="zh-TW" altLang="en-US" b="1" dirty="0" smtClean="0">
                          <a:latin typeface="標楷體" panose="03000509000000000000" pitchFamily="65" charset="-120"/>
                          <a:ea typeface="標楷體" panose="03000509000000000000" pitchFamily="65" charset="-120"/>
                        </a:rPr>
                        <a:t>溫暖水域中大型魚類，</a:t>
                      </a:r>
                      <a:r>
                        <a:rPr lang="en-US" altLang="zh-TW" b="1" dirty="0" smtClean="0">
                          <a:latin typeface="標楷體" panose="03000509000000000000" pitchFamily="65" charset="-120"/>
                          <a:ea typeface="標楷體" panose="03000509000000000000" pitchFamily="65" charset="-120"/>
                        </a:rPr>
                        <a:t>20-50</a:t>
                      </a:r>
                      <a:r>
                        <a:rPr lang="zh-TW" altLang="en-US" b="1" dirty="0" smtClean="0">
                          <a:latin typeface="標楷體" panose="03000509000000000000" pitchFamily="65" charset="-120"/>
                          <a:ea typeface="標楷體" panose="03000509000000000000" pitchFamily="65" charset="-120"/>
                        </a:rPr>
                        <a:t>公分，甚至可長到一公尺，喜歡在淡</a:t>
                      </a:r>
                      <a:r>
                        <a:rPr lang="en-US" altLang="zh-TW" b="1" dirty="0" smtClean="0">
                          <a:latin typeface="標楷體" panose="03000509000000000000" pitchFamily="65" charset="-120"/>
                          <a:ea typeface="標楷體" panose="03000509000000000000" pitchFamily="65" charset="-120"/>
                        </a:rPr>
                        <a:t>/</a:t>
                      </a:r>
                      <a:r>
                        <a:rPr lang="zh-TW" altLang="en-US" b="1" dirty="0" smtClean="0">
                          <a:latin typeface="標楷體" panose="03000509000000000000" pitchFamily="65" charset="-120"/>
                          <a:ea typeface="標楷體" panose="03000509000000000000" pitchFamily="65" charset="-120"/>
                        </a:rPr>
                        <a:t>鹹水海域活動，捕食小魚、小蝦。</a:t>
                      </a:r>
                      <a:endParaRPr lang="zh-TW" altLang="en-US" b="1" dirty="0">
                        <a:latin typeface="標楷體" panose="03000509000000000000" pitchFamily="65" charset="-120"/>
                        <a:ea typeface="標楷體" panose="03000509000000000000" pitchFamily="65" charset="-120"/>
                      </a:endParaRPr>
                    </a:p>
                  </a:txBody>
                  <a:tcPr>
                    <a:solidFill>
                      <a:srgbClr val="E3FDF6"/>
                    </a:solidFill>
                  </a:tcPr>
                </a:tc>
              </a:tr>
              <a:tr h="1080120">
                <a:tc>
                  <a:txBody>
                    <a:bodyPr/>
                    <a:lstStyle/>
                    <a:p>
                      <a:endParaRPr lang="zh-TW" altLang="en-US" dirty="0"/>
                    </a:p>
                  </a:txBody>
                  <a:tcPr>
                    <a:solidFill>
                      <a:srgbClr val="FFEBFF"/>
                    </a:solidFill>
                  </a:tcPr>
                </a:tc>
                <a:tc>
                  <a:txBody>
                    <a:bodyPr/>
                    <a:lstStyle/>
                    <a:p>
                      <a:r>
                        <a:rPr lang="zh-TW" altLang="en-US" b="1" dirty="0" smtClean="0">
                          <a:solidFill>
                            <a:srgbClr val="FF0000"/>
                          </a:solidFill>
                          <a:latin typeface="標楷體" panose="03000509000000000000" pitchFamily="65" charset="-120"/>
                          <a:ea typeface="標楷體" panose="03000509000000000000" pitchFamily="65" charset="-120"/>
                        </a:rPr>
                        <a:t>虱目魚</a:t>
                      </a:r>
                      <a:endParaRPr lang="en-US" altLang="zh-TW" b="1" dirty="0" smtClean="0">
                        <a:solidFill>
                          <a:srgbClr val="FF0000"/>
                        </a:solidFill>
                        <a:latin typeface="標楷體" panose="03000509000000000000" pitchFamily="65" charset="-120"/>
                        <a:ea typeface="標楷體" panose="03000509000000000000" pitchFamily="65" charset="-120"/>
                      </a:endParaRPr>
                    </a:p>
                    <a:p>
                      <a:r>
                        <a:rPr lang="zh-TW" altLang="en-US" b="1" dirty="0" smtClean="0">
                          <a:latin typeface="標楷體" panose="03000509000000000000" pitchFamily="65" charset="-120"/>
                          <a:ea typeface="標楷體" panose="03000509000000000000" pitchFamily="65" charset="-120"/>
                        </a:rPr>
                        <a:t>溫暖水域中大型魚類，最大可以達一公尺長。棲息於近海域或河口，肉質鮮美，現在普遍為養殖魚類。</a:t>
                      </a:r>
                      <a:endParaRPr lang="zh-TW" altLang="en-US" b="1" dirty="0">
                        <a:latin typeface="標楷體" panose="03000509000000000000" pitchFamily="65" charset="-120"/>
                        <a:ea typeface="標楷體" panose="03000509000000000000" pitchFamily="65" charset="-120"/>
                      </a:endParaRPr>
                    </a:p>
                  </a:txBody>
                  <a:tcPr>
                    <a:solidFill>
                      <a:srgbClr val="FFEBFF"/>
                    </a:solidFill>
                  </a:tcPr>
                </a:tc>
              </a:tr>
              <a:tr h="1080120">
                <a:tc>
                  <a:txBody>
                    <a:bodyPr/>
                    <a:lstStyle/>
                    <a:p>
                      <a:endParaRPr lang="zh-TW" altLang="en-US" dirty="0"/>
                    </a:p>
                  </a:txBody>
                  <a:tcPr>
                    <a:solidFill>
                      <a:srgbClr val="ECF2FE"/>
                    </a:solidFill>
                  </a:tcPr>
                </a:tc>
                <a:tc>
                  <a:txBody>
                    <a:bodyPr/>
                    <a:lstStyle/>
                    <a:p>
                      <a:r>
                        <a:rPr lang="zh-TW" altLang="en-US" b="1" dirty="0" smtClean="0">
                          <a:solidFill>
                            <a:srgbClr val="FF0000"/>
                          </a:solidFill>
                          <a:latin typeface="標楷體" panose="03000509000000000000" pitchFamily="65" charset="-120"/>
                          <a:ea typeface="標楷體" panose="03000509000000000000" pitchFamily="65" charset="-120"/>
                        </a:rPr>
                        <a:t>短鑽嘴魚</a:t>
                      </a:r>
                    </a:p>
                    <a:p>
                      <a:r>
                        <a:rPr lang="zh-TW" altLang="en-US" b="1" dirty="0" smtClean="0">
                          <a:latin typeface="標楷體" panose="03000509000000000000" pitchFamily="65" charset="-120"/>
                          <a:ea typeface="標楷體" panose="03000509000000000000" pitchFamily="65" charset="-120"/>
                        </a:rPr>
                        <a:t>棲息於沿岸之沙泥底質之水域，經常成群活動。有時會在河口水域出現。肉食性成魚時掘食在沙泥地中躲藏的底棲生物。</a:t>
                      </a:r>
                      <a:endParaRPr lang="zh-TW" altLang="en-US" b="1" dirty="0">
                        <a:latin typeface="標楷體" panose="03000509000000000000" pitchFamily="65" charset="-120"/>
                        <a:ea typeface="標楷體" panose="03000509000000000000" pitchFamily="65" charset="-120"/>
                      </a:endParaRPr>
                    </a:p>
                  </a:txBody>
                  <a:tcPr>
                    <a:solidFill>
                      <a:srgbClr val="ECF2FE"/>
                    </a:solidFill>
                  </a:tcPr>
                </a:tc>
              </a:tr>
              <a:tr h="1080120">
                <a:tc>
                  <a:txBody>
                    <a:bodyPr/>
                    <a:lstStyle/>
                    <a:p>
                      <a:endParaRPr lang="zh-TW" altLang="en-US" dirty="0"/>
                    </a:p>
                  </a:txBody>
                  <a:tcPr>
                    <a:solidFill>
                      <a:srgbClr val="FFFEEB"/>
                    </a:solidFill>
                  </a:tcPr>
                </a:tc>
                <a:tc>
                  <a:txBody>
                    <a:bodyPr/>
                    <a:lstStyle/>
                    <a:p>
                      <a:r>
                        <a:rPr lang="zh-TW" altLang="en-US" b="1" dirty="0" smtClean="0">
                          <a:solidFill>
                            <a:srgbClr val="FF0000"/>
                          </a:solidFill>
                          <a:latin typeface="標楷體" panose="03000509000000000000" pitchFamily="65" charset="-120"/>
                          <a:ea typeface="標楷體" panose="03000509000000000000" pitchFamily="65" charset="-120"/>
                        </a:rPr>
                        <a:t>短棘鰏</a:t>
                      </a:r>
                      <a:endParaRPr lang="en-US" altLang="zh-TW" b="1" dirty="0" smtClean="0">
                        <a:solidFill>
                          <a:srgbClr val="FF0000"/>
                        </a:solidFill>
                        <a:latin typeface="標楷體" panose="03000509000000000000" pitchFamily="65" charset="-120"/>
                        <a:ea typeface="標楷體" panose="03000509000000000000" pitchFamily="65" charset="-120"/>
                      </a:endParaRPr>
                    </a:p>
                    <a:p>
                      <a:r>
                        <a:rPr lang="zh-TW" altLang="en-US" b="1" dirty="0" smtClean="0">
                          <a:latin typeface="標楷體" panose="03000509000000000000" pitchFamily="65" charset="-120"/>
                          <a:ea typeface="標楷體" panose="03000509000000000000" pitchFamily="65" charset="-120"/>
                        </a:rPr>
                        <a:t>為沿岸及河口區的暖水性小型魚類，常游入河口的半鹹淡水裡棲息，或偶入淡水域中，具有群游的習性。</a:t>
                      </a:r>
                      <a:endParaRPr lang="zh-TW" altLang="en-US" b="1" dirty="0">
                        <a:latin typeface="標楷體" panose="03000509000000000000" pitchFamily="65" charset="-120"/>
                        <a:ea typeface="標楷體" panose="03000509000000000000" pitchFamily="65" charset="-120"/>
                      </a:endParaRPr>
                    </a:p>
                  </a:txBody>
                  <a:tcPr>
                    <a:solidFill>
                      <a:srgbClr val="FFFEEB"/>
                    </a:solidFill>
                  </a:tcPr>
                </a:tc>
              </a:tr>
            </a:tbl>
          </a:graphicData>
        </a:graphic>
      </p:graphicFrame>
      <p:pic>
        <p:nvPicPr>
          <p:cNvPr id="8" name="圖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857" y="1124744"/>
            <a:ext cx="1314450" cy="1009650"/>
          </a:xfrm>
          <a:prstGeom prst="rect">
            <a:avLst/>
          </a:prstGeom>
        </p:spPr>
      </p:pic>
      <p:pic>
        <p:nvPicPr>
          <p:cNvPr id="9" name="圖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335" y="2276872"/>
            <a:ext cx="1333500" cy="1009650"/>
          </a:xfrm>
          <a:prstGeom prst="rect">
            <a:avLst/>
          </a:prstGeom>
        </p:spPr>
      </p:pic>
      <p:pic>
        <p:nvPicPr>
          <p:cNvPr id="10" name="圖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335" y="3356992"/>
            <a:ext cx="1333500" cy="1009650"/>
          </a:xfrm>
          <a:prstGeom prst="rect">
            <a:avLst/>
          </a:prstGeom>
        </p:spPr>
      </p:pic>
      <p:pic>
        <p:nvPicPr>
          <p:cNvPr id="11" name="圖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9075" y="4438650"/>
            <a:ext cx="1333500" cy="1009650"/>
          </a:xfrm>
          <a:prstGeom prst="rect">
            <a:avLst/>
          </a:prstGeom>
        </p:spPr>
      </p:pic>
      <p:pic>
        <p:nvPicPr>
          <p:cNvPr id="12" name="圖片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9075" y="5517232"/>
            <a:ext cx="1333500" cy="1009650"/>
          </a:xfrm>
          <a:prstGeom prst="rect">
            <a:avLst/>
          </a:prstGeom>
        </p:spPr>
      </p:pic>
      <p:sp>
        <p:nvSpPr>
          <p:cNvPr id="2" name="標題 1"/>
          <p:cNvSpPr>
            <a:spLocks noGrp="1"/>
          </p:cNvSpPr>
          <p:nvPr>
            <p:ph type="title"/>
          </p:nvPr>
        </p:nvSpPr>
        <p:spPr>
          <a:xfrm>
            <a:off x="1691680" y="116632"/>
            <a:ext cx="6480720" cy="864096"/>
          </a:xfrm>
        </p:spPr>
        <p:txBody>
          <a:bodyPr/>
          <a:lstStyle/>
          <a:p>
            <a:r>
              <a:rPr lang="zh-TW" altLang="en-US" sz="3600" dirty="0" smtClean="0">
                <a:solidFill>
                  <a:srgbClr val="0070C0"/>
                </a:solidFill>
                <a:latin typeface="標楷體" panose="03000509000000000000" pitchFamily="65" charset="-120"/>
                <a:ea typeface="標楷體" panose="03000509000000000000" pitchFamily="65" charset="-120"/>
              </a:rPr>
              <a:t>愛河常見的魚類</a:t>
            </a:r>
            <a:r>
              <a:rPr lang="en-US" altLang="zh-TW" sz="3600" dirty="0" smtClean="0">
                <a:solidFill>
                  <a:srgbClr val="0070C0"/>
                </a:solidFill>
                <a:latin typeface="標楷體" panose="03000509000000000000" pitchFamily="65" charset="-120"/>
                <a:ea typeface="標楷體" panose="03000509000000000000" pitchFamily="65" charset="-120"/>
              </a:rPr>
              <a:t>〈</a:t>
            </a:r>
            <a:r>
              <a:rPr lang="zh-TW" altLang="en-US" sz="3600" dirty="0" smtClean="0">
                <a:solidFill>
                  <a:srgbClr val="0070C0"/>
                </a:solidFill>
                <a:latin typeface="標楷體" panose="03000509000000000000" pitchFamily="65" charset="-120"/>
                <a:ea typeface="標楷體" panose="03000509000000000000" pitchFamily="65" charset="-120"/>
              </a:rPr>
              <a:t>一</a:t>
            </a:r>
            <a:r>
              <a:rPr lang="en-US" altLang="zh-TW" sz="3600" dirty="0" smtClean="0">
                <a:solidFill>
                  <a:srgbClr val="0070C0"/>
                </a:solidFill>
                <a:latin typeface="標楷體" panose="03000509000000000000" pitchFamily="65" charset="-120"/>
                <a:ea typeface="標楷體" panose="03000509000000000000" pitchFamily="65" charset="-120"/>
              </a:rPr>
              <a:t>〉</a:t>
            </a:r>
            <a:endParaRPr lang="zh-TW" altLang="en-US" sz="36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8936874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內容版面配置區 6"/>
          <p:cNvGraphicFramePr>
            <a:graphicFrameLocks noGrp="1"/>
          </p:cNvGraphicFramePr>
          <p:nvPr>
            <p:ph idx="1"/>
            <p:extLst>
              <p:ext uri="{D42A27DB-BD31-4B8C-83A1-F6EECF244321}">
                <p14:modId xmlns:p14="http://schemas.microsoft.com/office/powerpoint/2010/main" val="1068459465"/>
              </p:ext>
            </p:extLst>
          </p:nvPr>
        </p:nvGraphicFramePr>
        <p:xfrm>
          <a:off x="395536" y="1052736"/>
          <a:ext cx="8568952" cy="5617800"/>
        </p:xfrm>
        <a:graphic>
          <a:graphicData uri="http://schemas.openxmlformats.org/drawingml/2006/table">
            <a:tbl>
              <a:tblPr firstRow="1" bandRow="1">
                <a:tableStyleId>{5C22544A-7EE6-4342-B048-85BDC9FD1C3A}</a:tableStyleId>
              </a:tblPr>
              <a:tblGrid>
                <a:gridCol w="1584176"/>
                <a:gridCol w="6984776"/>
              </a:tblGrid>
              <a:tr h="1080120">
                <a:tc>
                  <a:txBody>
                    <a:bodyPr/>
                    <a:lstStyle/>
                    <a:p>
                      <a:endParaRPr lang="zh-TW" altLang="en-US" dirty="0"/>
                    </a:p>
                  </a:txBody>
                  <a:tcPr>
                    <a:solidFill>
                      <a:schemeClr val="accent6">
                        <a:lumMod val="20000"/>
                        <a:lumOff val="80000"/>
                      </a:schemeClr>
                    </a:solidFill>
                  </a:tcPr>
                </a:tc>
                <a:tc>
                  <a:txBody>
                    <a:bodyPr/>
                    <a:lstStyle/>
                    <a:p>
                      <a:r>
                        <a:rPr lang="zh-TW" altLang="en-US" dirty="0" smtClean="0">
                          <a:solidFill>
                            <a:srgbClr val="7030A0"/>
                          </a:solidFill>
                          <a:latin typeface="標楷體" panose="03000509000000000000" pitchFamily="65" charset="-120"/>
                          <a:ea typeface="標楷體" panose="03000509000000000000" pitchFamily="65" charset="-120"/>
                        </a:rPr>
                        <a:t>大鱗鯔</a:t>
                      </a:r>
                      <a:endParaRPr lang="en-US" altLang="zh-TW" dirty="0" smtClean="0">
                        <a:solidFill>
                          <a:srgbClr val="7030A0"/>
                        </a:solidFill>
                        <a:latin typeface="標楷體" panose="03000509000000000000" pitchFamily="65" charset="-120"/>
                        <a:ea typeface="標楷體" panose="03000509000000000000" pitchFamily="65" charset="-120"/>
                      </a:endParaRPr>
                    </a:p>
                    <a:p>
                      <a:r>
                        <a:rPr lang="zh-TW" altLang="en-US" dirty="0" smtClean="0">
                          <a:solidFill>
                            <a:schemeClr val="tx1"/>
                          </a:solidFill>
                          <a:latin typeface="標楷體" panose="03000509000000000000" pitchFamily="65" charset="-120"/>
                          <a:ea typeface="標楷體" panose="03000509000000000000" pitchFamily="65" charset="-120"/>
                        </a:rPr>
                        <a:t>稚魚生活在海水中，幼魚才移入河口域的鹹淡水，此後就棲息在海水與鹹淡水的區域中。</a:t>
                      </a:r>
                      <a:endParaRPr lang="zh-TW" altLang="en-US" dirty="0">
                        <a:latin typeface="標楷體" panose="03000509000000000000" pitchFamily="65" charset="-120"/>
                        <a:ea typeface="標楷體" panose="03000509000000000000" pitchFamily="65" charset="-120"/>
                      </a:endParaRPr>
                    </a:p>
                  </a:txBody>
                  <a:tcPr>
                    <a:solidFill>
                      <a:schemeClr val="accent6">
                        <a:lumMod val="20000"/>
                        <a:lumOff val="80000"/>
                      </a:schemeClr>
                    </a:solidFill>
                  </a:tcPr>
                </a:tc>
              </a:tr>
              <a:tr h="1080120">
                <a:tc>
                  <a:txBody>
                    <a:bodyPr/>
                    <a:lstStyle/>
                    <a:p>
                      <a:endParaRPr lang="zh-TW" altLang="en-US" dirty="0"/>
                    </a:p>
                  </a:txBody>
                  <a:tcPr>
                    <a:solidFill>
                      <a:srgbClr val="E3FDF6"/>
                    </a:solidFill>
                  </a:tcPr>
                </a:tc>
                <a:tc>
                  <a:txBody>
                    <a:bodyPr/>
                    <a:lstStyle/>
                    <a:p>
                      <a:r>
                        <a:rPr lang="zh-TW" altLang="en-US" b="1" dirty="0" smtClean="0">
                          <a:solidFill>
                            <a:srgbClr val="7030A0"/>
                          </a:solidFill>
                          <a:latin typeface="標楷體" panose="03000509000000000000" pitchFamily="65" charset="-120"/>
                          <a:ea typeface="標楷體" panose="03000509000000000000" pitchFamily="65" charset="-120"/>
                        </a:rPr>
                        <a:t>吳郭魚</a:t>
                      </a:r>
                    </a:p>
                    <a:p>
                      <a:r>
                        <a:rPr lang="zh-TW" altLang="en-US" b="1" dirty="0" smtClean="0">
                          <a:solidFill>
                            <a:schemeClr val="tx1"/>
                          </a:solidFill>
                          <a:latin typeface="標楷體" panose="03000509000000000000" pitchFamily="65" charset="-120"/>
                          <a:ea typeface="標楷體" panose="03000509000000000000" pitchFamily="65" charset="-120"/>
                        </a:rPr>
                        <a:t>原產非洲，</a:t>
                      </a:r>
                      <a:r>
                        <a:rPr lang="en-US" altLang="zh-TW" b="1" dirty="0" smtClean="0">
                          <a:solidFill>
                            <a:schemeClr val="tx1"/>
                          </a:solidFill>
                          <a:latin typeface="標楷體" panose="03000509000000000000" pitchFamily="65" charset="-120"/>
                          <a:ea typeface="標楷體" panose="03000509000000000000" pitchFamily="65" charset="-120"/>
                        </a:rPr>
                        <a:t>30-50</a:t>
                      </a:r>
                      <a:r>
                        <a:rPr lang="zh-TW" altLang="en-US" b="1" dirty="0" smtClean="0">
                          <a:solidFill>
                            <a:schemeClr val="tx1"/>
                          </a:solidFill>
                          <a:latin typeface="標楷體" panose="03000509000000000000" pitchFamily="65" charset="-120"/>
                          <a:ea typeface="標楷體" panose="03000509000000000000" pitchFamily="65" charset="-120"/>
                        </a:rPr>
                        <a:t>公分，引進台灣後成為強勢魚種，適應力強，溪流、池塘、淡</a:t>
                      </a:r>
                      <a:r>
                        <a:rPr lang="en-US" altLang="zh-TW" b="1" dirty="0" smtClean="0">
                          <a:solidFill>
                            <a:schemeClr val="tx1"/>
                          </a:solidFill>
                          <a:latin typeface="標楷體" panose="03000509000000000000" pitchFamily="65" charset="-120"/>
                          <a:ea typeface="標楷體" panose="03000509000000000000" pitchFamily="65" charset="-120"/>
                        </a:rPr>
                        <a:t>/</a:t>
                      </a:r>
                      <a:r>
                        <a:rPr lang="zh-TW" altLang="en-US" b="1" dirty="0" smtClean="0">
                          <a:solidFill>
                            <a:schemeClr val="tx1"/>
                          </a:solidFill>
                          <a:latin typeface="標楷體" panose="03000509000000000000" pitchFamily="65" charset="-120"/>
                          <a:ea typeface="標楷體" panose="03000509000000000000" pitchFamily="65" charset="-120"/>
                        </a:rPr>
                        <a:t>鹹水海域都可以繁殖生長。</a:t>
                      </a:r>
                    </a:p>
                  </a:txBody>
                  <a:tcPr>
                    <a:solidFill>
                      <a:srgbClr val="E3FDF6"/>
                    </a:solidFill>
                  </a:tcPr>
                </a:tc>
              </a:tr>
              <a:tr h="1080120">
                <a:tc>
                  <a:txBody>
                    <a:bodyPr/>
                    <a:lstStyle/>
                    <a:p>
                      <a:endParaRPr lang="zh-TW" altLang="en-US" dirty="0"/>
                    </a:p>
                  </a:txBody>
                  <a:tcPr>
                    <a:solidFill>
                      <a:srgbClr val="FFEBFF"/>
                    </a:solidFill>
                  </a:tcPr>
                </a:tc>
                <a:tc>
                  <a:txBody>
                    <a:bodyPr/>
                    <a:lstStyle/>
                    <a:p>
                      <a:r>
                        <a:rPr lang="zh-TW" altLang="en-US" b="1" dirty="0" smtClean="0">
                          <a:solidFill>
                            <a:srgbClr val="7030A0"/>
                          </a:solidFill>
                          <a:latin typeface="標楷體" panose="03000509000000000000" pitchFamily="65" charset="-120"/>
                          <a:ea typeface="標楷體" panose="03000509000000000000" pitchFamily="65" charset="-120"/>
                        </a:rPr>
                        <a:t>鯔</a:t>
                      </a:r>
                    </a:p>
                    <a:p>
                      <a:r>
                        <a:rPr lang="zh-TW" altLang="en-US" b="1" dirty="0" smtClean="0">
                          <a:solidFill>
                            <a:schemeClr val="tx1"/>
                          </a:solidFill>
                          <a:latin typeface="標楷體" panose="03000509000000000000" pitchFamily="65" charset="-120"/>
                          <a:ea typeface="標楷體" panose="03000509000000000000" pitchFamily="65" charset="-120"/>
                        </a:rPr>
                        <a:t>即「烏魚」，常見為</a:t>
                      </a:r>
                      <a:r>
                        <a:rPr lang="en-US" altLang="zh-TW" b="1" dirty="0" smtClean="0">
                          <a:solidFill>
                            <a:schemeClr val="tx1"/>
                          </a:solidFill>
                          <a:latin typeface="標楷體" panose="03000509000000000000" pitchFamily="65" charset="-120"/>
                          <a:ea typeface="標楷體" panose="03000509000000000000" pitchFamily="65" charset="-120"/>
                        </a:rPr>
                        <a:t>30-50</a:t>
                      </a:r>
                      <a:r>
                        <a:rPr lang="zh-TW" altLang="en-US" b="1" dirty="0" smtClean="0">
                          <a:solidFill>
                            <a:schemeClr val="tx1"/>
                          </a:solidFill>
                          <a:latin typeface="標楷體" panose="03000509000000000000" pitchFamily="65" charset="-120"/>
                          <a:ea typeface="標楷體" panose="03000509000000000000" pitchFamily="65" charset="-120"/>
                        </a:rPr>
                        <a:t>公分，洄游烏每年冬至前後至台灣西南海岸產卵，幼魚會溯游進入河川。在地烏則終身在河口域生息。</a:t>
                      </a:r>
                    </a:p>
                  </a:txBody>
                  <a:tcPr>
                    <a:solidFill>
                      <a:srgbClr val="FFEBFF"/>
                    </a:solidFill>
                  </a:tcPr>
                </a:tc>
              </a:tr>
              <a:tr h="1080120">
                <a:tc>
                  <a:txBody>
                    <a:bodyPr/>
                    <a:lstStyle/>
                    <a:p>
                      <a:endParaRPr lang="zh-TW" altLang="en-US" dirty="0"/>
                    </a:p>
                  </a:txBody>
                  <a:tcPr>
                    <a:solidFill>
                      <a:srgbClr val="ECF2FE"/>
                    </a:solidFill>
                  </a:tcPr>
                </a:tc>
                <a:tc>
                  <a:txBody>
                    <a:bodyPr/>
                    <a:lstStyle/>
                    <a:p>
                      <a:r>
                        <a:rPr lang="zh-TW" altLang="en-US" b="1" dirty="0" smtClean="0">
                          <a:solidFill>
                            <a:srgbClr val="7030A0"/>
                          </a:solidFill>
                          <a:latin typeface="標楷體" panose="03000509000000000000" pitchFamily="65" charset="-120"/>
                          <a:ea typeface="標楷體" panose="03000509000000000000" pitchFamily="65" charset="-120"/>
                        </a:rPr>
                        <a:t>莫三鼻口孵魚</a:t>
                      </a:r>
                    </a:p>
                    <a:p>
                      <a:r>
                        <a:rPr lang="zh-TW" altLang="en-US" b="1" dirty="0" smtClean="0">
                          <a:solidFill>
                            <a:schemeClr val="tx1"/>
                          </a:solidFill>
                          <a:latin typeface="標楷體" panose="03000509000000000000" pitchFamily="65" charset="-120"/>
                          <a:ea typeface="標楷體" panose="03000509000000000000" pitchFamily="65" charset="-120"/>
                        </a:rPr>
                        <a:t>棲息於湖泊、地沼及河口等水域，屬廣鹽雜食性魚類。對環境的適應力強，繁殖力亦強，有築巢產卵習性，雌魚並以口孵受精卵。具食用價值。長可達</a:t>
                      </a:r>
                      <a:r>
                        <a:rPr lang="en-US" altLang="zh-TW" b="1" dirty="0" smtClean="0">
                          <a:solidFill>
                            <a:schemeClr val="tx1"/>
                          </a:solidFill>
                          <a:latin typeface="標楷體" panose="03000509000000000000" pitchFamily="65" charset="-120"/>
                          <a:ea typeface="標楷體" panose="03000509000000000000" pitchFamily="65" charset="-120"/>
                        </a:rPr>
                        <a:t>30</a:t>
                      </a:r>
                      <a:r>
                        <a:rPr lang="zh-TW" altLang="en-US" b="1" dirty="0" smtClean="0">
                          <a:solidFill>
                            <a:schemeClr val="tx1"/>
                          </a:solidFill>
                          <a:latin typeface="標楷體" panose="03000509000000000000" pitchFamily="65" charset="-120"/>
                          <a:ea typeface="標楷體" panose="03000509000000000000" pitchFamily="65" charset="-120"/>
                        </a:rPr>
                        <a:t>公分。</a:t>
                      </a:r>
                    </a:p>
                  </a:txBody>
                  <a:tcPr>
                    <a:solidFill>
                      <a:srgbClr val="ECF2FE"/>
                    </a:solidFill>
                  </a:tcPr>
                </a:tc>
              </a:tr>
              <a:tr h="1080120">
                <a:tc>
                  <a:txBody>
                    <a:bodyPr/>
                    <a:lstStyle/>
                    <a:p>
                      <a:endParaRPr lang="zh-TW" altLang="en-US" dirty="0"/>
                    </a:p>
                  </a:txBody>
                  <a:tcPr>
                    <a:solidFill>
                      <a:srgbClr val="FFFEEB"/>
                    </a:solidFill>
                  </a:tcPr>
                </a:tc>
                <a:tc>
                  <a:txBody>
                    <a:bodyPr/>
                    <a:lstStyle/>
                    <a:p>
                      <a:r>
                        <a:rPr lang="zh-TW" altLang="en-US" b="1" dirty="0" smtClean="0">
                          <a:solidFill>
                            <a:srgbClr val="7030A0"/>
                          </a:solidFill>
                          <a:latin typeface="標楷體" panose="03000509000000000000" pitchFamily="65" charset="-120"/>
                          <a:ea typeface="標楷體" panose="03000509000000000000" pitchFamily="65" charset="-120"/>
                        </a:rPr>
                        <a:t>絲足鱸</a:t>
                      </a:r>
                    </a:p>
                    <a:p>
                      <a:r>
                        <a:rPr lang="zh-TW" altLang="en-US" b="1" dirty="0" smtClean="0">
                          <a:latin typeface="標楷體" panose="03000509000000000000" pitchFamily="65" charset="-120"/>
                          <a:ea typeface="標楷體" panose="03000509000000000000" pitchFamily="65" charset="-120"/>
                        </a:rPr>
                        <a:t>主要棲息於河流緩流區或水草茂盛的沼澤區或溝渠，以及河口域中。以浮游動物、昆蟲幼蟲為食物，如孓孓，所以有防止蚊蠅孳生功能。</a:t>
                      </a:r>
                    </a:p>
                    <a:p>
                      <a:endParaRPr lang="zh-TW" altLang="en-US" b="1" dirty="0">
                        <a:latin typeface="標楷體" panose="03000509000000000000" pitchFamily="65" charset="-120"/>
                        <a:ea typeface="標楷體" panose="03000509000000000000" pitchFamily="65" charset="-120"/>
                      </a:endParaRPr>
                    </a:p>
                  </a:txBody>
                  <a:tcPr>
                    <a:solidFill>
                      <a:srgbClr val="FFFEEB"/>
                    </a:solidFill>
                  </a:tcPr>
                </a:tc>
              </a:tr>
            </a:tbl>
          </a:graphicData>
        </a:graphic>
      </p:graphicFrame>
      <p:sp>
        <p:nvSpPr>
          <p:cNvPr id="2" name="標題 1"/>
          <p:cNvSpPr>
            <a:spLocks noGrp="1"/>
          </p:cNvSpPr>
          <p:nvPr>
            <p:ph type="title"/>
          </p:nvPr>
        </p:nvSpPr>
        <p:spPr>
          <a:xfrm>
            <a:off x="1691680" y="116632"/>
            <a:ext cx="6480720" cy="864096"/>
          </a:xfrm>
        </p:spPr>
        <p:txBody>
          <a:bodyPr/>
          <a:lstStyle/>
          <a:p>
            <a:r>
              <a:rPr lang="zh-TW" altLang="en-US" sz="3600" dirty="0" smtClean="0">
                <a:solidFill>
                  <a:srgbClr val="0070C0"/>
                </a:solidFill>
                <a:latin typeface="標楷體" panose="03000509000000000000" pitchFamily="65" charset="-120"/>
                <a:ea typeface="標楷體" panose="03000509000000000000" pitchFamily="65" charset="-120"/>
              </a:rPr>
              <a:t>愛河常見的魚類</a:t>
            </a:r>
            <a:r>
              <a:rPr lang="en-US" altLang="zh-TW" sz="3600" dirty="0" smtClean="0">
                <a:solidFill>
                  <a:srgbClr val="0070C0"/>
                </a:solidFill>
                <a:latin typeface="標楷體" panose="03000509000000000000" pitchFamily="65" charset="-120"/>
                <a:ea typeface="標楷體" panose="03000509000000000000" pitchFamily="65" charset="-120"/>
              </a:rPr>
              <a:t>〈</a:t>
            </a:r>
            <a:r>
              <a:rPr lang="zh-TW" altLang="en-US" sz="3600" dirty="0" smtClean="0">
                <a:solidFill>
                  <a:srgbClr val="0070C0"/>
                </a:solidFill>
                <a:latin typeface="標楷體" panose="03000509000000000000" pitchFamily="65" charset="-120"/>
                <a:ea typeface="標楷體" panose="03000509000000000000" pitchFamily="65" charset="-120"/>
              </a:rPr>
              <a:t>二</a:t>
            </a:r>
            <a:r>
              <a:rPr lang="en-US" altLang="zh-TW" sz="3600" dirty="0" smtClean="0">
                <a:solidFill>
                  <a:srgbClr val="0070C0"/>
                </a:solidFill>
                <a:latin typeface="標楷體" panose="03000509000000000000" pitchFamily="65" charset="-120"/>
                <a:ea typeface="標楷體" panose="03000509000000000000" pitchFamily="65" charset="-120"/>
              </a:rPr>
              <a:t>〉</a:t>
            </a:r>
            <a:endParaRPr lang="zh-TW" altLang="en-US" sz="3600" dirty="0">
              <a:latin typeface="標楷體" panose="03000509000000000000" pitchFamily="65" charset="-120"/>
              <a:ea typeface="標楷體" panose="03000509000000000000" pitchFamily="65" charset="-120"/>
            </a:endParaRP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075" y="1052736"/>
            <a:ext cx="1333500" cy="1009650"/>
          </a:xfrm>
          <a:prstGeom prst="rect">
            <a:avLst/>
          </a:prstGeom>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660" y="2132856"/>
            <a:ext cx="1333500" cy="1009650"/>
          </a:xfrm>
          <a:prstGeom prst="rect">
            <a:avLst/>
          </a:prstGeom>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660" y="3284984"/>
            <a:ext cx="1390650" cy="1009650"/>
          </a:xfrm>
          <a:prstGeom prst="rect">
            <a:avLst/>
          </a:prstGeom>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9235" y="4365104"/>
            <a:ext cx="1333500" cy="1009650"/>
          </a:xfrm>
          <a:prstGeom prst="rect">
            <a:avLst/>
          </a:prstGeom>
        </p:spPr>
      </p:pic>
      <p:pic>
        <p:nvPicPr>
          <p:cNvPr id="13" name="圖片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1925" y="5517232"/>
            <a:ext cx="1333500" cy="1009650"/>
          </a:xfrm>
          <a:prstGeom prst="rect">
            <a:avLst/>
          </a:prstGeom>
        </p:spPr>
      </p:pic>
    </p:spTree>
    <p:extLst>
      <p:ext uri="{BB962C8B-B14F-4D97-AF65-F5344CB8AC3E}">
        <p14:creationId xmlns:p14="http://schemas.microsoft.com/office/powerpoint/2010/main" val="24364976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內容版面配置區 6"/>
          <p:cNvGraphicFramePr>
            <a:graphicFrameLocks noGrp="1"/>
          </p:cNvGraphicFramePr>
          <p:nvPr>
            <p:ph idx="1"/>
            <p:extLst>
              <p:ext uri="{D42A27DB-BD31-4B8C-83A1-F6EECF244321}">
                <p14:modId xmlns:p14="http://schemas.microsoft.com/office/powerpoint/2010/main" val="707321878"/>
              </p:ext>
            </p:extLst>
          </p:nvPr>
        </p:nvGraphicFramePr>
        <p:xfrm>
          <a:off x="395536" y="1052736"/>
          <a:ext cx="8568952" cy="5509200"/>
        </p:xfrm>
        <a:graphic>
          <a:graphicData uri="http://schemas.openxmlformats.org/drawingml/2006/table">
            <a:tbl>
              <a:tblPr firstRow="1" bandRow="1">
                <a:tableStyleId>{5C22544A-7EE6-4342-B048-85BDC9FD1C3A}</a:tableStyleId>
              </a:tblPr>
              <a:tblGrid>
                <a:gridCol w="1584176"/>
                <a:gridCol w="6984776"/>
              </a:tblGrid>
              <a:tr h="1080120">
                <a:tc>
                  <a:txBody>
                    <a:bodyPr/>
                    <a:lstStyle/>
                    <a:p>
                      <a:endParaRPr lang="zh-TW" altLang="en-US" dirty="0"/>
                    </a:p>
                  </a:txBody>
                  <a:tcPr>
                    <a:solidFill>
                      <a:schemeClr val="accent6">
                        <a:lumMod val="20000"/>
                        <a:lumOff val="80000"/>
                      </a:schemeClr>
                    </a:solidFill>
                  </a:tcPr>
                </a:tc>
                <a:tc>
                  <a:txBody>
                    <a:bodyPr/>
                    <a:lstStyle/>
                    <a:p>
                      <a:r>
                        <a:rPr lang="zh-TW" altLang="en-US" dirty="0" smtClean="0">
                          <a:solidFill>
                            <a:srgbClr val="193111"/>
                          </a:solidFill>
                          <a:latin typeface="標楷體" panose="03000509000000000000" pitchFamily="65" charset="-120"/>
                          <a:ea typeface="標楷體" panose="03000509000000000000" pitchFamily="65" charset="-120"/>
                        </a:rPr>
                        <a:t>長鰭凡錙</a:t>
                      </a:r>
                    </a:p>
                    <a:p>
                      <a:r>
                        <a:rPr lang="zh-TW" altLang="en-US" dirty="0" smtClean="0">
                          <a:solidFill>
                            <a:schemeClr val="tx1"/>
                          </a:solidFill>
                          <a:latin typeface="標楷體" panose="03000509000000000000" pitchFamily="65" charset="-120"/>
                          <a:ea typeface="標楷體" panose="03000509000000000000" pitchFamily="65" charset="-120"/>
                        </a:rPr>
                        <a:t>長鰭凡錙常棲息於珊瑚礁區，在冬季，當河川乾旱之際，河口的鹽度提高時，會成群結隊的出現在河口。</a:t>
                      </a:r>
                    </a:p>
                  </a:txBody>
                  <a:tcPr>
                    <a:solidFill>
                      <a:schemeClr val="accent6">
                        <a:lumMod val="20000"/>
                        <a:lumOff val="80000"/>
                      </a:schemeClr>
                    </a:solidFill>
                  </a:tcPr>
                </a:tc>
              </a:tr>
              <a:tr h="1080120">
                <a:tc>
                  <a:txBody>
                    <a:bodyPr/>
                    <a:lstStyle/>
                    <a:p>
                      <a:endParaRPr lang="zh-TW" altLang="en-US" dirty="0"/>
                    </a:p>
                  </a:txBody>
                  <a:tcPr>
                    <a:solidFill>
                      <a:srgbClr val="E3FDF6"/>
                    </a:solidFill>
                  </a:tcPr>
                </a:tc>
                <a:tc>
                  <a:txBody>
                    <a:bodyPr/>
                    <a:lstStyle/>
                    <a:p>
                      <a:r>
                        <a:rPr lang="zh-TW" altLang="en-US" b="1" dirty="0" smtClean="0">
                          <a:solidFill>
                            <a:schemeClr val="accent5">
                              <a:lumMod val="50000"/>
                            </a:schemeClr>
                          </a:solidFill>
                          <a:latin typeface="標楷體" panose="03000509000000000000" pitchFamily="65" charset="-120"/>
                          <a:ea typeface="標楷體" panose="03000509000000000000" pitchFamily="65" charset="-120"/>
                        </a:rPr>
                        <a:t>遠海梭子蟹</a:t>
                      </a:r>
                    </a:p>
                    <a:p>
                      <a:r>
                        <a:rPr lang="zh-TW" altLang="en-US" b="1" dirty="0" smtClean="0">
                          <a:solidFill>
                            <a:schemeClr val="tx1"/>
                          </a:solidFill>
                          <a:latin typeface="標楷體" panose="03000509000000000000" pitchFamily="65" charset="-120"/>
                          <a:ea typeface="標楷體" panose="03000509000000000000" pitchFamily="65" charset="-120"/>
                        </a:rPr>
                        <a:t>棲息於潮間帶至水深</a:t>
                      </a:r>
                      <a:r>
                        <a:rPr lang="en-US" altLang="zh-TW" b="1" dirty="0" smtClean="0">
                          <a:solidFill>
                            <a:schemeClr val="tx1"/>
                          </a:solidFill>
                          <a:latin typeface="標楷體" panose="03000509000000000000" pitchFamily="65" charset="-120"/>
                          <a:ea typeface="標楷體" panose="03000509000000000000" pitchFamily="65" charset="-120"/>
                        </a:rPr>
                        <a:t>50</a:t>
                      </a:r>
                      <a:r>
                        <a:rPr lang="zh-TW" altLang="en-US" b="1" dirty="0" smtClean="0">
                          <a:solidFill>
                            <a:schemeClr val="tx1"/>
                          </a:solidFill>
                          <a:latin typeface="標楷體" panose="03000509000000000000" pitchFamily="65" charset="-120"/>
                          <a:ea typeface="標楷體" panose="03000509000000000000" pitchFamily="65" charset="-120"/>
                        </a:rPr>
                        <a:t>公尺處的沙泥底質海域。體型較小的成蟹及幼蟹可於沙泥灘潮間帶的潮池中發現。</a:t>
                      </a:r>
                    </a:p>
                  </a:txBody>
                  <a:tcPr>
                    <a:solidFill>
                      <a:srgbClr val="E3FDF6"/>
                    </a:solidFill>
                  </a:tcPr>
                </a:tc>
              </a:tr>
              <a:tr h="1080120">
                <a:tc>
                  <a:txBody>
                    <a:bodyPr/>
                    <a:lstStyle/>
                    <a:p>
                      <a:endParaRPr lang="zh-TW" altLang="en-US" dirty="0"/>
                    </a:p>
                  </a:txBody>
                  <a:tcPr>
                    <a:solidFill>
                      <a:srgbClr val="FFEBFF"/>
                    </a:solidFill>
                  </a:tcPr>
                </a:tc>
                <a:tc>
                  <a:txBody>
                    <a:bodyPr/>
                    <a:lstStyle/>
                    <a:p>
                      <a:r>
                        <a:rPr lang="zh-TW" altLang="en-US" b="1" dirty="0" smtClean="0">
                          <a:solidFill>
                            <a:schemeClr val="accent5">
                              <a:lumMod val="50000"/>
                            </a:schemeClr>
                          </a:solidFill>
                          <a:latin typeface="標楷體" panose="03000509000000000000" pitchFamily="65" charset="-120"/>
                          <a:ea typeface="標楷體" panose="03000509000000000000" pitchFamily="65" charset="-120"/>
                        </a:rPr>
                        <a:t>鉅齒青蟹</a:t>
                      </a:r>
                    </a:p>
                    <a:p>
                      <a:r>
                        <a:rPr lang="zh-TW" altLang="en-US" b="1" dirty="0" smtClean="0">
                          <a:solidFill>
                            <a:schemeClr val="tx1"/>
                          </a:solidFill>
                          <a:latin typeface="標楷體" panose="03000509000000000000" pitchFamily="65" charset="-120"/>
                          <a:ea typeface="標楷體" panose="03000509000000000000" pitchFamily="65" charset="-120"/>
                        </a:rPr>
                        <a:t>俗稱紅蟳，棲息於潮間帶泥灘、河口、紅樹林及陸棚海域，對環境的適應力強，夜行為主，掠食性強，體色以深墨綠色為主。</a:t>
                      </a:r>
                    </a:p>
                  </a:txBody>
                  <a:tcPr>
                    <a:solidFill>
                      <a:srgbClr val="FFEBFF"/>
                    </a:solidFill>
                  </a:tcPr>
                </a:tc>
              </a:tr>
              <a:tr h="1080120">
                <a:tc>
                  <a:txBody>
                    <a:bodyPr/>
                    <a:lstStyle/>
                    <a:p>
                      <a:endParaRPr lang="zh-TW" altLang="en-US" dirty="0"/>
                    </a:p>
                  </a:txBody>
                  <a:tcPr>
                    <a:solidFill>
                      <a:srgbClr val="ECF2FE"/>
                    </a:solidFill>
                  </a:tcPr>
                </a:tc>
                <a:tc>
                  <a:txBody>
                    <a:bodyPr/>
                    <a:lstStyle/>
                    <a:p>
                      <a:r>
                        <a:rPr lang="zh-TW" altLang="en-US" b="1" dirty="0" smtClean="0">
                          <a:solidFill>
                            <a:schemeClr val="accent5">
                              <a:lumMod val="50000"/>
                            </a:schemeClr>
                          </a:solidFill>
                          <a:latin typeface="標楷體" panose="03000509000000000000" pitchFamily="65" charset="-120"/>
                          <a:ea typeface="標楷體" panose="03000509000000000000" pitchFamily="65" charset="-120"/>
                        </a:rPr>
                        <a:t>大肚魚</a:t>
                      </a:r>
                    </a:p>
                    <a:p>
                      <a:r>
                        <a:rPr lang="zh-TW" altLang="en-US" b="1" dirty="0" smtClean="0">
                          <a:solidFill>
                            <a:schemeClr val="tx1"/>
                          </a:solidFill>
                          <a:latin typeface="標楷體" panose="03000509000000000000" pitchFamily="65" charset="-120"/>
                          <a:ea typeface="標楷體" panose="03000509000000000000" pitchFamily="65" charset="-120"/>
                        </a:rPr>
                        <a:t>表層魚類，大多成群地在水體的表層活動。偏好在低海拔溪河的緩流區，以及湖泊、田間、渠道等棲所，亦可進入河口域。</a:t>
                      </a:r>
                    </a:p>
                  </a:txBody>
                  <a:tcPr>
                    <a:solidFill>
                      <a:srgbClr val="ECF2FE"/>
                    </a:solidFill>
                  </a:tcPr>
                </a:tc>
              </a:tr>
              <a:tr h="1080120">
                <a:tc>
                  <a:txBody>
                    <a:bodyPr/>
                    <a:lstStyle/>
                    <a:p>
                      <a:endParaRPr lang="zh-TW" altLang="en-US" dirty="0"/>
                    </a:p>
                  </a:txBody>
                  <a:tcPr>
                    <a:solidFill>
                      <a:srgbClr val="FFFEEB"/>
                    </a:solidFill>
                  </a:tcPr>
                </a:tc>
                <a:tc>
                  <a:txBody>
                    <a:bodyPr/>
                    <a:lstStyle/>
                    <a:p>
                      <a:r>
                        <a:rPr lang="zh-TW" altLang="en-US" b="1" dirty="0" smtClean="0">
                          <a:solidFill>
                            <a:schemeClr val="accent5">
                              <a:lumMod val="50000"/>
                            </a:schemeClr>
                          </a:solidFill>
                          <a:latin typeface="標楷體" panose="03000509000000000000" pitchFamily="65" charset="-120"/>
                          <a:ea typeface="標楷體" panose="03000509000000000000" pitchFamily="65" charset="-120"/>
                        </a:rPr>
                        <a:t>灰鰭鯛</a:t>
                      </a:r>
                    </a:p>
                    <a:p>
                      <a:r>
                        <a:rPr lang="zh-TW" altLang="en-US" b="1" dirty="0" smtClean="0">
                          <a:solidFill>
                            <a:schemeClr val="tx1"/>
                          </a:solidFill>
                          <a:latin typeface="標楷體" panose="03000509000000000000" pitchFamily="65" charset="-120"/>
                          <a:ea typeface="標楷體" panose="03000509000000000000" pitchFamily="65" charset="-120"/>
                        </a:rPr>
                        <a:t>體高而側扁，體呈橢圓形，背緣隆起，腹緣圓鈍。頭中大，前端尖。主要棲息在泥地或砂質底地形之陸棚或沿岸海域，會進入河口或淡水域中。</a:t>
                      </a:r>
                      <a:endParaRPr lang="zh-TW" altLang="en-US" b="1" dirty="0">
                        <a:solidFill>
                          <a:schemeClr val="tx1"/>
                        </a:solidFill>
                        <a:latin typeface="標楷體" panose="03000509000000000000" pitchFamily="65" charset="-120"/>
                        <a:ea typeface="標楷體" panose="03000509000000000000" pitchFamily="65" charset="-120"/>
                      </a:endParaRPr>
                    </a:p>
                  </a:txBody>
                  <a:tcPr>
                    <a:solidFill>
                      <a:srgbClr val="FFFEEB"/>
                    </a:solidFill>
                  </a:tcPr>
                </a:tc>
              </a:tr>
            </a:tbl>
          </a:graphicData>
        </a:graphic>
      </p:graphicFrame>
      <p:sp>
        <p:nvSpPr>
          <p:cNvPr id="2" name="標題 1"/>
          <p:cNvSpPr>
            <a:spLocks noGrp="1"/>
          </p:cNvSpPr>
          <p:nvPr>
            <p:ph type="title"/>
          </p:nvPr>
        </p:nvSpPr>
        <p:spPr>
          <a:xfrm>
            <a:off x="1691680" y="116632"/>
            <a:ext cx="6480720" cy="864096"/>
          </a:xfrm>
        </p:spPr>
        <p:txBody>
          <a:bodyPr/>
          <a:lstStyle/>
          <a:p>
            <a:r>
              <a:rPr lang="zh-TW" altLang="en-US" sz="3600" dirty="0" smtClean="0">
                <a:solidFill>
                  <a:srgbClr val="0070C0"/>
                </a:solidFill>
                <a:latin typeface="標楷體" panose="03000509000000000000" pitchFamily="65" charset="-120"/>
                <a:ea typeface="標楷體" panose="03000509000000000000" pitchFamily="65" charset="-120"/>
              </a:rPr>
              <a:t>愛河常見的魚類</a:t>
            </a:r>
            <a:r>
              <a:rPr lang="en-US" altLang="zh-TW" sz="3600" dirty="0" smtClean="0">
                <a:solidFill>
                  <a:srgbClr val="0070C0"/>
                </a:solidFill>
                <a:latin typeface="標楷體" panose="03000509000000000000" pitchFamily="65" charset="-120"/>
                <a:ea typeface="標楷體" panose="03000509000000000000" pitchFamily="65" charset="-120"/>
              </a:rPr>
              <a:t>〈</a:t>
            </a:r>
            <a:r>
              <a:rPr lang="zh-TW" altLang="en-US" sz="3600" dirty="0" smtClean="0">
                <a:solidFill>
                  <a:srgbClr val="0070C0"/>
                </a:solidFill>
                <a:latin typeface="標楷體" panose="03000509000000000000" pitchFamily="65" charset="-120"/>
                <a:ea typeface="標楷體" panose="03000509000000000000" pitchFamily="65" charset="-120"/>
              </a:rPr>
              <a:t>三</a:t>
            </a:r>
            <a:r>
              <a:rPr lang="en-US" altLang="zh-TW" sz="3600" dirty="0" smtClean="0">
                <a:solidFill>
                  <a:srgbClr val="0070C0"/>
                </a:solidFill>
                <a:latin typeface="標楷體" panose="03000509000000000000" pitchFamily="65" charset="-120"/>
                <a:ea typeface="標楷體" panose="03000509000000000000" pitchFamily="65" charset="-120"/>
              </a:rPr>
              <a:t>〉</a:t>
            </a:r>
            <a:endParaRPr lang="zh-TW" altLang="en-US" sz="3600" dirty="0">
              <a:latin typeface="標楷體" panose="03000509000000000000" pitchFamily="65" charset="-120"/>
              <a:ea typeface="標楷體" panose="03000509000000000000" pitchFamily="65" charset="-120"/>
            </a:endParaRPr>
          </a:p>
        </p:txBody>
      </p:sp>
      <p:pic>
        <p:nvPicPr>
          <p:cNvPr id="8" name="圖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925" y="1121263"/>
            <a:ext cx="1333500" cy="1009650"/>
          </a:xfrm>
          <a:prstGeom prst="rect">
            <a:avLst/>
          </a:prstGeom>
        </p:spPr>
      </p:pic>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925" y="2184276"/>
            <a:ext cx="1333500" cy="1028700"/>
          </a:xfrm>
          <a:prstGeom prst="rect">
            <a:avLst/>
          </a:prstGeom>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1925" y="3234718"/>
            <a:ext cx="1333500" cy="1028700"/>
          </a:xfrm>
          <a:prstGeom prst="rect">
            <a:avLst/>
          </a:prstGeom>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8873" y="4285160"/>
            <a:ext cx="1333500" cy="1009650"/>
          </a:xfrm>
          <a:prstGeom prst="rect">
            <a:avLst/>
          </a:prstGeom>
        </p:spPr>
      </p:pic>
      <p:pic>
        <p:nvPicPr>
          <p:cNvPr id="9" name="圖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7406" y="5445224"/>
            <a:ext cx="1333500" cy="1009650"/>
          </a:xfrm>
          <a:prstGeom prst="rect">
            <a:avLst/>
          </a:prstGeom>
        </p:spPr>
      </p:pic>
    </p:spTree>
    <p:extLst>
      <p:ext uri="{BB962C8B-B14F-4D97-AF65-F5344CB8AC3E}">
        <p14:creationId xmlns:p14="http://schemas.microsoft.com/office/powerpoint/2010/main" val="4961482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187624" y="0"/>
            <a:ext cx="6336704"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沿岸生態</a:t>
            </a:r>
            <a:r>
              <a:rPr lang="zh-TW" altLang="en-US" sz="4800" dirty="0" smtClean="0">
                <a:solidFill>
                  <a:srgbClr val="0070C0"/>
                </a:solidFill>
                <a:latin typeface="標楷體" panose="03000509000000000000" pitchFamily="65" charset="-120"/>
                <a:ea typeface="標楷體" panose="03000509000000000000" pitchFamily="65" charset="-120"/>
              </a:rPr>
              <a:t>～植物種類</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4" name="矩形 3"/>
          <p:cNvSpPr/>
          <p:nvPr/>
        </p:nvSpPr>
        <p:spPr>
          <a:xfrm>
            <a:off x="467544" y="5733256"/>
            <a:ext cx="5112568" cy="646331"/>
          </a:xfrm>
          <a:prstGeom prst="rect">
            <a:avLst/>
          </a:prstGeom>
        </p:spPr>
        <p:txBody>
          <a:bodyPr wrap="square">
            <a:spAutoFit/>
          </a:bodyPr>
          <a:lstStyle/>
          <a:p>
            <a:r>
              <a:rPr lang="zh-TW" altLang="en-US" dirty="0" smtClean="0"/>
              <a:t>資料出處：</a:t>
            </a:r>
            <a:endParaRPr lang="en-US" altLang="zh-TW" dirty="0" smtClean="0"/>
          </a:p>
          <a:p>
            <a:r>
              <a:rPr lang="zh-TW" altLang="en-US" dirty="0" smtClean="0"/>
              <a:t>「</a:t>
            </a:r>
            <a:r>
              <a:rPr lang="zh-TW" altLang="en-US" dirty="0"/>
              <a:t>親親愛河</a:t>
            </a:r>
            <a:r>
              <a:rPr lang="zh-TW" altLang="en-US" dirty="0" smtClean="0"/>
              <a:t>」</a:t>
            </a:r>
            <a:r>
              <a:rPr lang="en-US" altLang="zh-TW" dirty="0" smtClean="0"/>
              <a:t>1999</a:t>
            </a:r>
            <a:r>
              <a:rPr lang="zh-TW" altLang="en-US" dirty="0"/>
              <a:t>年，高雄市文化愛河協會出版</a:t>
            </a:r>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6136" y="4221088"/>
            <a:ext cx="3203848" cy="24028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內容版面配置區 2"/>
          <p:cNvSpPr>
            <a:spLocks noGrp="1"/>
          </p:cNvSpPr>
          <p:nvPr>
            <p:ph idx="1"/>
          </p:nvPr>
        </p:nvSpPr>
        <p:spPr>
          <a:xfrm>
            <a:off x="323528" y="908720"/>
            <a:ext cx="8676456" cy="4968552"/>
          </a:xfrm>
        </p:spPr>
        <p:txBody>
          <a:bodyPr>
            <a:noAutofit/>
          </a:bodyPr>
          <a:lstStyle/>
          <a:p>
            <a:pPr marL="0" indent="712788">
              <a:buNone/>
            </a:pPr>
            <a:r>
              <a:rPr lang="zh-TW" altLang="en-US" sz="3200" dirty="0">
                <a:solidFill>
                  <a:srgbClr val="002060"/>
                </a:solidFill>
                <a:latin typeface="標楷體" panose="03000509000000000000" pitchFamily="65" charset="-120"/>
                <a:ea typeface="標楷體" panose="03000509000000000000" pitchFamily="65" charset="-120"/>
              </a:rPr>
              <a:t>愛河沿岸的植栽隨著季節的變換而展現出不同的風情。二月正是</a:t>
            </a:r>
            <a:r>
              <a:rPr lang="zh-TW" altLang="en-US" sz="3200" dirty="0">
                <a:solidFill>
                  <a:srgbClr val="FF0000"/>
                </a:solidFill>
                <a:latin typeface="標楷體" panose="03000509000000000000" pitchFamily="65" charset="-120"/>
                <a:ea typeface="標楷體" panose="03000509000000000000" pitchFamily="65" charset="-120"/>
              </a:rPr>
              <a:t>木棉花</a:t>
            </a:r>
            <a:r>
              <a:rPr lang="zh-TW" altLang="en-US" sz="3200" dirty="0">
                <a:solidFill>
                  <a:srgbClr val="002060"/>
                </a:solidFill>
                <a:latin typeface="標楷體" panose="03000509000000000000" pitchFamily="65" charset="-120"/>
                <a:ea typeface="標楷體" panose="03000509000000000000" pitchFamily="65" charset="-120"/>
              </a:rPr>
              <a:t>開的時節，四月</a:t>
            </a:r>
            <a:r>
              <a:rPr lang="zh-TW" altLang="en-US" sz="3200" dirty="0">
                <a:solidFill>
                  <a:srgbClr val="7030A0"/>
                </a:solidFill>
                <a:latin typeface="標楷體" panose="03000509000000000000" pitchFamily="65" charset="-120"/>
                <a:ea typeface="標楷體" panose="03000509000000000000" pitchFamily="65" charset="-120"/>
              </a:rPr>
              <a:t>黃槐</a:t>
            </a:r>
            <a:r>
              <a:rPr lang="zh-TW" altLang="en-US" sz="3200" dirty="0">
                <a:solidFill>
                  <a:srgbClr val="002060"/>
                </a:solidFill>
                <a:latin typeface="標楷體" panose="03000509000000000000" pitchFamily="65" charset="-120"/>
                <a:ea typeface="標楷體" panose="03000509000000000000" pitchFamily="65" charset="-120"/>
              </a:rPr>
              <a:t>展現出春天的氣息，五月</a:t>
            </a:r>
            <a:r>
              <a:rPr lang="zh-TW" altLang="en-US" sz="3200" dirty="0">
                <a:solidFill>
                  <a:srgbClr val="9E1A04"/>
                </a:solidFill>
                <a:latin typeface="標楷體" panose="03000509000000000000" pitchFamily="65" charset="-120"/>
                <a:ea typeface="標楷體" panose="03000509000000000000" pitchFamily="65" charset="-120"/>
              </a:rPr>
              <a:t>鳳凰木</a:t>
            </a:r>
            <a:r>
              <a:rPr lang="zh-TW" altLang="en-US" sz="3200" dirty="0">
                <a:solidFill>
                  <a:srgbClr val="002060"/>
                </a:solidFill>
                <a:latin typeface="標楷體" panose="03000509000000000000" pitchFamily="65" charset="-120"/>
                <a:ea typeface="標楷體" panose="03000509000000000000" pitchFamily="65" charset="-120"/>
              </a:rPr>
              <a:t>的熱情如火，六月黃澄澄的</a:t>
            </a:r>
            <a:r>
              <a:rPr lang="zh-TW" altLang="en-US" sz="3200" dirty="0">
                <a:solidFill>
                  <a:srgbClr val="72411C"/>
                </a:solidFill>
                <a:latin typeface="標楷體" panose="03000509000000000000" pitchFamily="65" charset="-120"/>
                <a:ea typeface="標楷體" panose="03000509000000000000" pitchFamily="65" charset="-120"/>
              </a:rPr>
              <a:t>阿勃勒</a:t>
            </a:r>
            <a:r>
              <a:rPr lang="zh-TW" altLang="en-US" sz="3200" dirty="0">
                <a:solidFill>
                  <a:srgbClr val="002060"/>
                </a:solidFill>
                <a:latin typeface="標楷體" panose="03000509000000000000" pitchFamily="65" charset="-120"/>
                <a:ea typeface="標楷體" panose="03000509000000000000" pitchFamily="65" charset="-120"/>
              </a:rPr>
              <a:t>，七月</a:t>
            </a:r>
            <a:r>
              <a:rPr lang="zh-TW" altLang="en-US" sz="3200" dirty="0">
                <a:solidFill>
                  <a:srgbClr val="9E1A04"/>
                </a:solidFill>
                <a:latin typeface="標楷體" panose="03000509000000000000" pitchFamily="65" charset="-120"/>
                <a:ea typeface="標楷體" panose="03000509000000000000" pitchFamily="65" charset="-120"/>
              </a:rPr>
              <a:t>白千層</a:t>
            </a:r>
            <a:r>
              <a:rPr lang="zh-TW" altLang="en-US" sz="3200" dirty="0">
                <a:solidFill>
                  <a:srgbClr val="002060"/>
                </a:solidFill>
                <a:latin typeface="標楷體" panose="03000509000000000000" pitchFamily="65" charset="-120"/>
                <a:ea typeface="標楷體" panose="03000509000000000000" pitchFamily="65" charset="-120"/>
              </a:rPr>
              <a:t>的奶瓶花朵，九月質樸的</a:t>
            </a:r>
            <a:r>
              <a:rPr lang="zh-TW" altLang="en-US" sz="3200" dirty="0">
                <a:solidFill>
                  <a:srgbClr val="333300"/>
                </a:solidFill>
                <a:latin typeface="標楷體" panose="03000509000000000000" pitchFamily="65" charset="-120"/>
                <a:ea typeface="標楷體" panose="03000509000000000000" pitchFamily="65" charset="-120"/>
              </a:rPr>
              <a:t>黃槿</a:t>
            </a:r>
            <a:r>
              <a:rPr lang="zh-TW" altLang="en-US" sz="3200" dirty="0">
                <a:solidFill>
                  <a:srgbClr val="002060"/>
                </a:solidFill>
                <a:latin typeface="標楷體" panose="03000509000000000000" pitchFamily="65" charset="-120"/>
                <a:ea typeface="標楷體" panose="03000509000000000000" pitchFamily="65" charset="-120"/>
              </a:rPr>
              <a:t>開花，十一月</a:t>
            </a:r>
            <a:r>
              <a:rPr lang="zh-TW" altLang="en-US" sz="3200" dirty="0">
                <a:solidFill>
                  <a:srgbClr val="C00000"/>
                </a:solidFill>
                <a:latin typeface="標楷體" panose="03000509000000000000" pitchFamily="65" charset="-120"/>
                <a:ea typeface="標楷體" panose="03000509000000000000" pitchFamily="65" charset="-120"/>
              </a:rPr>
              <a:t>紅瓶刷子樹</a:t>
            </a:r>
            <a:r>
              <a:rPr lang="zh-TW" altLang="en-US" sz="3200" dirty="0">
                <a:solidFill>
                  <a:srgbClr val="002060"/>
                </a:solidFill>
                <a:latin typeface="標楷體" panose="03000509000000000000" pitchFamily="65" charset="-120"/>
                <a:ea typeface="標楷體" panose="03000509000000000000" pitchFamily="65" charset="-120"/>
              </a:rPr>
              <a:t>的奶瓶紅花光鮮耀眼，十二月</a:t>
            </a:r>
            <a:r>
              <a:rPr lang="zh-TW" altLang="en-US" sz="3200" dirty="0">
                <a:solidFill>
                  <a:srgbClr val="193111"/>
                </a:solidFill>
                <a:latin typeface="標楷體" panose="03000509000000000000" pitchFamily="65" charset="-120"/>
                <a:ea typeface="標楷體" panose="03000509000000000000" pitchFamily="65" charset="-120"/>
              </a:rPr>
              <a:t>艷紫荊</a:t>
            </a:r>
            <a:r>
              <a:rPr lang="zh-TW" altLang="en-US" sz="3200" dirty="0">
                <a:solidFill>
                  <a:srgbClr val="002060"/>
                </a:solidFill>
                <a:latin typeface="標楷體" panose="03000509000000000000" pitchFamily="65" charset="-120"/>
                <a:ea typeface="標楷體" panose="03000509000000000000" pitchFamily="65" charset="-120"/>
              </a:rPr>
              <a:t>的艷紫花朵溫暖了人們的心房。 樹有時是鳥類或昆蟲的家。不同的樹會吸引不同的昆蟲或鳥類，會產生不同的生態鏈。</a:t>
            </a:r>
          </a:p>
        </p:txBody>
      </p:sp>
    </p:spTree>
    <p:extLst>
      <p:ext uri="{BB962C8B-B14F-4D97-AF65-F5344CB8AC3E}">
        <p14:creationId xmlns:p14="http://schemas.microsoft.com/office/powerpoint/2010/main" val="38526236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99592" y="0"/>
            <a:ext cx="7560840"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愛河沿岸常見的</a:t>
            </a:r>
            <a:r>
              <a:rPr lang="zh-TW" altLang="en-US" sz="4800" dirty="0" smtClean="0">
                <a:solidFill>
                  <a:srgbClr val="0070C0"/>
                </a:solidFill>
                <a:latin typeface="標楷體" panose="03000509000000000000" pitchFamily="65" charset="-120"/>
                <a:ea typeface="標楷體" panose="03000509000000000000" pitchFamily="65" charset="-120"/>
              </a:rPr>
              <a:t>植物</a:t>
            </a:r>
            <a:r>
              <a:rPr lang="en-US" altLang="zh-TW" sz="4800" dirty="0" smtClean="0">
                <a:solidFill>
                  <a:srgbClr val="0070C0"/>
                </a:solidFill>
                <a:latin typeface="標楷體" panose="03000509000000000000" pitchFamily="65" charset="-120"/>
                <a:ea typeface="標楷體" panose="03000509000000000000" pitchFamily="65" charset="-120"/>
              </a:rPr>
              <a:t>〈</a:t>
            </a:r>
            <a:r>
              <a:rPr lang="zh-TW" altLang="en-US" sz="4800" dirty="0" smtClean="0">
                <a:solidFill>
                  <a:srgbClr val="0070C0"/>
                </a:solidFill>
                <a:latin typeface="標楷體" panose="03000509000000000000" pitchFamily="65" charset="-120"/>
                <a:ea typeface="標楷體" panose="03000509000000000000" pitchFamily="65" charset="-120"/>
              </a:rPr>
              <a:t>一</a:t>
            </a:r>
            <a:r>
              <a:rPr lang="en-US" altLang="zh-TW" sz="4800" dirty="0" smtClean="0">
                <a:solidFill>
                  <a:srgbClr val="0070C0"/>
                </a:solidFill>
                <a:latin typeface="標楷體" panose="03000509000000000000" pitchFamily="65" charset="-120"/>
                <a:ea typeface="標楷體" panose="03000509000000000000" pitchFamily="65" charset="-120"/>
              </a:rPr>
              <a:t>〉</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467544" y="1268760"/>
            <a:ext cx="4896544" cy="2520280"/>
          </a:xfrm>
        </p:spPr>
        <p:txBody>
          <a:bodyPr>
            <a:noAutofit/>
          </a:bodyPr>
          <a:lstStyle/>
          <a:p>
            <a:pPr marL="0" indent="712788">
              <a:buNone/>
            </a:pPr>
            <a:r>
              <a:rPr lang="zh-TW" altLang="en-US" dirty="0">
                <a:solidFill>
                  <a:srgbClr val="FF0000"/>
                </a:solidFill>
                <a:latin typeface="標楷體" panose="03000509000000000000" pitchFamily="65" charset="-120"/>
                <a:ea typeface="標楷體" panose="03000509000000000000" pitchFamily="65" charset="-120"/>
              </a:rPr>
              <a:t>木棉</a:t>
            </a:r>
          </a:p>
          <a:p>
            <a:pPr marL="0" indent="712788">
              <a:buNone/>
            </a:pPr>
            <a:r>
              <a:rPr lang="zh-TW" altLang="en-US" sz="2400" dirty="0">
                <a:solidFill>
                  <a:srgbClr val="002060"/>
                </a:solidFill>
                <a:latin typeface="標楷體" panose="03000509000000000000" pitchFamily="65" charset="-120"/>
                <a:ea typeface="標楷體" panose="03000509000000000000" pitchFamily="65" charset="-120"/>
              </a:rPr>
              <a:t>木棉原產於印度，十七世紀中期引入栽植，屬木棉科落葉大喬木。二、三月葉落花開，橙紅且厚重的花朵象徵高雄人的粗獷與熱情，於</a:t>
            </a:r>
            <a:r>
              <a:rPr lang="en-US" altLang="zh-TW" sz="2400" dirty="0">
                <a:solidFill>
                  <a:srgbClr val="002060"/>
                </a:solidFill>
                <a:latin typeface="標楷體" panose="03000509000000000000" pitchFamily="65" charset="-120"/>
                <a:ea typeface="標楷體" panose="03000509000000000000" pitchFamily="65" charset="-120"/>
              </a:rPr>
              <a:t>1986</a:t>
            </a:r>
            <a:r>
              <a:rPr lang="zh-TW" altLang="en-US" sz="2400" dirty="0">
                <a:solidFill>
                  <a:srgbClr val="002060"/>
                </a:solidFill>
                <a:latin typeface="標楷體" panose="03000509000000000000" pitchFamily="65" charset="-120"/>
                <a:ea typeface="標楷體" panose="03000509000000000000" pitchFamily="65" charset="-120"/>
              </a:rPr>
              <a:t>年被選為高雄市花。</a:t>
            </a:r>
          </a:p>
        </p:txBody>
      </p:sp>
      <p:sp>
        <p:nvSpPr>
          <p:cNvPr id="7" name="內容版面配置區 2"/>
          <p:cNvSpPr txBox="1">
            <a:spLocks/>
          </p:cNvSpPr>
          <p:nvPr/>
        </p:nvSpPr>
        <p:spPr>
          <a:xfrm>
            <a:off x="323528" y="3616366"/>
            <a:ext cx="5040560" cy="312500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8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Clr>
                <a:schemeClr val="tx1"/>
              </a:buClr>
              <a:buFont typeface="Calibri" pitchFamily="34" charset="0"/>
              <a:buChar char="&gt;"/>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9pPr>
          </a:lstStyle>
          <a:p>
            <a:pPr marL="0" indent="712788">
              <a:buNone/>
            </a:pPr>
            <a:r>
              <a:rPr lang="zh-TW" altLang="en-US" dirty="0">
                <a:solidFill>
                  <a:srgbClr val="FF0000"/>
                </a:solidFill>
                <a:latin typeface="標楷體" panose="03000509000000000000" pitchFamily="65" charset="-120"/>
                <a:ea typeface="標楷體" panose="03000509000000000000" pitchFamily="65" charset="-120"/>
              </a:rPr>
              <a:t>黃槐</a:t>
            </a:r>
          </a:p>
          <a:p>
            <a:pPr marL="0" indent="712788">
              <a:buNone/>
            </a:pPr>
            <a:r>
              <a:rPr lang="zh-TW" altLang="en-US" sz="2400" dirty="0">
                <a:solidFill>
                  <a:srgbClr val="002060"/>
                </a:solidFill>
                <a:latin typeface="標楷體" panose="03000509000000000000" pitchFamily="65" charset="-120"/>
                <a:ea typeface="標楷體" panose="03000509000000000000" pitchFamily="65" charset="-120"/>
              </a:rPr>
              <a:t>黃槐原產於印度、澳洲、斯里蘭卡，屬蘇木科落葉小喬木。羽狀複葉，花期四至十二月，花黃色。扁平莢果，初為綠色，成熟轉暗褐色。樹形優美，高可達</a:t>
            </a:r>
            <a:r>
              <a:rPr lang="en-US" altLang="zh-TW" sz="2400" dirty="0">
                <a:solidFill>
                  <a:srgbClr val="002060"/>
                </a:solidFill>
                <a:latin typeface="標楷體" panose="03000509000000000000" pitchFamily="65" charset="-120"/>
                <a:ea typeface="標楷體" panose="03000509000000000000" pitchFamily="65" charset="-120"/>
              </a:rPr>
              <a:t>4</a:t>
            </a:r>
            <a:r>
              <a:rPr lang="zh-TW" altLang="en-US" sz="2400" dirty="0">
                <a:solidFill>
                  <a:srgbClr val="002060"/>
                </a:solidFill>
                <a:latin typeface="標楷體" panose="03000509000000000000" pitchFamily="65" charset="-120"/>
                <a:ea typeface="標楷體" panose="03000509000000000000" pitchFamily="65" charset="-120"/>
              </a:rPr>
              <a:t>公尺。適合作庭院觀賞樹。</a:t>
            </a:r>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8104" y="1628800"/>
            <a:ext cx="2808312" cy="1977052"/>
          </a:xfrm>
          <a:prstGeom prst="rect">
            <a:avLst/>
          </a:prstGeom>
        </p:spPr>
      </p:pic>
      <p:pic>
        <p:nvPicPr>
          <p:cNvPr id="8" name="圖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7481" y="4059053"/>
            <a:ext cx="2729558" cy="2041709"/>
          </a:xfrm>
          <a:prstGeom prst="rect">
            <a:avLst/>
          </a:prstGeom>
        </p:spPr>
      </p:pic>
    </p:spTree>
    <p:extLst>
      <p:ext uri="{BB962C8B-B14F-4D97-AF65-F5344CB8AC3E}">
        <p14:creationId xmlns:p14="http://schemas.microsoft.com/office/powerpoint/2010/main" val="284786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99592" y="0"/>
            <a:ext cx="7560840"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愛河沿岸常見的</a:t>
            </a:r>
            <a:r>
              <a:rPr lang="zh-TW" altLang="en-US" sz="4800" dirty="0" smtClean="0">
                <a:solidFill>
                  <a:srgbClr val="0070C0"/>
                </a:solidFill>
                <a:latin typeface="標楷體" panose="03000509000000000000" pitchFamily="65" charset="-120"/>
                <a:ea typeface="標楷體" panose="03000509000000000000" pitchFamily="65" charset="-120"/>
              </a:rPr>
              <a:t>植物</a:t>
            </a:r>
            <a:r>
              <a:rPr lang="en-US" altLang="zh-TW" sz="4800" dirty="0" smtClean="0">
                <a:solidFill>
                  <a:srgbClr val="0070C0"/>
                </a:solidFill>
                <a:latin typeface="標楷體" panose="03000509000000000000" pitchFamily="65" charset="-120"/>
                <a:ea typeface="標楷體" panose="03000509000000000000" pitchFamily="65" charset="-120"/>
              </a:rPr>
              <a:t>〈</a:t>
            </a:r>
            <a:r>
              <a:rPr lang="zh-TW" altLang="en-US" sz="4800" dirty="0" smtClean="0">
                <a:solidFill>
                  <a:srgbClr val="0070C0"/>
                </a:solidFill>
                <a:latin typeface="標楷體" panose="03000509000000000000" pitchFamily="65" charset="-120"/>
                <a:ea typeface="標楷體" panose="03000509000000000000" pitchFamily="65" charset="-120"/>
              </a:rPr>
              <a:t>二</a:t>
            </a:r>
            <a:r>
              <a:rPr lang="en-US" altLang="zh-TW" sz="4800" dirty="0" smtClean="0">
                <a:solidFill>
                  <a:srgbClr val="0070C0"/>
                </a:solidFill>
                <a:latin typeface="標楷體" panose="03000509000000000000" pitchFamily="65" charset="-120"/>
                <a:ea typeface="標楷體" panose="03000509000000000000" pitchFamily="65" charset="-120"/>
              </a:rPr>
              <a:t>〉</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395536" y="1196752"/>
            <a:ext cx="4896544" cy="2232248"/>
          </a:xfrm>
        </p:spPr>
        <p:txBody>
          <a:bodyPr>
            <a:noAutofit/>
          </a:bodyPr>
          <a:lstStyle/>
          <a:p>
            <a:pPr marL="0" indent="712788">
              <a:buNone/>
            </a:pPr>
            <a:r>
              <a:rPr lang="zh-TW" altLang="en-US" dirty="0">
                <a:solidFill>
                  <a:srgbClr val="FF0000"/>
                </a:solidFill>
                <a:latin typeface="標楷體" panose="03000509000000000000" pitchFamily="65" charset="-120"/>
                <a:ea typeface="標楷體" panose="03000509000000000000" pitchFamily="65" charset="-120"/>
              </a:rPr>
              <a:t>黃槿</a:t>
            </a:r>
          </a:p>
          <a:p>
            <a:pPr marL="0" indent="712788">
              <a:buNone/>
            </a:pPr>
            <a:r>
              <a:rPr lang="zh-TW" altLang="en-US" sz="2400" dirty="0">
                <a:solidFill>
                  <a:srgbClr val="002060"/>
                </a:solidFill>
                <a:latin typeface="標楷體" panose="03000509000000000000" pitchFamily="65" charset="-120"/>
                <a:ea typeface="標楷體" panose="03000509000000000000" pitchFamily="65" charset="-120"/>
              </a:rPr>
              <a:t>台灣海岸早期常可見黃槿，近因開發海岸而遭到砍除，從早期的優勢到現今的弱勢，這是台灣原生種植物的共同命運。</a:t>
            </a:r>
          </a:p>
        </p:txBody>
      </p:sp>
      <p:sp>
        <p:nvSpPr>
          <p:cNvPr id="7" name="內容版面配置區 2"/>
          <p:cNvSpPr txBox="1">
            <a:spLocks/>
          </p:cNvSpPr>
          <p:nvPr/>
        </p:nvSpPr>
        <p:spPr>
          <a:xfrm>
            <a:off x="3275856" y="3610628"/>
            <a:ext cx="5544616" cy="298672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8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Clr>
                <a:schemeClr val="tx1"/>
              </a:buClr>
              <a:buFont typeface="Calibri" pitchFamily="34" charset="0"/>
              <a:buChar char="&gt;"/>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9pPr>
          </a:lstStyle>
          <a:p>
            <a:pPr marL="0" indent="712788">
              <a:buNone/>
            </a:pPr>
            <a:r>
              <a:rPr lang="zh-TW" altLang="en-US" dirty="0">
                <a:solidFill>
                  <a:srgbClr val="FF0000"/>
                </a:solidFill>
                <a:latin typeface="標楷體" panose="03000509000000000000" pitchFamily="65" charset="-120"/>
                <a:ea typeface="標楷體" panose="03000509000000000000" pitchFamily="65" charset="-120"/>
              </a:rPr>
              <a:t>紅瓶刷子</a:t>
            </a:r>
          </a:p>
          <a:p>
            <a:pPr marL="0" indent="712788">
              <a:buNone/>
            </a:pPr>
            <a:r>
              <a:rPr lang="zh-TW" altLang="en-US" sz="2400" dirty="0">
                <a:solidFill>
                  <a:srgbClr val="002060"/>
                </a:solidFill>
                <a:latin typeface="標楷體" panose="03000509000000000000" pitchFamily="65" charset="-120"/>
                <a:ea typeface="標楷體" panose="03000509000000000000" pitchFamily="65" charset="-120"/>
              </a:rPr>
              <a:t>紅瓶刷子樹原產於澳洲，屬姚金孃科常綠小喬木。葉呈狹線形，花期冬到春季，花紅色，形似瓶刷子。結球形果，褐色，成排排列。枝條上揚不下垂。紅瓶刷子樹與串錢柳極為相似，串錢柳的枝條下垂不上揚，花期春到秋季。</a:t>
            </a:r>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1635" y="1675109"/>
            <a:ext cx="2381250" cy="1771650"/>
          </a:xfrm>
          <a:prstGeom prst="rect">
            <a:avLst/>
          </a:prstGeo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4181114"/>
            <a:ext cx="2381250" cy="1771650"/>
          </a:xfrm>
          <a:prstGeom prst="rect">
            <a:avLst/>
          </a:prstGeom>
        </p:spPr>
      </p:pic>
    </p:spTree>
    <p:extLst>
      <p:ext uri="{BB962C8B-B14F-4D97-AF65-F5344CB8AC3E}">
        <p14:creationId xmlns:p14="http://schemas.microsoft.com/office/powerpoint/2010/main" val="30668815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99592" y="0"/>
            <a:ext cx="7560840"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愛河沿岸常見的</a:t>
            </a:r>
            <a:r>
              <a:rPr lang="zh-TW" altLang="en-US" sz="4800" dirty="0" smtClean="0">
                <a:solidFill>
                  <a:srgbClr val="0070C0"/>
                </a:solidFill>
                <a:latin typeface="標楷體" panose="03000509000000000000" pitchFamily="65" charset="-120"/>
                <a:ea typeface="標楷體" panose="03000509000000000000" pitchFamily="65" charset="-120"/>
              </a:rPr>
              <a:t>植物</a:t>
            </a:r>
            <a:r>
              <a:rPr lang="en-US" altLang="zh-TW" sz="4800" dirty="0" smtClean="0">
                <a:solidFill>
                  <a:srgbClr val="0070C0"/>
                </a:solidFill>
                <a:latin typeface="標楷體" panose="03000509000000000000" pitchFamily="65" charset="-120"/>
                <a:ea typeface="標楷體" panose="03000509000000000000" pitchFamily="65" charset="-120"/>
              </a:rPr>
              <a:t>〈</a:t>
            </a:r>
            <a:r>
              <a:rPr lang="zh-TW" altLang="en-US" sz="4800" dirty="0" smtClean="0">
                <a:solidFill>
                  <a:srgbClr val="0070C0"/>
                </a:solidFill>
                <a:latin typeface="標楷體" panose="03000509000000000000" pitchFamily="65" charset="-120"/>
                <a:ea typeface="標楷體" panose="03000509000000000000" pitchFamily="65" charset="-120"/>
              </a:rPr>
              <a:t>三</a:t>
            </a:r>
            <a:r>
              <a:rPr lang="en-US" altLang="zh-TW" sz="4800" dirty="0" smtClean="0">
                <a:solidFill>
                  <a:srgbClr val="0070C0"/>
                </a:solidFill>
                <a:latin typeface="標楷體" panose="03000509000000000000" pitchFamily="65" charset="-120"/>
                <a:ea typeface="標楷體" panose="03000509000000000000" pitchFamily="65" charset="-120"/>
              </a:rPr>
              <a:t>〉</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323528" y="908720"/>
            <a:ext cx="5544616" cy="3168352"/>
          </a:xfrm>
        </p:spPr>
        <p:txBody>
          <a:bodyPr>
            <a:noAutofit/>
          </a:bodyPr>
          <a:lstStyle/>
          <a:p>
            <a:pPr marL="0" indent="712788">
              <a:buNone/>
            </a:pPr>
            <a:r>
              <a:rPr lang="zh-TW" altLang="en-US" dirty="0">
                <a:solidFill>
                  <a:srgbClr val="FF0000"/>
                </a:solidFill>
                <a:latin typeface="標楷體" panose="03000509000000000000" pitchFamily="65" charset="-120"/>
                <a:ea typeface="標楷體" panose="03000509000000000000" pitchFamily="65" charset="-120"/>
              </a:rPr>
              <a:t>大花紫薇</a:t>
            </a:r>
          </a:p>
          <a:p>
            <a:pPr marL="0" indent="712788">
              <a:buNone/>
            </a:pPr>
            <a:r>
              <a:rPr lang="zh-TW" altLang="en-US" sz="2400" dirty="0">
                <a:solidFill>
                  <a:srgbClr val="002060"/>
                </a:solidFill>
                <a:latin typeface="標楷體" panose="03000509000000000000" pitchFamily="65" charset="-120"/>
                <a:ea typeface="標楷體" panose="03000509000000000000" pitchFamily="65" charset="-120"/>
              </a:rPr>
              <a:t>大花紫薇原產於熱帶亞洲、澳洲，屬千屈菜科落葉大喬木。葉呈長橢圓形，尾尖，葉脈清楚。夏季開花，花紫色，在枝條頂成串朝上舉，異常顯眼。花瓣可作成蝶蝴，非常漂亮。圓形蒴果，成熟為暗褐色，自裂成六片，種子彈落地面，伺機發芽。</a:t>
            </a:r>
          </a:p>
        </p:txBody>
      </p:sp>
      <p:sp>
        <p:nvSpPr>
          <p:cNvPr id="7" name="內容版面配置區 2"/>
          <p:cNvSpPr txBox="1">
            <a:spLocks/>
          </p:cNvSpPr>
          <p:nvPr/>
        </p:nvSpPr>
        <p:spPr>
          <a:xfrm>
            <a:off x="2699792" y="3789040"/>
            <a:ext cx="6336704" cy="295232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8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Clr>
                <a:schemeClr val="tx1"/>
              </a:buClr>
              <a:buFont typeface="Calibri" pitchFamily="34" charset="0"/>
              <a:buChar char="&gt;"/>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9pPr>
          </a:lstStyle>
          <a:p>
            <a:pPr marL="0" indent="712788">
              <a:buNone/>
            </a:pPr>
            <a:r>
              <a:rPr lang="zh-TW" altLang="en-US" dirty="0">
                <a:solidFill>
                  <a:srgbClr val="FF0000"/>
                </a:solidFill>
                <a:latin typeface="標楷體" panose="03000509000000000000" pitchFamily="65" charset="-120"/>
                <a:ea typeface="標楷體" panose="03000509000000000000" pitchFamily="65" charset="-120"/>
              </a:rPr>
              <a:t>雨豆樹 </a:t>
            </a:r>
          </a:p>
          <a:p>
            <a:pPr marL="0" indent="712788">
              <a:buNone/>
            </a:pPr>
            <a:r>
              <a:rPr lang="zh-TW" altLang="en-US" sz="2400" dirty="0">
                <a:solidFill>
                  <a:srgbClr val="002060"/>
                </a:solidFill>
                <a:latin typeface="標楷體" panose="03000509000000000000" pitchFamily="65" charset="-120"/>
                <a:ea typeface="標楷體" panose="03000509000000000000" pitchFamily="65" charset="-120"/>
              </a:rPr>
              <a:t>雨豆樹原產於熱帶美洲、西印度，屬含羞草科落葉大喬木。二回羽狀複葉，夜晚葉片折合；曙光乍現，葉片開展。春天開花，花淺黃色。樹冠很大，可達</a:t>
            </a:r>
            <a:r>
              <a:rPr lang="en-US" altLang="zh-TW" sz="2400" dirty="0">
                <a:solidFill>
                  <a:srgbClr val="002060"/>
                </a:solidFill>
                <a:latin typeface="標楷體" panose="03000509000000000000" pitchFamily="65" charset="-120"/>
                <a:ea typeface="標楷體" panose="03000509000000000000" pitchFamily="65" charset="-120"/>
              </a:rPr>
              <a:t>15</a:t>
            </a:r>
            <a:r>
              <a:rPr lang="zh-TW" altLang="en-US" sz="2400" dirty="0">
                <a:solidFill>
                  <a:srgbClr val="002060"/>
                </a:solidFill>
                <a:latin typeface="標楷體" panose="03000509000000000000" pitchFamily="65" charset="-120"/>
                <a:ea typeface="標楷體" panose="03000509000000000000" pitchFamily="65" charset="-120"/>
              </a:rPr>
              <a:t>公尺，樹形優美，非常適合南台灣燠熱的氣候。有了雨豆樹，再炙毒的陽光也不用懼怕，是很好的遮蔭樹。</a:t>
            </a:r>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8164" y="1484784"/>
            <a:ext cx="2381250" cy="1771650"/>
          </a:xfrm>
          <a:prstGeom prst="rect">
            <a:avLst/>
          </a:prstGeom>
        </p:spPr>
      </p:pic>
      <p:pic>
        <p:nvPicPr>
          <p:cNvPr id="8" name="圖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542" y="4509120"/>
            <a:ext cx="2381250" cy="1771650"/>
          </a:xfrm>
          <a:prstGeom prst="rect">
            <a:avLst/>
          </a:prstGeom>
        </p:spPr>
      </p:pic>
    </p:spTree>
    <p:extLst>
      <p:ext uri="{BB962C8B-B14F-4D97-AF65-F5344CB8AC3E}">
        <p14:creationId xmlns:p14="http://schemas.microsoft.com/office/powerpoint/2010/main" val="33296284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2171" y="1556792"/>
            <a:ext cx="2381250" cy="1781175"/>
          </a:xfrm>
          <a:prstGeom prst="rect">
            <a:avLst/>
          </a:prstGeom>
        </p:spPr>
      </p:pic>
      <p:sp>
        <p:nvSpPr>
          <p:cNvPr id="2" name="標題 1"/>
          <p:cNvSpPr>
            <a:spLocks noGrp="1"/>
          </p:cNvSpPr>
          <p:nvPr>
            <p:ph type="title"/>
          </p:nvPr>
        </p:nvSpPr>
        <p:spPr>
          <a:xfrm>
            <a:off x="899592" y="0"/>
            <a:ext cx="7560840"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愛河沿岸常見的</a:t>
            </a:r>
            <a:r>
              <a:rPr lang="zh-TW" altLang="en-US" sz="4800" dirty="0" smtClean="0">
                <a:solidFill>
                  <a:srgbClr val="0070C0"/>
                </a:solidFill>
                <a:latin typeface="標楷體" panose="03000509000000000000" pitchFamily="65" charset="-120"/>
                <a:ea typeface="標楷體" panose="03000509000000000000" pitchFamily="65" charset="-120"/>
              </a:rPr>
              <a:t>植物</a:t>
            </a:r>
            <a:r>
              <a:rPr lang="en-US" altLang="zh-TW" sz="4800" dirty="0" smtClean="0">
                <a:solidFill>
                  <a:srgbClr val="0070C0"/>
                </a:solidFill>
                <a:latin typeface="標楷體" panose="03000509000000000000" pitchFamily="65" charset="-120"/>
                <a:ea typeface="標楷體" panose="03000509000000000000" pitchFamily="65" charset="-120"/>
              </a:rPr>
              <a:t>〈</a:t>
            </a:r>
            <a:r>
              <a:rPr lang="zh-TW" altLang="en-US" sz="4800" dirty="0" smtClean="0">
                <a:solidFill>
                  <a:srgbClr val="0070C0"/>
                </a:solidFill>
                <a:latin typeface="標楷體" panose="03000509000000000000" pitchFamily="65" charset="-120"/>
                <a:ea typeface="標楷體" panose="03000509000000000000" pitchFamily="65" charset="-120"/>
              </a:rPr>
              <a:t>四</a:t>
            </a:r>
            <a:r>
              <a:rPr lang="en-US" altLang="zh-TW" sz="4800" dirty="0" smtClean="0">
                <a:solidFill>
                  <a:srgbClr val="0070C0"/>
                </a:solidFill>
                <a:latin typeface="標楷體" panose="03000509000000000000" pitchFamily="65" charset="-120"/>
                <a:ea typeface="標楷體" panose="03000509000000000000" pitchFamily="65" charset="-120"/>
              </a:rPr>
              <a:t>〉</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323528" y="764704"/>
            <a:ext cx="6120680" cy="3096344"/>
          </a:xfrm>
        </p:spPr>
        <p:txBody>
          <a:bodyPr>
            <a:noAutofit/>
          </a:bodyPr>
          <a:lstStyle/>
          <a:p>
            <a:pPr marL="0" indent="712788">
              <a:buNone/>
            </a:pPr>
            <a:r>
              <a:rPr lang="zh-TW" altLang="en-US" dirty="0">
                <a:solidFill>
                  <a:srgbClr val="FF0000"/>
                </a:solidFill>
                <a:latin typeface="標楷體" panose="03000509000000000000" pitchFamily="65" charset="-120"/>
                <a:ea typeface="標楷體" panose="03000509000000000000" pitchFamily="65" charset="-120"/>
              </a:rPr>
              <a:t>阿勃勒</a:t>
            </a:r>
          </a:p>
          <a:p>
            <a:pPr marL="0" indent="712788">
              <a:buNone/>
            </a:pPr>
            <a:r>
              <a:rPr lang="zh-TW" altLang="en-US" sz="2200" dirty="0">
                <a:solidFill>
                  <a:srgbClr val="002060"/>
                </a:solidFill>
                <a:latin typeface="標楷體" panose="03000509000000000000" pitchFamily="65" charset="-120"/>
                <a:ea typeface="標楷體" panose="03000509000000000000" pitchFamily="65" charset="-120"/>
              </a:rPr>
              <a:t>阿勃勒原產於印度、熱帶地區，屬蘇木科落葉喬木。羽狀複葉，夏季開花，花金黃色，成串下垂，掛在無葉的枝條，甚為醒目，又名「黃金雨」。長條圓柱形莢果，色由綠轉黑褐，成熟需時一年。常見今年的花與去年的果並存樹上，莢果不開裂，落地後賴潮濕的環境萌芽。枝條長，略為下垂，常須修剪，以防枝條過低，影響行車安全。</a:t>
            </a:r>
          </a:p>
        </p:txBody>
      </p:sp>
      <p:sp>
        <p:nvSpPr>
          <p:cNvPr id="7" name="內容版面配置區 2"/>
          <p:cNvSpPr txBox="1">
            <a:spLocks/>
          </p:cNvSpPr>
          <p:nvPr/>
        </p:nvSpPr>
        <p:spPr>
          <a:xfrm>
            <a:off x="2649199" y="3573016"/>
            <a:ext cx="6480720" cy="328498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8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Clr>
                <a:schemeClr val="tx1"/>
              </a:buClr>
              <a:buFont typeface="Calibri" pitchFamily="34" charset="0"/>
              <a:buChar char="&gt;"/>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9pPr>
          </a:lstStyle>
          <a:p>
            <a:pPr marL="0" indent="712788">
              <a:buNone/>
            </a:pPr>
            <a:r>
              <a:rPr lang="zh-TW" altLang="en-US" dirty="0">
                <a:solidFill>
                  <a:srgbClr val="FF0000"/>
                </a:solidFill>
                <a:latin typeface="標楷體" panose="03000509000000000000" pitchFamily="65" charset="-120"/>
                <a:ea typeface="標楷體" panose="03000509000000000000" pitchFamily="65" charset="-120"/>
              </a:rPr>
              <a:t>鳳凰木</a:t>
            </a:r>
          </a:p>
          <a:p>
            <a:pPr marL="0" indent="712788">
              <a:buNone/>
            </a:pPr>
            <a:r>
              <a:rPr lang="zh-TW" altLang="en-US" sz="2000" dirty="0">
                <a:solidFill>
                  <a:srgbClr val="002060"/>
                </a:solidFill>
                <a:latin typeface="標楷體" panose="03000509000000000000" pitchFamily="65" charset="-120"/>
                <a:ea typeface="標楷體" panose="03000509000000000000" pitchFamily="65" charset="-120"/>
              </a:rPr>
              <a:t>鳳凰木原產於馬達加斯加，於十九世紀末引進，屬蘇木科落葉喬木。二回羽狀複葉，小葉細小如羽。夏季開花，花色鮮艷如火，佈滿樹梢，異常醒目。花瓣五瓣，花謝瓣落，樹下宛如鋪上一層紅毯，令人動容。花瓣、花萼可作成美麗的蝴蝶作品，栩栩如生。樹冠成傘形，樹形甚美，大樹有板根。莢果，形如大彎刀，甚硬，成熟變暗褐色，為昔日孩童的玩具。成熟的莢果自裂成二片，種子彈出自生。花朵、種子皆有毒性，不可誤食。</a:t>
            </a:r>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4653136"/>
            <a:ext cx="2381250" cy="1771650"/>
          </a:xfrm>
          <a:prstGeom prst="rect">
            <a:avLst/>
          </a:prstGeom>
        </p:spPr>
      </p:pic>
    </p:spTree>
    <p:extLst>
      <p:ext uri="{BB962C8B-B14F-4D97-AF65-F5344CB8AC3E}">
        <p14:creationId xmlns:p14="http://schemas.microsoft.com/office/powerpoint/2010/main" val="545727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99592" y="0"/>
            <a:ext cx="7560840"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愛河沿岸常見的</a:t>
            </a:r>
            <a:r>
              <a:rPr lang="zh-TW" altLang="en-US" sz="4800" dirty="0" smtClean="0">
                <a:solidFill>
                  <a:srgbClr val="0070C0"/>
                </a:solidFill>
                <a:latin typeface="標楷體" panose="03000509000000000000" pitchFamily="65" charset="-120"/>
                <a:ea typeface="標楷體" panose="03000509000000000000" pitchFamily="65" charset="-120"/>
              </a:rPr>
              <a:t>植物</a:t>
            </a:r>
            <a:r>
              <a:rPr lang="en-US" altLang="zh-TW" sz="4800" dirty="0" smtClean="0">
                <a:solidFill>
                  <a:srgbClr val="0070C0"/>
                </a:solidFill>
                <a:latin typeface="標楷體" panose="03000509000000000000" pitchFamily="65" charset="-120"/>
                <a:ea typeface="標楷體" panose="03000509000000000000" pitchFamily="65" charset="-120"/>
              </a:rPr>
              <a:t>〈</a:t>
            </a:r>
            <a:r>
              <a:rPr lang="zh-TW" altLang="en-US" sz="4800" dirty="0" smtClean="0">
                <a:solidFill>
                  <a:srgbClr val="0070C0"/>
                </a:solidFill>
                <a:latin typeface="標楷體" panose="03000509000000000000" pitchFamily="65" charset="-120"/>
                <a:ea typeface="標楷體" panose="03000509000000000000" pitchFamily="65" charset="-120"/>
              </a:rPr>
              <a:t>五</a:t>
            </a:r>
            <a:r>
              <a:rPr lang="en-US" altLang="zh-TW" sz="4800" dirty="0" smtClean="0">
                <a:solidFill>
                  <a:srgbClr val="0070C0"/>
                </a:solidFill>
                <a:latin typeface="標楷體" panose="03000509000000000000" pitchFamily="65" charset="-120"/>
                <a:ea typeface="標楷體" panose="03000509000000000000" pitchFamily="65" charset="-120"/>
              </a:rPr>
              <a:t>〉</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323528" y="908720"/>
            <a:ext cx="5544616" cy="3168352"/>
          </a:xfrm>
        </p:spPr>
        <p:txBody>
          <a:bodyPr>
            <a:noAutofit/>
          </a:bodyPr>
          <a:lstStyle/>
          <a:p>
            <a:pPr marL="0" indent="712788">
              <a:buNone/>
            </a:pPr>
            <a:r>
              <a:rPr lang="zh-TW" altLang="en-US" dirty="0">
                <a:solidFill>
                  <a:srgbClr val="FF0000"/>
                </a:solidFill>
                <a:latin typeface="標楷體" panose="03000509000000000000" pitchFamily="65" charset="-120"/>
                <a:ea typeface="標楷體" panose="03000509000000000000" pitchFamily="65" charset="-120"/>
              </a:rPr>
              <a:t>大花紫薇</a:t>
            </a:r>
          </a:p>
          <a:p>
            <a:pPr marL="0" indent="712788">
              <a:buNone/>
            </a:pPr>
            <a:r>
              <a:rPr lang="zh-TW" altLang="en-US" sz="2400" dirty="0">
                <a:solidFill>
                  <a:srgbClr val="002060"/>
                </a:solidFill>
                <a:latin typeface="標楷體" panose="03000509000000000000" pitchFamily="65" charset="-120"/>
                <a:ea typeface="標楷體" panose="03000509000000000000" pitchFamily="65" charset="-120"/>
              </a:rPr>
              <a:t>大花紫薇原產於熱帶亞洲、澳洲，屬千屈菜科落葉大喬木。葉呈長橢圓形，尾尖，葉脈清楚。夏季開花，花紫色，在枝條頂成串朝上舉，異常顯眼。花瓣可作成蝶蝴，非常漂亮。圓形蒴果，成熟為暗褐色，自裂成六片，種子彈落地面，伺機發芽。</a:t>
            </a:r>
          </a:p>
        </p:txBody>
      </p:sp>
      <p:sp>
        <p:nvSpPr>
          <p:cNvPr id="7" name="內容版面配置區 2"/>
          <p:cNvSpPr txBox="1">
            <a:spLocks/>
          </p:cNvSpPr>
          <p:nvPr/>
        </p:nvSpPr>
        <p:spPr>
          <a:xfrm>
            <a:off x="2699792" y="3789040"/>
            <a:ext cx="6336704" cy="295232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8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Clr>
                <a:schemeClr val="tx1"/>
              </a:buClr>
              <a:buFont typeface="Calibri" pitchFamily="34" charset="0"/>
              <a:buChar char="&gt;"/>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9pPr>
          </a:lstStyle>
          <a:p>
            <a:pPr marL="0" indent="712788">
              <a:buNone/>
            </a:pPr>
            <a:r>
              <a:rPr lang="zh-TW" altLang="en-US" dirty="0">
                <a:solidFill>
                  <a:srgbClr val="FF0000"/>
                </a:solidFill>
                <a:latin typeface="標楷體" panose="03000509000000000000" pitchFamily="65" charset="-120"/>
                <a:ea typeface="標楷體" panose="03000509000000000000" pitchFamily="65" charset="-120"/>
              </a:rPr>
              <a:t>雨豆樹 </a:t>
            </a:r>
          </a:p>
          <a:p>
            <a:pPr marL="0" indent="712788">
              <a:buNone/>
            </a:pPr>
            <a:r>
              <a:rPr lang="zh-TW" altLang="en-US" sz="2400" dirty="0">
                <a:solidFill>
                  <a:srgbClr val="002060"/>
                </a:solidFill>
                <a:latin typeface="標楷體" panose="03000509000000000000" pitchFamily="65" charset="-120"/>
                <a:ea typeface="標楷體" panose="03000509000000000000" pitchFamily="65" charset="-120"/>
              </a:rPr>
              <a:t>雨豆樹原產於熱帶美洲、西印度，屬含羞草科落葉大喬木。二回羽狀複葉，夜晚葉片折合；曙光乍現，葉片開展。春天開花，花淺黃色。樹冠很大，可達</a:t>
            </a:r>
            <a:r>
              <a:rPr lang="en-US" altLang="zh-TW" sz="2400" dirty="0">
                <a:solidFill>
                  <a:srgbClr val="002060"/>
                </a:solidFill>
                <a:latin typeface="標楷體" panose="03000509000000000000" pitchFamily="65" charset="-120"/>
                <a:ea typeface="標楷體" panose="03000509000000000000" pitchFamily="65" charset="-120"/>
              </a:rPr>
              <a:t>15</a:t>
            </a:r>
            <a:r>
              <a:rPr lang="zh-TW" altLang="en-US" sz="2400" dirty="0">
                <a:solidFill>
                  <a:srgbClr val="002060"/>
                </a:solidFill>
                <a:latin typeface="標楷體" panose="03000509000000000000" pitchFamily="65" charset="-120"/>
                <a:ea typeface="標楷體" panose="03000509000000000000" pitchFamily="65" charset="-120"/>
              </a:rPr>
              <a:t>公尺，樹形優美，非常適合南台灣燠熱的氣候。有了雨豆樹，再炙毒的陽光也不用懼怕，是很好的遮蔭樹。</a:t>
            </a:r>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8164" y="1484784"/>
            <a:ext cx="2381250" cy="1771650"/>
          </a:xfrm>
          <a:prstGeom prst="rect">
            <a:avLst/>
          </a:prstGeom>
        </p:spPr>
      </p:pic>
      <p:pic>
        <p:nvPicPr>
          <p:cNvPr id="8" name="圖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542" y="4509120"/>
            <a:ext cx="2381250" cy="1771650"/>
          </a:xfrm>
          <a:prstGeom prst="rect">
            <a:avLst/>
          </a:prstGeom>
        </p:spPr>
      </p:pic>
    </p:spTree>
    <p:extLst>
      <p:ext uri="{BB962C8B-B14F-4D97-AF65-F5344CB8AC3E}">
        <p14:creationId xmlns:p14="http://schemas.microsoft.com/office/powerpoint/2010/main" val="39498218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p:cNvGraphicFramePr>
            <a:graphicFrameLocks noGrp="1"/>
          </p:cNvGraphicFramePr>
          <p:nvPr>
            <p:extLst>
              <p:ext uri="{D42A27DB-BD31-4B8C-83A1-F6EECF244321}">
                <p14:modId xmlns:p14="http://schemas.microsoft.com/office/powerpoint/2010/main" val="2414395713"/>
              </p:ext>
            </p:extLst>
          </p:nvPr>
        </p:nvGraphicFramePr>
        <p:xfrm>
          <a:off x="323528" y="906701"/>
          <a:ext cx="8712968" cy="5834667"/>
        </p:xfrm>
        <a:graphic>
          <a:graphicData uri="http://schemas.openxmlformats.org/drawingml/2006/table">
            <a:tbl>
              <a:tblPr firstRow="1" bandRow="1">
                <a:tableStyleId>{5C22544A-7EE6-4342-B048-85BDC9FD1C3A}</a:tableStyleId>
              </a:tblPr>
              <a:tblGrid>
                <a:gridCol w="5832647"/>
                <a:gridCol w="2880321"/>
              </a:tblGrid>
              <a:tr h="1944216">
                <a:tc>
                  <a:txBody>
                    <a:bodyPr/>
                    <a:lstStyle/>
                    <a:p>
                      <a:r>
                        <a:rPr lang="zh-TW" altLang="en-US" sz="2000" dirty="0" smtClean="0">
                          <a:solidFill>
                            <a:srgbClr val="FF0000"/>
                          </a:solidFill>
                          <a:latin typeface="標楷體" panose="03000509000000000000" pitchFamily="65" charset="-120"/>
                          <a:ea typeface="標楷體" panose="03000509000000000000" pitchFamily="65" charset="-120"/>
                        </a:rPr>
                        <a:t>白千層</a:t>
                      </a:r>
                    </a:p>
                    <a:p>
                      <a:r>
                        <a:rPr lang="zh-TW" altLang="en-US" sz="1800" dirty="0" smtClean="0">
                          <a:solidFill>
                            <a:srgbClr val="002060"/>
                          </a:solidFill>
                          <a:latin typeface="標楷體" panose="03000509000000000000" pitchFamily="65" charset="-120"/>
                          <a:ea typeface="標楷體" panose="03000509000000000000" pitchFamily="65" charset="-120"/>
                        </a:rPr>
                        <a:t>白千層原產於印度、馬來西亞、澳洲，屬姚金孃科常綠喬木。葉呈狹線形。樹皮灰白色，多層有如千層派，可層層剝落，鬆如海棉，有彈性。計算樹皮的層數，即知樹齡。樹冠小，遮蔭性差，卻是抗二氧化硫的優良環保樹種。花期夏到秋季，花白色或淡黃色，形似瓶刷子。</a:t>
                      </a:r>
                      <a:endParaRPr lang="zh-TW" altLang="en-US" dirty="0"/>
                    </a:p>
                  </a:txBody>
                  <a:tcPr>
                    <a:solidFill>
                      <a:schemeClr val="accent6">
                        <a:lumMod val="20000"/>
                        <a:lumOff val="80000"/>
                      </a:schemeClr>
                    </a:solidFill>
                  </a:tcPr>
                </a:tc>
                <a:tc>
                  <a:txBody>
                    <a:bodyPr/>
                    <a:lstStyle/>
                    <a:p>
                      <a:endParaRPr lang="zh-TW" altLang="en-US" dirty="0"/>
                    </a:p>
                  </a:txBody>
                  <a:tcPr>
                    <a:solidFill>
                      <a:schemeClr val="accent6">
                        <a:lumMod val="20000"/>
                        <a:lumOff val="80000"/>
                      </a:schemeClr>
                    </a:solidFill>
                  </a:tcPr>
                </a:tc>
              </a:tr>
              <a:tr h="2016224">
                <a:tc>
                  <a:txBody>
                    <a:bodyPr/>
                    <a:lstStyle/>
                    <a:p>
                      <a:pPr marL="0" indent="0">
                        <a:buNone/>
                      </a:pPr>
                      <a:r>
                        <a:rPr lang="zh-TW" altLang="en-US" sz="2000" b="1" dirty="0" smtClean="0">
                          <a:solidFill>
                            <a:srgbClr val="FF0000"/>
                          </a:solidFill>
                          <a:latin typeface="標楷體" panose="03000509000000000000" pitchFamily="65" charset="-120"/>
                          <a:ea typeface="標楷體" panose="03000509000000000000" pitchFamily="65" charset="-120"/>
                        </a:rPr>
                        <a:t>茄苳</a:t>
                      </a:r>
                    </a:p>
                    <a:p>
                      <a:pPr marL="0" indent="0">
                        <a:buNone/>
                      </a:pPr>
                      <a:r>
                        <a:rPr lang="zh-TW" altLang="en-US" sz="1800" b="1" dirty="0" smtClean="0">
                          <a:solidFill>
                            <a:srgbClr val="002060"/>
                          </a:solidFill>
                          <a:latin typeface="標楷體" panose="03000509000000000000" pitchFamily="65" charset="-120"/>
                          <a:ea typeface="標楷體" panose="03000509000000000000" pitchFamily="65" charset="-120"/>
                        </a:rPr>
                        <a:t>茄苳，台灣本土種，屬大戟科半落葉大喬木，又稱「重陽木」，是民間膜拜的神樹之一。葉為三出複葉，枝葉茂密，樹型美觀，是很好的遮蔭樹，老樹幹有片狀剝落現象。春季開花，花黃綠色，有三歧花柱，甚小，並不顯眼。成串的球形漿果，青綠色，熟時變褐色，鳥類喜食。葉、果皆可藥用。</a:t>
                      </a:r>
                      <a:endParaRPr lang="zh-TW" altLang="en-US" dirty="0"/>
                    </a:p>
                  </a:txBody>
                  <a:tcPr>
                    <a:solidFill>
                      <a:srgbClr val="FFEBFF"/>
                    </a:solidFill>
                  </a:tcPr>
                </a:tc>
                <a:tc>
                  <a:txBody>
                    <a:bodyPr/>
                    <a:lstStyle/>
                    <a:p>
                      <a:endParaRPr lang="zh-TW" altLang="en-US" dirty="0"/>
                    </a:p>
                  </a:txBody>
                  <a:tcPr>
                    <a:solidFill>
                      <a:srgbClr val="FFEBFF"/>
                    </a:solidFill>
                  </a:tcPr>
                </a:tc>
              </a:tr>
              <a:tr h="1848291">
                <a:tc>
                  <a:txBody>
                    <a:bodyPr/>
                    <a:lstStyle/>
                    <a:p>
                      <a:pPr marL="0" indent="0" algn="l" defTabSz="914400" rtl="0" eaLnBrk="1" latinLnBrk="0" hangingPunct="1">
                        <a:buNone/>
                      </a:pPr>
                      <a:r>
                        <a:rPr lang="zh-TW" altLang="en-US" sz="2000" b="1" kern="1200" dirty="0" smtClean="0">
                          <a:solidFill>
                            <a:srgbClr val="FF0000"/>
                          </a:solidFill>
                          <a:latin typeface="標楷體" panose="03000509000000000000" pitchFamily="65" charset="-120"/>
                          <a:ea typeface="標楷體" panose="03000509000000000000" pitchFamily="65" charset="-120"/>
                          <a:cs typeface="+mn-cs"/>
                        </a:rPr>
                        <a:t>九重葛</a:t>
                      </a:r>
                    </a:p>
                    <a:p>
                      <a:pPr marL="0" indent="0" algn="l" defTabSz="914400" rtl="0" eaLnBrk="1" latinLnBrk="0" hangingPunct="1">
                        <a:buNone/>
                      </a:pPr>
                      <a:r>
                        <a:rPr lang="zh-TW" altLang="en-US" sz="1800" b="1" kern="1200" dirty="0" smtClean="0">
                          <a:solidFill>
                            <a:srgbClr val="002060"/>
                          </a:solidFill>
                          <a:latin typeface="標楷體" panose="03000509000000000000" pitchFamily="65" charset="-120"/>
                          <a:ea typeface="標楷體" panose="03000509000000000000" pitchFamily="65" charset="-120"/>
                          <a:cs typeface="+mn-cs"/>
                        </a:rPr>
                        <a:t>九重葛原產於南美洲，屬紫茱莉科常綠藤本，成長容易。春到秋季開花，花色艷麗，有紅、橙、黃、白、淡紫等，品種繁多。枝條有銳刺，愈修剪生長愈速，是優良的花架攀沿植物，為屏東縣的縣花。</a:t>
                      </a:r>
                      <a:endParaRPr lang="zh-TW" altLang="en-US" sz="1800" b="1" kern="1200" dirty="0">
                        <a:solidFill>
                          <a:srgbClr val="002060"/>
                        </a:solidFill>
                        <a:latin typeface="標楷體" panose="03000509000000000000" pitchFamily="65" charset="-120"/>
                        <a:ea typeface="標楷體" panose="03000509000000000000" pitchFamily="65" charset="-120"/>
                        <a:cs typeface="+mn-cs"/>
                      </a:endParaRPr>
                    </a:p>
                  </a:txBody>
                  <a:tcPr/>
                </a:tc>
                <a:tc>
                  <a:txBody>
                    <a:bodyPr/>
                    <a:lstStyle/>
                    <a:p>
                      <a:endParaRPr lang="zh-TW" altLang="en-US" dirty="0"/>
                    </a:p>
                  </a:txBody>
                  <a:tcPr/>
                </a:tc>
              </a:tr>
            </a:tbl>
          </a:graphicData>
        </a:graphic>
      </p:graphicFrame>
      <p:sp>
        <p:nvSpPr>
          <p:cNvPr id="2" name="標題 1"/>
          <p:cNvSpPr>
            <a:spLocks noGrp="1"/>
          </p:cNvSpPr>
          <p:nvPr>
            <p:ph type="title"/>
          </p:nvPr>
        </p:nvSpPr>
        <p:spPr>
          <a:xfrm>
            <a:off x="899592" y="0"/>
            <a:ext cx="7560840"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愛河沿岸常見的</a:t>
            </a:r>
            <a:r>
              <a:rPr lang="zh-TW" altLang="en-US" sz="4800" dirty="0" smtClean="0">
                <a:solidFill>
                  <a:srgbClr val="0070C0"/>
                </a:solidFill>
                <a:latin typeface="標楷體" panose="03000509000000000000" pitchFamily="65" charset="-120"/>
                <a:ea typeface="標楷體" panose="03000509000000000000" pitchFamily="65" charset="-120"/>
              </a:rPr>
              <a:t>植物</a:t>
            </a:r>
            <a:r>
              <a:rPr lang="en-US" altLang="zh-TW" sz="4800" dirty="0" smtClean="0">
                <a:solidFill>
                  <a:srgbClr val="0070C0"/>
                </a:solidFill>
                <a:latin typeface="標楷體" panose="03000509000000000000" pitchFamily="65" charset="-120"/>
                <a:ea typeface="標楷體" panose="03000509000000000000" pitchFamily="65" charset="-120"/>
              </a:rPr>
              <a:t>〈</a:t>
            </a:r>
            <a:r>
              <a:rPr lang="zh-TW" altLang="en-US" sz="4800" dirty="0" smtClean="0">
                <a:solidFill>
                  <a:srgbClr val="0070C0"/>
                </a:solidFill>
                <a:latin typeface="標楷體" panose="03000509000000000000" pitchFamily="65" charset="-120"/>
                <a:ea typeface="標楷體" panose="03000509000000000000" pitchFamily="65" charset="-120"/>
              </a:rPr>
              <a:t>六</a:t>
            </a:r>
            <a:r>
              <a:rPr lang="en-US" altLang="zh-TW" sz="4800" dirty="0" smtClean="0">
                <a:solidFill>
                  <a:srgbClr val="0070C0"/>
                </a:solidFill>
                <a:latin typeface="標楷體" panose="03000509000000000000" pitchFamily="65" charset="-120"/>
                <a:ea typeface="標楷體" panose="03000509000000000000" pitchFamily="65" charset="-120"/>
              </a:rPr>
              <a:t>〉</a:t>
            </a:r>
            <a:endParaRPr lang="zh-TW" altLang="en-US" sz="4800" dirty="0">
              <a:solidFill>
                <a:srgbClr val="0070C0"/>
              </a:solidFill>
              <a:latin typeface="標楷體" panose="03000509000000000000" pitchFamily="65" charset="-120"/>
              <a:ea typeface="標楷體" panose="03000509000000000000" pitchFamily="65" charset="-120"/>
            </a:endParaRPr>
          </a:p>
        </p:txBody>
      </p:sp>
      <p:pic>
        <p:nvPicPr>
          <p:cNvPr id="10" name="內容版面配置區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44208" y="980728"/>
            <a:ext cx="2381250" cy="17811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內容版面配置區 2"/>
          <p:cNvSpPr txBox="1">
            <a:spLocks/>
          </p:cNvSpPr>
          <p:nvPr/>
        </p:nvSpPr>
        <p:spPr>
          <a:xfrm>
            <a:off x="2915816" y="3573016"/>
            <a:ext cx="6336704" cy="316835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8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Clr>
                <a:schemeClr val="tx1"/>
              </a:buClr>
              <a:buFont typeface="Calibri" pitchFamily="34" charset="0"/>
              <a:buChar char="&gt;"/>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9pPr>
          </a:lstStyle>
          <a:p>
            <a:pPr marL="0" indent="712788">
              <a:buNone/>
            </a:pPr>
            <a:endParaRPr lang="zh-TW" altLang="en-US" sz="1800" dirty="0">
              <a:solidFill>
                <a:srgbClr val="002060"/>
              </a:solidFill>
              <a:latin typeface="標楷體" panose="03000509000000000000" pitchFamily="65" charset="-120"/>
              <a:ea typeface="標楷體" panose="03000509000000000000" pitchFamily="65" charset="-120"/>
            </a:endParaRPr>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4208" y="3068960"/>
            <a:ext cx="2381250" cy="17716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圖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4208" y="4886166"/>
            <a:ext cx="2381250" cy="17811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226818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84168" y="3020955"/>
            <a:ext cx="2715766" cy="3621021"/>
          </a:xfrm>
          <a:prstGeom prst="rect">
            <a:avLst/>
          </a:prstGeom>
        </p:spPr>
      </p:pic>
      <p:sp>
        <p:nvSpPr>
          <p:cNvPr id="2" name="標題 1"/>
          <p:cNvSpPr>
            <a:spLocks noGrp="1"/>
          </p:cNvSpPr>
          <p:nvPr>
            <p:ph type="title"/>
          </p:nvPr>
        </p:nvSpPr>
        <p:spPr>
          <a:xfrm>
            <a:off x="1187624" y="0"/>
            <a:ext cx="6336704"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沿岸生態～鳥類種類</a:t>
            </a:r>
          </a:p>
        </p:txBody>
      </p:sp>
      <p:sp>
        <p:nvSpPr>
          <p:cNvPr id="4" name="矩形 3"/>
          <p:cNvSpPr/>
          <p:nvPr/>
        </p:nvSpPr>
        <p:spPr>
          <a:xfrm>
            <a:off x="467544" y="5733256"/>
            <a:ext cx="5112568" cy="646331"/>
          </a:xfrm>
          <a:prstGeom prst="rect">
            <a:avLst/>
          </a:prstGeom>
        </p:spPr>
        <p:txBody>
          <a:bodyPr wrap="square">
            <a:spAutoFit/>
          </a:bodyPr>
          <a:lstStyle/>
          <a:p>
            <a:r>
              <a:rPr lang="zh-TW" altLang="en-US" dirty="0" smtClean="0"/>
              <a:t>資料出處：</a:t>
            </a:r>
            <a:endParaRPr lang="en-US" altLang="zh-TW" dirty="0" smtClean="0"/>
          </a:p>
          <a:p>
            <a:r>
              <a:rPr lang="zh-TW" altLang="en-US" dirty="0" smtClean="0"/>
              <a:t>「</a:t>
            </a:r>
            <a:r>
              <a:rPr lang="zh-TW" altLang="en-US" dirty="0"/>
              <a:t>親親愛河</a:t>
            </a:r>
            <a:r>
              <a:rPr lang="zh-TW" altLang="en-US" dirty="0" smtClean="0"/>
              <a:t>」</a:t>
            </a:r>
            <a:r>
              <a:rPr lang="en-US" altLang="zh-TW" dirty="0" smtClean="0"/>
              <a:t>1999</a:t>
            </a:r>
            <a:r>
              <a:rPr lang="zh-TW" altLang="en-US" dirty="0"/>
              <a:t>年，高雄市文化愛河協會出版</a:t>
            </a:r>
          </a:p>
        </p:txBody>
      </p:sp>
      <p:sp>
        <p:nvSpPr>
          <p:cNvPr id="3" name="內容版面配置區 2"/>
          <p:cNvSpPr>
            <a:spLocks noGrp="1"/>
          </p:cNvSpPr>
          <p:nvPr>
            <p:ph idx="1"/>
          </p:nvPr>
        </p:nvSpPr>
        <p:spPr>
          <a:xfrm>
            <a:off x="323528" y="908720"/>
            <a:ext cx="8676456" cy="3240360"/>
          </a:xfrm>
        </p:spPr>
        <p:txBody>
          <a:bodyPr>
            <a:noAutofit/>
          </a:bodyPr>
          <a:lstStyle/>
          <a:p>
            <a:pPr marL="0" indent="712788">
              <a:buNone/>
            </a:pPr>
            <a:r>
              <a:rPr lang="zh-TW" altLang="en-US" sz="3200" dirty="0">
                <a:solidFill>
                  <a:srgbClr val="002060"/>
                </a:solidFill>
                <a:latin typeface="標楷體" panose="03000509000000000000" pitchFamily="65" charset="-120"/>
                <a:ea typeface="標楷體" panose="03000509000000000000" pitchFamily="65" charset="-120"/>
              </a:rPr>
              <a:t>在愛河沿岸的鳥類有很多，只是在愛河受到污染的同時，鳥類就很少來到愛河了，因為在當時，愛河裡的生物已經幾乎消逝無蹤！愛河現在常看到的</a:t>
            </a:r>
            <a:r>
              <a:rPr lang="zh-TW" altLang="en-US" sz="3200" dirty="0" smtClean="0">
                <a:solidFill>
                  <a:srgbClr val="002060"/>
                </a:solidFill>
                <a:latin typeface="標楷體" panose="03000509000000000000" pitchFamily="65" charset="-120"/>
                <a:ea typeface="標楷體" panose="03000509000000000000" pitchFamily="65" charset="-120"/>
              </a:rPr>
              <a:t>鳥類</a:t>
            </a:r>
            <a:r>
              <a:rPr lang="zh-TW" altLang="en-US" sz="3200" dirty="0">
                <a:solidFill>
                  <a:srgbClr val="002060"/>
                </a:solidFill>
                <a:latin typeface="標楷體" panose="03000509000000000000" pitchFamily="65" charset="-120"/>
                <a:ea typeface="標楷體" panose="03000509000000000000" pitchFamily="65" charset="-120"/>
              </a:rPr>
              <a:t>有：紅尾伯勞、八哥、綠繡眼、麻雀、翠鳥、白頭翁、藍磯</a:t>
            </a:r>
            <a:r>
              <a:rPr lang="zh-TW" altLang="en-US" sz="3200" dirty="0" smtClean="0">
                <a:solidFill>
                  <a:srgbClr val="002060"/>
                </a:solidFill>
                <a:latin typeface="標楷體" panose="03000509000000000000" pitchFamily="65" charset="-120"/>
                <a:ea typeface="標楷體" panose="03000509000000000000" pitchFamily="65" charset="-120"/>
              </a:rPr>
              <a:t>鶇</a:t>
            </a:r>
            <a:r>
              <a:rPr lang="zh-TW" altLang="en-US" sz="3200" dirty="0">
                <a:solidFill>
                  <a:srgbClr val="002060"/>
                </a:solidFill>
                <a:latin typeface="標楷體" panose="03000509000000000000" pitchFamily="65" charset="-120"/>
                <a:ea typeface="標楷體" panose="03000509000000000000" pitchFamily="65" charset="-120"/>
              </a:rPr>
              <a:t>、</a:t>
            </a:r>
            <a:r>
              <a:rPr lang="zh-TW" altLang="en-US" sz="3200" dirty="0" smtClean="0">
                <a:solidFill>
                  <a:srgbClr val="002060"/>
                </a:solidFill>
                <a:latin typeface="標楷體" panose="03000509000000000000" pitchFamily="65" charset="-120"/>
                <a:ea typeface="標楷體" panose="03000509000000000000" pitchFamily="65" charset="-120"/>
              </a:rPr>
              <a:t>小</a:t>
            </a:r>
            <a:r>
              <a:rPr lang="zh-TW" altLang="en-US" sz="3200" dirty="0">
                <a:solidFill>
                  <a:srgbClr val="002060"/>
                </a:solidFill>
                <a:latin typeface="標楷體" panose="03000509000000000000" pitchFamily="65" charset="-120"/>
                <a:ea typeface="標楷體" panose="03000509000000000000" pitchFamily="65" charset="-120"/>
              </a:rPr>
              <a:t>白鷺</a:t>
            </a:r>
            <a:r>
              <a:rPr lang="zh-TW" altLang="en-US" sz="3200" dirty="0" smtClean="0">
                <a:solidFill>
                  <a:srgbClr val="002060"/>
                </a:solidFill>
                <a:latin typeface="標楷體" panose="03000509000000000000" pitchFamily="65" charset="-120"/>
                <a:ea typeface="標楷體" panose="03000509000000000000" pitchFamily="65" charset="-120"/>
              </a:rPr>
              <a:t>等等。</a:t>
            </a:r>
            <a:endParaRPr lang="zh-TW" altLang="en-US" sz="3200" dirty="0">
              <a:solidFill>
                <a:srgbClr val="002060"/>
              </a:solidFill>
              <a:latin typeface="標楷體" panose="03000509000000000000" pitchFamily="65" charset="-120"/>
              <a:ea typeface="標楷體" panose="03000509000000000000" pitchFamily="65" charset="-120"/>
            </a:endParaRPr>
          </a:p>
        </p:txBody>
      </p:sp>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2711" y="3590131"/>
            <a:ext cx="2857500" cy="2143125"/>
          </a:xfrm>
          <a:prstGeom prst="rect">
            <a:avLst/>
          </a:prstGeom>
        </p:spPr>
      </p:pic>
    </p:spTree>
    <p:extLst>
      <p:ext uri="{BB962C8B-B14F-4D97-AF65-F5344CB8AC3E}">
        <p14:creationId xmlns:p14="http://schemas.microsoft.com/office/powerpoint/2010/main" val="27451497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p:cNvGraphicFramePr>
            <a:graphicFrameLocks noGrp="1"/>
          </p:cNvGraphicFramePr>
          <p:nvPr>
            <p:extLst>
              <p:ext uri="{D42A27DB-BD31-4B8C-83A1-F6EECF244321}">
                <p14:modId xmlns:p14="http://schemas.microsoft.com/office/powerpoint/2010/main" val="2384038111"/>
              </p:ext>
            </p:extLst>
          </p:nvPr>
        </p:nvGraphicFramePr>
        <p:xfrm>
          <a:off x="323528" y="906700"/>
          <a:ext cx="8712968" cy="5834667"/>
        </p:xfrm>
        <a:graphic>
          <a:graphicData uri="http://schemas.openxmlformats.org/drawingml/2006/table">
            <a:tbl>
              <a:tblPr firstRow="1" bandRow="1">
                <a:tableStyleId>{5C22544A-7EE6-4342-B048-85BDC9FD1C3A}</a:tableStyleId>
              </a:tblPr>
              <a:tblGrid>
                <a:gridCol w="2520280"/>
                <a:gridCol w="6192688"/>
              </a:tblGrid>
              <a:tr h="2208318">
                <a:tc>
                  <a:txBody>
                    <a:bodyPr/>
                    <a:lstStyle/>
                    <a:p>
                      <a:endParaRPr lang="zh-TW" altLang="en-US" dirty="0"/>
                    </a:p>
                  </a:txBody>
                  <a:tcPr>
                    <a:solidFill>
                      <a:schemeClr val="accent6">
                        <a:lumMod val="20000"/>
                        <a:lumOff val="80000"/>
                      </a:schemeClr>
                    </a:solidFill>
                  </a:tcPr>
                </a:tc>
                <a:tc>
                  <a:txBody>
                    <a:bodyPr/>
                    <a:lstStyle/>
                    <a:p>
                      <a:r>
                        <a:rPr lang="zh-TW" altLang="en-US" sz="1800" dirty="0" smtClean="0">
                          <a:solidFill>
                            <a:srgbClr val="002060"/>
                          </a:solidFill>
                          <a:latin typeface="標楷體" panose="03000509000000000000" pitchFamily="65" charset="-120"/>
                          <a:ea typeface="標楷體" panose="03000509000000000000" pitchFamily="65" charset="-120"/>
                        </a:rPr>
                        <a:t> </a:t>
                      </a:r>
                      <a:r>
                        <a:rPr lang="zh-TW" altLang="en-US" sz="2000" dirty="0" smtClean="0">
                          <a:solidFill>
                            <a:srgbClr val="FF0000"/>
                          </a:solidFill>
                          <a:latin typeface="標楷體" panose="03000509000000000000" pitchFamily="65" charset="-120"/>
                          <a:ea typeface="標楷體" panose="03000509000000000000" pitchFamily="65" charset="-120"/>
                        </a:rPr>
                        <a:t>紅尾伯勞 </a:t>
                      </a:r>
                      <a:r>
                        <a:rPr lang="en-US" altLang="zh-TW" sz="2000" dirty="0" err="1" smtClean="0">
                          <a:solidFill>
                            <a:srgbClr val="FF0000"/>
                          </a:solidFill>
                          <a:latin typeface="標楷體" panose="03000509000000000000" pitchFamily="65" charset="-120"/>
                          <a:ea typeface="標楷體" panose="03000509000000000000" pitchFamily="65" charset="-120"/>
                        </a:rPr>
                        <a:t>Lanius</a:t>
                      </a:r>
                      <a:r>
                        <a:rPr lang="en-US" altLang="zh-TW" sz="2000" dirty="0" smtClean="0">
                          <a:solidFill>
                            <a:srgbClr val="FF0000"/>
                          </a:solidFill>
                          <a:latin typeface="標楷體" panose="03000509000000000000" pitchFamily="65" charset="-120"/>
                          <a:ea typeface="標楷體" panose="03000509000000000000" pitchFamily="65" charset="-120"/>
                        </a:rPr>
                        <a:t> </a:t>
                      </a:r>
                      <a:r>
                        <a:rPr lang="en-US" altLang="zh-TW" sz="2000" dirty="0" err="1" smtClean="0">
                          <a:solidFill>
                            <a:srgbClr val="FF0000"/>
                          </a:solidFill>
                          <a:latin typeface="標楷體" panose="03000509000000000000" pitchFamily="65" charset="-120"/>
                          <a:ea typeface="標楷體" panose="03000509000000000000" pitchFamily="65" charset="-120"/>
                        </a:rPr>
                        <a:t>cristatus</a:t>
                      </a:r>
                      <a:r>
                        <a:rPr lang="en-US" altLang="zh-TW" sz="2000" dirty="0" smtClean="0">
                          <a:solidFill>
                            <a:srgbClr val="FF0000"/>
                          </a:solidFill>
                          <a:latin typeface="標楷體" panose="03000509000000000000" pitchFamily="65" charset="-120"/>
                          <a:ea typeface="標楷體" panose="03000509000000000000" pitchFamily="65" charset="-120"/>
                        </a:rPr>
                        <a:t> </a:t>
                      </a:r>
                    </a:p>
                    <a:p>
                      <a:r>
                        <a:rPr lang="zh-TW" altLang="en-US" sz="2000" dirty="0" smtClean="0">
                          <a:solidFill>
                            <a:srgbClr val="002060"/>
                          </a:solidFill>
                          <a:latin typeface="標楷體" panose="03000509000000000000" pitchFamily="65" charset="-120"/>
                          <a:ea typeface="標楷體" panose="03000509000000000000" pitchFamily="65" charset="-120"/>
                        </a:rPr>
                        <a:t>每年八月起陸續飛抵台灣休息或停留，眼睛有明顯的黑色過眼線，被戲稱為「矇眼大盜」，候鳥在台灣為數不少，伯勞卻因為慘遭人類大量獵食而聲名大噪。</a:t>
                      </a:r>
                      <a:endParaRPr lang="zh-TW" altLang="en-US" sz="2000" dirty="0"/>
                    </a:p>
                  </a:txBody>
                  <a:tcPr>
                    <a:solidFill>
                      <a:schemeClr val="accent6">
                        <a:lumMod val="20000"/>
                        <a:lumOff val="80000"/>
                      </a:schemeClr>
                    </a:solidFill>
                  </a:tcPr>
                </a:tc>
              </a:tr>
              <a:tr h="1673658">
                <a:tc>
                  <a:txBody>
                    <a:bodyPr/>
                    <a:lstStyle/>
                    <a:p>
                      <a:endParaRPr lang="zh-TW" altLang="en-US" dirty="0"/>
                    </a:p>
                  </a:txBody>
                  <a:tcPr>
                    <a:solidFill>
                      <a:srgbClr val="FFEBFF"/>
                    </a:solidFill>
                  </a:tcPr>
                </a:tc>
                <a:tc>
                  <a:txBody>
                    <a:bodyPr/>
                    <a:lstStyle/>
                    <a:p>
                      <a:pPr marL="0" indent="0">
                        <a:buNone/>
                      </a:pPr>
                      <a:r>
                        <a:rPr lang="zh-TW" altLang="en-US" sz="2000" b="1" dirty="0" smtClean="0">
                          <a:solidFill>
                            <a:srgbClr val="FF0000"/>
                          </a:solidFill>
                          <a:latin typeface="標楷體" panose="03000509000000000000" pitchFamily="65" charset="-120"/>
                          <a:ea typeface="標楷體" panose="03000509000000000000" pitchFamily="65" charset="-120"/>
                        </a:rPr>
                        <a:t>綠繡眼 </a:t>
                      </a:r>
                      <a:r>
                        <a:rPr lang="en-US" altLang="zh-TW" sz="2000" b="1" dirty="0" err="1" smtClean="0">
                          <a:solidFill>
                            <a:srgbClr val="FF0000"/>
                          </a:solidFill>
                          <a:latin typeface="標楷體" panose="03000509000000000000" pitchFamily="65" charset="-120"/>
                          <a:ea typeface="標楷體" panose="03000509000000000000" pitchFamily="65" charset="-120"/>
                        </a:rPr>
                        <a:t>Zosterops</a:t>
                      </a:r>
                      <a:r>
                        <a:rPr lang="en-US" altLang="zh-TW" sz="2000" b="1" dirty="0" smtClean="0">
                          <a:solidFill>
                            <a:srgbClr val="FF0000"/>
                          </a:solidFill>
                          <a:latin typeface="標楷體" panose="03000509000000000000" pitchFamily="65" charset="-120"/>
                          <a:ea typeface="標楷體" panose="03000509000000000000" pitchFamily="65" charset="-120"/>
                        </a:rPr>
                        <a:t> japonica </a:t>
                      </a:r>
                    </a:p>
                    <a:p>
                      <a:pPr marL="0" indent="0">
                        <a:buNone/>
                      </a:pPr>
                      <a:r>
                        <a:rPr lang="zh-TW" altLang="en-US" sz="2000" b="1" dirty="0" smtClean="0">
                          <a:solidFill>
                            <a:srgbClr val="002060"/>
                          </a:solidFill>
                          <a:latin typeface="標楷體" panose="03000509000000000000" pitchFamily="65" charset="-120"/>
                          <a:ea typeface="標楷體" panose="03000509000000000000" pitchFamily="65" charset="-120"/>
                        </a:rPr>
                        <a:t>常見的都市三俠之一，民間俗稱「青笛仔」，常發出濃濃的鼻音，驕小好動的綠色身影，快速移動枝椏間。</a:t>
                      </a:r>
                      <a:endParaRPr lang="zh-TW" altLang="en-US" sz="2000" dirty="0"/>
                    </a:p>
                  </a:txBody>
                  <a:tcPr>
                    <a:solidFill>
                      <a:srgbClr val="FFEBFF"/>
                    </a:solidFill>
                  </a:tcPr>
                </a:tc>
              </a:tr>
              <a:tr h="1952691">
                <a:tc>
                  <a:txBody>
                    <a:bodyPr/>
                    <a:lstStyle/>
                    <a:p>
                      <a:endParaRPr lang="zh-TW" altLang="en-US" dirty="0"/>
                    </a:p>
                  </a:txBody>
                  <a:tcPr/>
                </a:tc>
                <a:tc>
                  <a:txBody>
                    <a:bodyPr/>
                    <a:lstStyle/>
                    <a:p>
                      <a:pPr marL="0" indent="0">
                        <a:buNone/>
                      </a:pPr>
                      <a:r>
                        <a:rPr lang="zh-TW" altLang="en-US" sz="2000" b="1" dirty="0" smtClean="0">
                          <a:solidFill>
                            <a:srgbClr val="FF0000"/>
                          </a:solidFill>
                          <a:latin typeface="標楷體" panose="03000509000000000000" pitchFamily="65" charset="-120"/>
                          <a:ea typeface="標楷體" panose="03000509000000000000" pitchFamily="65" charset="-120"/>
                        </a:rPr>
                        <a:t>八哥 </a:t>
                      </a:r>
                      <a:r>
                        <a:rPr lang="en-US" altLang="zh-TW" sz="2000" b="1" dirty="0" err="1" smtClean="0">
                          <a:solidFill>
                            <a:srgbClr val="FF0000"/>
                          </a:solidFill>
                          <a:latin typeface="標楷體" panose="03000509000000000000" pitchFamily="65" charset="-120"/>
                          <a:ea typeface="標楷體" panose="03000509000000000000" pitchFamily="65" charset="-120"/>
                        </a:rPr>
                        <a:t>Acridotheres</a:t>
                      </a:r>
                      <a:r>
                        <a:rPr lang="en-US" altLang="zh-TW" sz="2000" b="1" dirty="0" smtClean="0">
                          <a:solidFill>
                            <a:srgbClr val="FF0000"/>
                          </a:solidFill>
                          <a:latin typeface="標楷體" panose="03000509000000000000" pitchFamily="65" charset="-120"/>
                          <a:ea typeface="標楷體" panose="03000509000000000000" pitchFamily="65" charset="-120"/>
                        </a:rPr>
                        <a:t> </a:t>
                      </a:r>
                      <a:r>
                        <a:rPr lang="en-US" altLang="zh-TW" sz="2000" b="1" dirty="0" err="1" smtClean="0">
                          <a:solidFill>
                            <a:srgbClr val="FF0000"/>
                          </a:solidFill>
                          <a:latin typeface="標楷體" panose="03000509000000000000" pitchFamily="65" charset="-120"/>
                          <a:ea typeface="標楷體" panose="03000509000000000000" pitchFamily="65" charset="-120"/>
                        </a:rPr>
                        <a:t>cristatellus</a:t>
                      </a:r>
                      <a:r>
                        <a:rPr lang="en-US" altLang="zh-TW" sz="2000" b="1" dirty="0" smtClean="0">
                          <a:solidFill>
                            <a:srgbClr val="FF0000"/>
                          </a:solidFill>
                          <a:latin typeface="標楷體" panose="03000509000000000000" pitchFamily="65" charset="-120"/>
                          <a:ea typeface="標楷體" panose="03000509000000000000" pitchFamily="65" charset="-120"/>
                        </a:rPr>
                        <a:t> </a:t>
                      </a:r>
                    </a:p>
                    <a:p>
                      <a:pPr marL="0" indent="0">
                        <a:buNone/>
                      </a:pPr>
                      <a:r>
                        <a:rPr lang="zh-TW" altLang="en-US" sz="2000" b="1" dirty="0" smtClean="0">
                          <a:solidFill>
                            <a:srgbClr val="002060"/>
                          </a:solidFill>
                          <a:latin typeface="標楷體" panose="03000509000000000000" pitchFamily="65" charset="-120"/>
                          <a:ea typeface="標楷體" panose="03000509000000000000" pitchFamily="65" charset="-120"/>
                        </a:rPr>
                        <a:t>全身黑色而具有光輝，為群居性的鳥類，生性聒噪、好動、常可在電線桿上，平地發現其蹤跡。</a:t>
                      </a:r>
                      <a:endParaRPr lang="zh-TW" altLang="en-US" sz="2000" dirty="0" smtClean="0"/>
                    </a:p>
                    <a:p>
                      <a:pPr marL="0" indent="0" algn="l" defTabSz="914400" rtl="0" eaLnBrk="1" latinLnBrk="0" hangingPunct="1">
                        <a:buNone/>
                      </a:pPr>
                      <a:endParaRPr lang="zh-TW" altLang="en-US" sz="1800" b="1" kern="1200" dirty="0">
                        <a:solidFill>
                          <a:srgbClr val="002060"/>
                        </a:solidFill>
                        <a:latin typeface="標楷體" panose="03000509000000000000" pitchFamily="65" charset="-120"/>
                        <a:ea typeface="標楷體" panose="03000509000000000000" pitchFamily="65" charset="-120"/>
                        <a:cs typeface="+mn-cs"/>
                      </a:endParaRPr>
                    </a:p>
                  </a:txBody>
                  <a:tcPr/>
                </a:tc>
              </a:tr>
            </a:tbl>
          </a:graphicData>
        </a:graphic>
      </p:graphicFrame>
      <p:sp>
        <p:nvSpPr>
          <p:cNvPr id="2" name="標題 1"/>
          <p:cNvSpPr>
            <a:spLocks noGrp="1"/>
          </p:cNvSpPr>
          <p:nvPr>
            <p:ph type="title"/>
          </p:nvPr>
        </p:nvSpPr>
        <p:spPr>
          <a:xfrm>
            <a:off x="899592" y="0"/>
            <a:ext cx="7560840"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愛河沿岸常見的鳥類</a:t>
            </a:r>
            <a:r>
              <a:rPr lang="en-US" altLang="zh-TW" sz="4800" dirty="0" smtClean="0">
                <a:solidFill>
                  <a:srgbClr val="0070C0"/>
                </a:solidFill>
                <a:latin typeface="標楷體" panose="03000509000000000000" pitchFamily="65" charset="-120"/>
                <a:ea typeface="標楷體" panose="03000509000000000000" pitchFamily="65" charset="-120"/>
              </a:rPr>
              <a:t>〈</a:t>
            </a:r>
            <a:r>
              <a:rPr lang="zh-TW" altLang="en-US" sz="4800" dirty="0" smtClean="0">
                <a:solidFill>
                  <a:srgbClr val="0070C0"/>
                </a:solidFill>
                <a:latin typeface="標楷體" panose="03000509000000000000" pitchFamily="65" charset="-120"/>
                <a:ea typeface="標楷體" panose="03000509000000000000" pitchFamily="65" charset="-120"/>
              </a:rPr>
              <a:t>一</a:t>
            </a:r>
            <a:r>
              <a:rPr lang="en-US" altLang="zh-TW" sz="4800" dirty="0" smtClean="0">
                <a:solidFill>
                  <a:srgbClr val="0070C0"/>
                </a:solidFill>
                <a:latin typeface="標楷體" panose="03000509000000000000" pitchFamily="65" charset="-120"/>
                <a:ea typeface="標楷體" panose="03000509000000000000" pitchFamily="65" charset="-120"/>
              </a:rPr>
              <a:t>〉</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7" name="內容版面配置區 2"/>
          <p:cNvSpPr txBox="1">
            <a:spLocks/>
          </p:cNvSpPr>
          <p:nvPr/>
        </p:nvSpPr>
        <p:spPr>
          <a:xfrm>
            <a:off x="2915816" y="3573016"/>
            <a:ext cx="6336704" cy="316835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8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Clr>
                <a:schemeClr val="tx1"/>
              </a:buClr>
              <a:buFont typeface="Calibri" pitchFamily="34" charset="0"/>
              <a:buChar char="&gt;"/>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9pPr>
          </a:lstStyle>
          <a:p>
            <a:pPr marL="0" indent="712788">
              <a:buNone/>
            </a:pPr>
            <a:endParaRPr lang="zh-TW" altLang="en-US" sz="1800" dirty="0">
              <a:solidFill>
                <a:srgbClr val="002060"/>
              </a:solidFill>
              <a:latin typeface="標楷體" panose="03000509000000000000" pitchFamily="65" charset="-120"/>
              <a:ea typeface="標楷體" panose="03000509000000000000" pitchFamily="65" charset="-120"/>
            </a:endParaRPr>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717" y="938605"/>
            <a:ext cx="2224027" cy="2037209"/>
          </a:xfrm>
          <a:prstGeom prst="rect">
            <a:avLst/>
          </a:prstGeom>
        </p:spPr>
      </p:pic>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157" y="4468362"/>
            <a:ext cx="1619250" cy="2352675"/>
          </a:xfrm>
          <a:prstGeom prst="rect">
            <a:avLst/>
          </a:prstGeom>
        </p:spPr>
      </p:pic>
      <p:pic>
        <p:nvPicPr>
          <p:cNvPr id="8" name="圖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106" y="2780928"/>
            <a:ext cx="2381250" cy="2143125"/>
          </a:xfrm>
          <a:prstGeom prst="rect">
            <a:avLst/>
          </a:prstGeom>
        </p:spPr>
      </p:pic>
    </p:spTree>
    <p:extLst>
      <p:ext uri="{BB962C8B-B14F-4D97-AF65-F5344CB8AC3E}">
        <p14:creationId xmlns:p14="http://schemas.microsoft.com/office/powerpoint/2010/main" val="40216125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p:cNvGraphicFramePr>
            <a:graphicFrameLocks noGrp="1"/>
          </p:cNvGraphicFramePr>
          <p:nvPr>
            <p:extLst>
              <p:ext uri="{D42A27DB-BD31-4B8C-83A1-F6EECF244321}">
                <p14:modId xmlns:p14="http://schemas.microsoft.com/office/powerpoint/2010/main" val="2067392563"/>
              </p:ext>
            </p:extLst>
          </p:nvPr>
        </p:nvGraphicFramePr>
        <p:xfrm>
          <a:off x="323528" y="906700"/>
          <a:ext cx="8712968" cy="5849164"/>
        </p:xfrm>
        <a:graphic>
          <a:graphicData uri="http://schemas.openxmlformats.org/drawingml/2006/table">
            <a:tbl>
              <a:tblPr firstRow="1" bandRow="1">
                <a:tableStyleId>{5C22544A-7EE6-4342-B048-85BDC9FD1C3A}</a:tableStyleId>
              </a:tblPr>
              <a:tblGrid>
                <a:gridCol w="2808312"/>
                <a:gridCol w="5904656"/>
              </a:tblGrid>
              <a:tr h="2306276">
                <a:tc>
                  <a:txBody>
                    <a:bodyPr/>
                    <a:lstStyle/>
                    <a:p>
                      <a:endParaRPr lang="zh-TW" altLang="en-US" dirty="0"/>
                    </a:p>
                  </a:txBody>
                  <a:tcPr>
                    <a:solidFill>
                      <a:srgbClr val="FEECEC"/>
                    </a:solidFill>
                  </a:tcPr>
                </a:tc>
                <a:tc>
                  <a:txBody>
                    <a:bodyPr/>
                    <a:lstStyle/>
                    <a:p>
                      <a:r>
                        <a:rPr lang="zh-TW" altLang="en-US" sz="1800" dirty="0" smtClean="0">
                          <a:solidFill>
                            <a:srgbClr val="FF0000"/>
                          </a:solidFill>
                          <a:latin typeface="標楷體" panose="03000509000000000000" pitchFamily="65" charset="-120"/>
                          <a:ea typeface="標楷體" panose="03000509000000000000" pitchFamily="65" charset="-120"/>
                        </a:rPr>
                        <a:t>麻雀 </a:t>
                      </a:r>
                      <a:r>
                        <a:rPr lang="en-US" altLang="zh-TW" sz="1800" dirty="0" smtClean="0">
                          <a:solidFill>
                            <a:srgbClr val="FF0000"/>
                          </a:solidFill>
                          <a:latin typeface="標楷體" panose="03000509000000000000" pitchFamily="65" charset="-120"/>
                          <a:ea typeface="標楷體" panose="03000509000000000000" pitchFamily="65" charset="-120"/>
                        </a:rPr>
                        <a:t>Passer </a:t>
                      </a:r>
                      <a:r>
                        <a:rPr lang="en-US" altLang="zh-TW" sz="1800" dirty="0" err="1" smtClean="0">
                          <a:solidFill>
                            <a:srgbClr val="FF0000"/>
                          </a:solidFill>
                          <a:latin typeface="標楷體" panose="03000509000000000000" pitchFamily="65" charset="-120"/>
                          <a:ea typeface="標楷體" panose="03000509000000000000" pitchFamily="65" charset="-120"/>
                        </a:rPr>
                        <a:t>montanus</a:t>
                      </a:r>
                      <a:r>
                        <a:rPr lang="en-US" altLang="zh-TW" sz="1800" dirty="0" smtClean="0">
                          <a:solidFill>
                            <a:srgbClr val="FF0000"/>
                          </a:solidFill>
                          <a:latin typeface="標楷體" panose="03000509000000000000" pitchFamily="65" charset="-120"/>
                          <a:ea typeface="標楷體" panose="03000509000000000000" pitchFamily="65" charset="-120"/>
                        </a:rPr>
                        <a:t> </a:t>
                      </a:r>
                    </a:p>
                    <a:p>
                      <a:r>
                        <a:rPr lang="zh-TW" altLang="en-US" sz="1800" dirty="0" smtClean="0">
                          <a:solidFill>
                            <a:srgbClr val="002060"/>
                          </a:solidFill>
                          <a:latin typeface="標楷體" panose="03000509000000000000" pitchFamily="65" charset="-120"/>
                          <a:ea typeface="標楷體" panose="03000509000000000000" pitchFamily="65" charset="-120"/>
                        </a:rPr>
                        <a:t>性群棲，喜歡喧嘩不甚懼人，多築巢於屋簷下，石縫裡；常活動於平地之住家附近，是台灣鳥類中數量最多的一種。</a:t>
                      </a:r>
                      <a:endParaRPr lang="zh-TW" altLang="en-US" sz="2000" dirty="0"/>
                    </a:p>
                  </a:txBody>
                  <a:tcPr>
                    <a:solidFill>
                      <a:srgbClr val="FEECEC"/>
                    </a:solidFill>
                  </a:tcPr>
                </a:tc>
              </a:tr>
              <a:tr h="1296144">
                <a:tc>
                  <a:txBody>
                    <a:bodyPr/>
                    <a:lstStyle/>
                    <a:p>
                      <a:endParaRPr lang="zh-TW" altLang="en-US" dirty="0"/>
                    </a:p>
                  </a:txBody>
                  <a:tcPr>
                    <a:solidFill>
                      <a:srgbClr val="FFFEEB"/>
                    </a:solidFill>
                  </a:tcPr>
                </a:tc>
                <a:tc>
                  <a:txBody>
                    <a:bodyPr/>
                    <a:lstStyle/>
                    <a:p>
                      <a:pPr marL="0" indent="0">
                        <a:buNone/>
                      </a:pPr>
                      <a:r>
                        <a:rPr lang="zh-TW" altLang="en-US" sz="2000" b="1" dirty="0" smtClean="0">
                          <a:solidFill>
                            <a:srgbClr val="FF0000"/>
                          </a:solidFill>
                          <a:latin typeface="標楷體" panose="03000509000000000000" pitchFamily="65" charset="-120"/>
                          <a:ea typeface="標楷體" panose="03000509000000000000" pitchFamily="65" charset="-120"/>
                        </a:rPr>
                        <a:t> 翠鳥 </a:t>
                      </a:r>
                      <a:r>
                        <a:rPr lang="en-US" altLang="zh-TW" sz="2000" b="1" dirty="0" err="1" smtClean="0">
                          <a:solidFill>
                            <a:srgbClr val="FF0000"/>
                          </a:solidFill>
                          <a:latin typeface="標楷體" panose="03000509000000000000" pitchFamily="65" charset="-120"/>
                          <a:ea typeface="標楷體" panose="03000509000000000000" pitchFamily="65" charset="-120"/>
                        </a:rPr>
                        <a:t>Aicedo</a:t>
                      </a:r>
                      <a:r>
                        <a:rPr lang="en-US" altLang="zh-TW" sz="2000" b="1" dirty="0" smtClean="0">
                          <a:solidFill>
                            <a:srgbClr val="FF0000"/>
                          </a:solidFill>
                          <a:latin typeface="標楷體" panose="03000509000000000000" pitchFamily="65" charset="-120"/>
                          <a:ea typeface="標楷體" panose="03000509000000000000" pitchFamily="65" charset="-120"/>
                        </a:rPr>
                        <a:t> </a:t>
                      </a:r>
                      <a:r>
                        <a:rPr lang="en-US" altLang="zh-TW" sz="2000" b="1" dirty="0" err="1" smtClean="0">
                          <a:solidFill>
                            <a:srgbClr val="FF0000"/>
                          </a:solidFill>
                          <a:latin typeface="標楷體" panose="03000509000000000000" pitchFamily="65" charset="-120"/>
                          <a:ea typeface="標楷體" panose="03000509000000000000" pitchFamily="65" charset="-120"/>
                        </a:rPr>
                        <a:t>atthis</a:t>
                      </a:r>
                      <a:r>
                        <a:rPr lang="en-US" altLang="zh-TW" sz="2000" b="1" dirty="0" smtClean="0">
                          <a:solidFill>
                            <a:srgbClr val="FF0000"/>
                          </a:solidFill>
                          <a:latin typeface="標楷體" panose="03000509000000000000" pitchFamily="65" charset="-120"/>
                          <a:ea typeface="標楷體" panose="03000509000000000000" pitchFamily="65" charset="-120"/>
                        </a:rPr>
                        <a:t> </a:t>
                      </a:r>
                    </a:p>
                    <a:p>
                      <a:pPr marL="0" indent="0">
                        <a:buNone/>
                      </a:pPr>
                      <a:r>
                        <a:rPr lang="zh-TW" altLang="en-US" sz="2000" b="1" dirty="0" smtClean="0">
                          <a:solidFill>
                            <a:srgbClr val="002060"/>
                          </a:solidFill>
                          <a:latin typeface="標楷體" panose="03000509000000000000" pitchFamily="65" charset="-120"/>
                          <a:ea typeface="標楷體" panose="03000509000000000000" pitchFamily="65" charset="-120"/>
                        </a:rPr>
                        <a:t>頭上至後頸藍綠色而光澤，背部有著鮮亮的寶藍色羽毛，常貼近水面直線飛行，併發出「唧</a:t>
                      </a:r>
                      <a:r>
                        <a:rPr lang="en-US" altLang="zh-TW" sz="2000" b="1" dirty="0" smtClean="0">
                          <a:solidFill>
                            <a:srgbClr val="002060"/>
                          </a:solidFill>
                          <a:latin typeface="標楷體" panose="03000509000000000000" pitchFamily="65" charset="-120"/>
                          <a:ea typeface="標楷體" panose="03000509000000000000" pitchFamily="65" charset="-120"/>
                        </a:rPr>
                        <a:t>-</a:t>
                      </a:r>
                      <a:r>
                        <a:rPr lang="zh-TW" altLang="en-US" sz="2000" b="1" dirty="0" smtClean="0">
                          <a:solidFill>
                            <a:srgbClr val="002060"/>
                          </a:solidFill>
                          <a:latin typeface="標楷體" panose="03000509000000000000" pitchFamily="65" charset="-120"/>
                          <a:ea typeface="標楷體" panose="03000509000000000000" pitchFamily="65" charset="-120"/>
                        </a:rPr>
                        <a:t>唧</a:t>
                      </a:r>
                      <a:r>
                        <a:rPr lang="en-US" altLang="zh-TW" sz="2000" b="1" dirty="0" smtClean="0">
                          <a:solidFill>
                            <a:srgbClr val="002060"/>
                          </a:solidFill>
                          <a:latin typeface="標楷體" panose="03000509000000000000" pitchFamily="65" charset="-120"/>
                          <a:ea typeface="標楷體" panose="03000509000000000000" pitchFamily="65" charset="-120"/>
                        </a:rPr>
                        <a:t>|-</a:t>
                      </a:r>
                      <a:r>
                        <a:rPr lang="zh-TW" altLang="en-US" sz="2000" b="1" dirty="0" smtClean="0">
                          <a:solidFill>
                            <a:srgbClr val="002060"/>
                          </a:solidFill>
                          <a:latin typeface="標楷體" panose="03000509000000000000" pitchFamily="65" charset="-120"/>
                          <a:ea typeface="標楷體" panose="03000509000000000000" pitchFamily="65" charset="-120"/>
                        </a:rPr>
                        <a:t>」之單音。</a:t>
                      </a:r>
                      <a:endParaRPr lang="zh-TW" altLang="en-US" sz="2000" dirty="0">
                        <a:solidFill>
                          <a:srgbClr val="002060"/>
                        </a:solidFill>
                      </a:endParaRPr>
                    </a:p>
                  </a:txBody>
                  <a:tcPr>
                    <a:solidFill>
                      <a:srgbClr val="FFFEEB"/>
                    </a:solidFill>
                  </a:tcPr>
                </a:tc>
              </a:tr>
              <a:tr h="2232248">
                <a:tc>
                  <a:txBody>
                    <a:bodyPr/>
                    <a:lstStyle/>
                    <a:p>
                      <a:endParaRPr lang="zh-TW" altLang="en-US" dirty="0"/>
                    </a:p>
                  </a:txBody>
                  <a:tcPr>
                    <a:solidFill>
                      <a:srgbClr val="B3EBFF"/>
                    </a:solidFill>
                  </a:tcPr>
                </a:tc>
                <a:tc>
                  <a:txBody>
                    <a:bodyPr/>
                    <a:lstStyle/>
                    <a:p>
                      <a:pPr marL="0" indent="0">
                        <a:buNone/>
                      </a:pPr>
                      <a:r>
                        <a:rPr lang="zh-TW" altLang="en-US" sz="2000" b="1" dirty="0" smtClean="0">
                          <a:solidFill>
                            <a:srgbClr val="FF0000"/>
                          </a:solidFill>
                          <a:latin typeface="標楷體" panose="03000509000000000000" pitchFamily="65" charset="-120"/>
                          <a:ea typeface="標楷體" panose="03000509000000000000" pitchFamily="65" charset="-120"/>
                        </a:rPr>
                        <a:t>小白鷺</a:t>
                      </a:r>
                      <a:r>
                        <a:rPr lang="en-US" altLang="zh-TW" sz="2000" b="1" dirty="0" err="1" smtClean="0">
                          <a:solidFill>
                            <a:srgbClr val="FF0000"/>
                          </a:solidFill>
                          <a:latin typeface="標楷體" panose="03000509000000000000" pitchFamily="65" charset="-120"/>
                          <a:ea typeface="標楷體" panose="03000509000000000000" pitchFamily="65" charset="-120"/>
                        </a:rPr>
                        <a:t>Egretta</a:t>
                      </a:r>
                      <a:r>
                        <a:rPr lang="en-US" altLang="zh-TW" sz="2000" b="1" dirty="0" smtClean="0">
                          <a:solidFill>
                            <a:srgbClr val="FF0000"/>
                          </a:solidFill>
                          <a:latin typeface="標楷體" panose="03000509000000000000" pitchFamily="65" charset="-120"/>
                          <a:ea typeface="標楷體" panose="03000509000000000000" pitchFamily="65" charset="-120"/>
                        </a:rPr>
                        <a:t> </a:t>
                      </a:r>
                      <a:r>
                        <a:rPr lang="en-US" altLang="zh-TW" sz="2000" b="1" dirty="0" err="1" smtClean="0">
                          <a:solidFill>
                            <a:srgbClr val="FF0000"/>
                          </a:solidFill>
                          <a:latin typeface="標楷體" panose="03000509000000000000" pitchFamily="65" charset="-120"/>
                          <a:ea typeface="標楷體" panose="03000509000000000000" pitchFamily="65" charset="-120"/>
                        </a:rPr>
                        <a:t>garzetta</a:t>
                      </a:r>
                      <a:endParaRPr lang="en-US" altLang="zh-TW" sz="2000" b="1" dirty="0" smtClean="0">
                        <a:solidFill>
                          <a:srgbClr val="FF0000"/>
                        </a:solidFill>
                        <a:latin typeface="標楷體" panose="03000509000000000000" pitchFamily="65" charset="-120"/>
                        <a:ea typeface="標楷體" panose="03000509000000000000" pitchFamily="65" charset="-120"/>
                      </a:endParaRPr>
                    </a:p>
                    <a:p>
                      <a:pPr marL="0" indent="0">
                        <a:buNone/>
                      </a:pPr>
                      <a:r>
                        <a:rPr lang="zh-TW" altLang="en-US" sz="2000" b="1" dirty="0" smtClean="0">
                          <a:solidFill>
                            <a:srgbClr val="002060"/>
                          </a:solidFill>
                          <a:latin typeface="標楷體" panose="03000509000000000000" pitchFamily="65" charset="-120"/>
                          <a:ea typeface="標楷體" panose="03000509000000000000" pitchFamily="65" charset="-120"/>
                        </a:rPr>
                        <a:t>小白鷺的嘴和腳都是黑色，但腳掌是黃色的。繁殖時期腦後會長出兩根白色飾羽，背部和腹部也會長出白簑羽，很像新娘的白紗禮服，故又稱為白鷺鷥。</a:t>
                      </a:r>
                      <a:endParaRPr lang="zh-TW" altLang="en-US" sz="1800" b="1" kern="1200" dirty="0">
                        <a:solidFill>
                          <a:srgbClr val="002060"/>
                        </a:solidFill>
                        <a:latin typeface="標楷體" panose="03000509000000000000" pitchFamily="65" charset="-120"/>
                        <a:ea typeface="標楷體" panose="03000509000000000000" pitchFamily="65" charset="-120"/>
                        <a:cs typeface="+mn-cs"/>
                      </a:endParaRPr>
                    </a:p>
                  </a:txBody>
                  <a:tcPr>
                    <a:solidFill>
                      <a:srgbClr val="B3EBFF"/>
                    </a:solidFill>
                  </a:tcPr>
                </a:tc>
              </a:tr>
            </a:tbl>
          </a:graphicData>
        </a:graphic>
      </p:graphicFrame>
      <p:sp>
        <p:nvSpPr>
          <p:cNvPr id="2" name="標題 1"/>
          <p:cNvSpPr>
            <a:spLocks noGrp="1"/>
          </p:cNvSpPr>
          <p:nvPr>
            <p:ph type="title"/>
          </p:nvPr>
        </p:nvSpPr>
        <p:spPr>
          <a:xfrm>
            <a:off x="899592" y="0"/>
            <a:ext cx="7560840"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愛河沿岸常見的鳥類</a:t>
            </a:r>
            <a:r>
              <a:rPr lang="en-US" altLang="zh-TW" sz="4800" dirty="0" smtClean="0">
                <a:solidFill>
                  <a:srgbClr val="0070C0"/>
                </a:solidFill>
                <a:latin typeface="標楷體" panose="03000509000000000000" pitchFamily="65" charset="-120"/>
                <a:ea typeface="標楷體" panose="03000509000000000000" pitchFamily="65" charset="-120"/>
              </a:rPr>
              <a:t>〈</a:t>
            </a:r>
            <a:r>
              <a:rPr lang="zh-TW" altLang="en-US" sz="4800" dirty="0" smtClean="0">
                <a:solidFill>
                  <a:srgbClr val="0070C0"/>
                </a:solidFill>
                <a:latin typeface="標楷體" panose="03000509000000000000" pitchFamily="65" charset="-120"/>
                <a:ea typeface="標楷體" panose="03000509000000000000" pitchFamily="65" charset="-120"/>
              </a:rPr>
              <a:t>二</a:t>
            </a:r>
            <a:r>
              <a:rPr lang="en-US" altLang="zh-TW" sz="4800" dirty="0" smtClean="0">
                <a:solidFill>
                  <a:srgbClr val="0070C0"/>
                </a:solidFill>
                <a:latin typeface="標楷體" panose="03000509000000000000" pitchFamily="65" charset="-120"/>
                <a:ea typeface="標楷體" panose="03000509000000000000" pitchFamily="65" charset="-120"/>
              </a:rPr>
              <a:t>〉</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7" name="內容版面配置區 2"/>
          <p:cNvSpPr txBox="1">
            <a:spLocks/>
          </p:cNvSpPr>
          <p:nvPr/>
        </p:nvSpPr>
        <p:spPr>
          <a:xfrm>
            <a:off x="2915816" y="3573016"/>
            <a:ext cx="6336704" cy="316835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8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Clr>
                <a:schemeClr val="tx1"/>
              </a:buClr>
              <a:buFont typeface="Calibri" pitchFamily="34" charset="0"/>
              <a:buChar char="&gt;"/>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9pPr>
          </a:lstStyle>
          <a:p>
            <a:pPr marL="0" indent="712788">
              <a:buNone/>
            </a:pPr>
            <a:endParaRPr lang="zh-TW" altLang="en-US" sz="1800" dirty="0">
              <a:solidFill>
                <a:srgbClr val="002060"/>
              </a:solidFill>
              <a:latin typeface="標楷體" panose="03000509000000000000" pitchFamily="65" charset="-120"/>
              <a:ea typeface="標楷體" panose="03000509000000000000" pitchFamily="65" charset="-120"/>
            </a:endParaRP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913" y="908720"/>
            <a:ext cx="2381250" cy="2247900"/>
          </a:xfrm>
          <a:prstGeom prst="rect">
            <a:avLst/>
          </a:prstGeo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913" y="3284984"/>
            <a:ext cx="2381250" cy="1266825"/>
          </a:xfrm>
          <a:prstGeom prst="rect">
            <a:avLst/>
          </a:prstGeom>
        </p:spPr>
      </p:pic>
      <p:pic>
        <p:nvPicPr>
          <p:cNvPr id="10" name="圖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3053" y="4626125"/>
            <a:ext cx="2830950" cy="2117550"/>
          </a:xfrm>
          <a:prstGeom prst="rect">
            <a:avLst/>
          </a:prstGeom>
        </p:spPr>
      </p:pic>
    </p:spTree>
    <p:extLst>
      <p:ext uri="{BB962C8B-B14F-4D97-AF65-F5344CB8AC3E}">
        <p14:creationId xmlns:p14="http://schemas.microsoft.com/office/powerpoint/2010/main" val="5498032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p:cNvGraphicFramePr>
            <a:graphicFrameLocks noGrp="1"/>
          </p:cNvGraphicFramePr>
          <p:nvPr>
            <p:extLst>
              <p:ext uri="{D42A27DB-BD31-4B8C-83A1-F6EECF244321}">
                <p14:modId xmlns:p14="http://schemas.microsoft.com/office/powerpoint/2010/main" val="3769092494"/>
              </p:ext>
            </p:extLst>
          </p:nvPr>
        </p:nvGraphicFramePr>
        <p:xfrm>
          <a:off x="323528" y="1196752"/>
          <a:ext cx="8712968" cy="5400600"/>
        </p:xfrm>
        <a:graphic>
          <a:graphicData uri="http://schemas.openxmlformats.org/drawingml/2006/table">
            <a:tbl>
              <a:tblPr firstRow="1" bandRow="1">
                <a:tableStyleId>{5C22544A-7EE6-4342-B048-85BDC9FD1C3A}</a:tableStyleId>
              </a:tblPr>
              <a:tblGrid>
                <a:gridCol w="2808312"/>
                <a:gridCol w="5904656"/>
              </a:tblGrid>
              <a:tr h="2808312">
                <a:tc>
                  <a:txBody>
                    <a:bodyPr/>
                    <a:lstStyle/>
                    <a:p>
                      <a:endParaRPr lang="zh-TW" altLang="en-US" dirty="0"/>
                    </a:p>
                  </a:txBody>
                  <a:tcPr>
                    <a:solidFill>
                      <a:srgbClr val="FEECEC"/>
                    </a:solidFill>
                  </a:tcPr>
                </a:tc>
                <a:tc>
                  <a:txBody>
                    <a:bodyPr/>
                    <a:lstStyle/>
                    <a:p>
                      <a:r>
                        <a:rPr lang="zh-TW" altLang="en-US" sz="2000" dirty="0" smtClean="0">
                          <a:solidFill>
                            <a:srgbClr val="FF0000"/>
                          </a:solidFill>
                          <a:latin typeface="標楷體" panose="03000509000000000000" pitchFamily="65" charset="-120"/>
                          <a:ea typeface="標楷體" panose="03000509000000000000" pitchFamily="65" charset="-120"/>
                        </a:rPr>
                        <a:t>白頭翁 </a:t>
                      </a:r>
                      <a:r>
                        <a:rPr lang="en-US" altLang="zh-TW" sz="2000" dirty="0" err="1" smtClean="0">
                          <a:solidFill>
                            <a:srgbClr val="FF0000"/>
                          </a:solidFill>
                          <a:latin typeface="標楷體" panose="03000509000000000000" pitchFamily="65" charset="-120"/>
                          <a:ea typeface="標楷體" panose="03000509000000000000" pitchFamily="65" charset="-120"/>
                        </a:rPr>
                        <a:t>Pycnonotus</a:t>
                      </a:r>
                      <a:r>
                        <a:rPr lang="en-US" altLang="zh-TW" sz="2000" dirty="0" smtClean="0">
                          <a:solidFill>
                            <a:srgbClr val="FF0000"/>
                          </a:solidFill>
                          <a:latin typeface="標楷體" panose="03000509000000000000" pitchFamily="65" charset="-120"/>
                          <a:ea typeface="標楷體" panose="03000509000000000000" pitchFamily="65" charset="-120"/>
                        </a:rPr>
                        <a:t> </a:t>
                      </a:r>
                      <a:r>
                        <a:rPr lang="en-US" altLang="zh-TW" sz="2000" dirty="0" err="1" smtClean="0">
                          <a:solidFill>
                            <a:srgbClr val="FF0000"/>
                          </a:solidFill>
                          <a:latin typeface="標楷體" panose="03000509000000000000" pitchFamily="65" charset="-120"/>
                          <a:ea typeface="標楷體" panose="03000509000000000000" pitchFamily="65" charset="-120"/>
                        </a:rPr>
                        <a:t>sinensis</a:t>
                      </a:r>
                      <a:r>
                        <a:rPr lang="en-US" altLang="zh-TW" sz="2000" dirty="0" smtClean="0">
                          <a:solidFill>
                            <a:srgbClr val="FF0000"/>
                          </a:solidFill>
                          <a:latin typeface="標楷體" panose="03000509000000000000" pitchFamily="65" charset="-120"/>
                          <a:ea typeface="標楷體" panose="03000509000000000000" pitchFamily="65" charset="-120"/>
                        </a:rPr>
                        <a:t> </a:t>
                      </a:r>
                    </a:p>
                    <a:p>
                      <a:r>
                        <a:rPr lang="zh-TW" altLang="en-US" sz="2000" dirty="0" smtClean="0">
                          <a:solidFill>
                            <a:srgbClr val="002060"/>
                          </a:solidFill>
                          <a:latin typeface="標楷體" panose="03000509000000000000" pitchFamily="65" charset="-120"/>
                          <a:ea typeface="標楷體" panose="03000509000000000000" pitchFamily="65" charset="-120"/>
                        </a:rPr>
                        <a:t>通常分布在平地至中海拔中層之樹林，鳴叫聲嘹喨且富變化似「巧克力、巧克力」之聲。俗稱為白頭殼仔。</a:t>
                      </a:r>
                      <a:endParaRPr lang="zh-TW" altLang="en-US" sz="2000" dirty="0">
                        <a:solidFill>
                          <a:srgbClr val="002060"/>
                        </a:solidFill>
                      </a:endParaRPr>
                    </a:p>
                  </a:txBody>
                  <a:tcPr>
                    <a:solidFill>
                      <a:srgbClr val="FEECEC"/>
                    </a:solidFill>
                  </a:tcPr>
                </a:tc>
              </a:tr>
              <a:tr h="2592288">
                <a:tc>
                  <a:txBody>
                    <a:bodyPr/>
                    <a:lstStyle/>
                    <a:p>
                      <a:endParaRPr lang="zh-TW" altLang="en-US" dirty="0"/>
                    </a:p>
                  </a:txBody>
                  <a:tcPr>
                    <a:solidFill>
                      <a:srgbClr val="B3EBFF"/>
                    </a:solidFill>
                  </a:tcPr>
                </a:tc>
                <a:tc>
                  <a:txBody>
                    <a:bodyPr/>
                    <a:lstStyle/>
                    <a:p>
                      <a:pPr marL="0" indent="0">
                        <a:buNone/>
                      </a:pPr>
                      <a:r>
                        <a:rPr lang="zh-TW" altLang="en-US" sz="2000" b="1" dirty="0" smtClean="0">
                          <a:solidFill>
                            <a:srgbClr val="FF0000"/>
                          </a:solidFill>
                          <a:latin typeface="標楷體" panose="03000509000000000000" pitchFamily="65" charset="-120"/>
                          <a:ea typeface="標楷體" panose="03000509000000000000" pitchFamily="65" charset="-120"/>
                        </a:rPr>
                        <a:t>藍磯鶇 </a:t>
                      </a:r>
                      <a:r>
                        <a:rPr lang="en-US" altLang="zh-TW" sz="2000" b="1" dirty="0" err="1" smtClean="0">
                          <a:solidFill>
                            <a:srgbClr val="FF0000"/>
                          </a:solidFill>
                          <a:latin typeface="標楷體" panose="03000509000000000000" pitchFamily="65" charset="-120"/>
                          <a:ea typeface="標楷體" panose="03000509000000000000" pitchFamily="65" charset="-120"/>
                        </a:rPr>
                        <a:t>Monticola</a:t>
                      </a:r>
                      <a:r>
                        <a:rPr lang="en-US" altLang="zh-TW" sz="2000" b="1" dirty="0" smtClean="0">
                          <a:solidFill>
                            <a:srgbClr val="FF0000"/>
                          </a:solidFill>
                          <a:latin typeface="標楷體" panose="03000509000000000000" pitchFamily="65" charset="-120"/>
                          <a:ea typeface="標楷體" panose="03000509000000000000" pitchFamily="65" charset="-120"/>
                        </a:rPr>
                        <a:t> </a:t>
                      </a:r>
                      <a:r>
                        <a:rPr lang="en-US" altLang="zh-TW" sz="2000" b="1" dirty="0" err="1" smtClean="0">
                          <a:solidFill>
                            <a:srgbClr val="FF0000"/>
                          </a:solidFill>
                          <a:latin typeface="標楷體" panose="03000509000000000000" pitchFamily="65" charset="-120"/>
                          <a:ea typeface="標楷體" panose="03000509000000000000" pitchFamily="65" charset="-120"/>
                        </a:rPr>
                        <a:t>solitarius</a:t>
                      </a:r>
                      <a:r>
                        <a:rPr lang="en-US" altLang="zh-TW" sz="2000" b="1" dirty="0" smtClean="0">
                          <a:solidFill>
                            <a:srgbClr val="FF0000"/>
                          </a:solidFill>
                          <a:latin typeface="標楷體" panose="03000509000000000000" pitchFamily="65" charset="-120"/>
                          <a:ea typeface="標楷體" panose="03000509000000000000" pitchFamily="65" charset="-120"/>
                        </a:rPr>
                        <a:t> </a:t>
                      </a:r>
                    </a:p>
                    <a:p>
                      <a:pPr marL="0" indent="0">
                        <a:buNone/>
                      </a:pPr>
                      <a:r>
                        <a:rPr lang="zh-TW" altLang="en-US" sz="2000" b="1" dirty="0" smtClean="0">
                          <a:solidFill>
                            <a:srgbClr val="002060"/>
                          </a:solidFill>
                          <a:latin typeface="標楷體" panose="03000509000000000000" pitchFamily="65" charset="-120"/>
                          <a:ea typeface="標楷體" panose="03000509000000000000" pitchFamily="65" charset="-120"/>
                        </a:rPr>
                        <a:t>雄鳥體色大致為深藍色，腹部為栗紅色；雌鳥全身為灰褐色，體下有鱗狀斑紋。通常喜歡停棲於屋頂、岩石或其他突出之處，停棲時身體挺直，且會上下擺動尾羽。</a:t>
                      </a:r>
                      <a:endParaRPr lang="zh-TW" altLang="en-US" sz="1800" b="1" kern="1200" dirty="0">
                        <a:solidFill>
                          <a:srgbClr val="002060"/>
                        </a:solidFill>
                        <a:latin typeface="標楷體" panose="03000509000000000000" pitchFamily="65" charset="-120"/>
                        <a:ea typeface="標楷體" panose="03000509000000000000" pitchFamily="65" charset="-120"/>
                        <a:cs typeface="+mn-cs"/>
                      </a:endParaRPr>
                    </a:p>
                  </a:txBody>
                  <a:tcPr>
                    <a:solidFill>
                      <a:srgbClr val="B3EBFF"/>
                    </a:solidFill>
                  </a:tcPr>
                </a:tc>
              </a:tr>
            </a:tbl>
          </a:graphicData>
        </a:graphic>
      </p:graphicFrame>
      <p:sp>
        <p:nvSpPr>
          <p:cNvPr id="2" name="標題 1"/>
          <p:cNvSpPr>
            <a:spLocks noGrp="1"/>
          </p:cNvSpPr>
          <p:nvPr>
            <p:ph type="title"/>
          </p:nvPr>
        </p:nvSpPr>
        <p:spPr>
          <a:xfrm>
            <a:off x="899592" y="0"/>
            <a:ext cx="7560840"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愛河沿岸常見的鳥類</a:t>
            </a:r>
            <a:r>
              <a:rPr lang="en-US" altLang="zh-TW" sz="4800" dirty="0" smtClean="0">
                <a:solidFill>
                  <a:srgbClr val="0070C0"/>
                </a:solidFill>
                <a:latin typeface="標楷體" panose="03000509000000000000" pitchFamily="65" charset="-120"/>
                <a:ea typeface="標楷體" panose="03000509000000000000" pitchFamily="65" charset="-120"/>
              </a:rPr>
              <a:t>〈</a:t>
            </a:r>
            <a:r>
              <a:rPr lang="zh-TW" altLang="en-US" sz="4800" dirty="0" smtClean="0">
                <a:solidFill>
                  <a:srgbClr val="0070C0"/>
                </a:solidFill>
                <a:latin typeface="標楷體" panose="03000509000000000000" pitchFamily="65" charset="-120"/>
                <a:ea typeface="標楷體" panose="03000509000000000000" pitchFamily="65" charset="-120"/>
              </a:rPr>
              <a:t>三</a:t>
            </a:r>
            <a:r>
              <a:rPr lang="en-US" altLang="zh-TW" sz="4800" dirty="0" smtClean="0">
                <a:solidFill>
                  <a:srgbClr val="0070C0"/>
                </a:solidFill>
                <a:latin typeface="標楷體" panose="03000509000000000000" pitchFamily="65" charset="-120"/>
                <a:ea typeface="標楷體" panose="03000509000000000000" pitchFamily="65" charset="-120"/>
              </a:rPr>
              <a:t>〉</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7" name="內容版面配置區 2"/>
          <p:cNvSpPr txBox="1">
            <a:spLocks/>
          </p:cNvSpPr>
          <p:nvPr/>
        </p:nvSpPr>
        <p:spPr>
          <a:xfrm>
            <a:off x="2915816" y="3573016"/>
            <a:ext cx="6336704" cy="316835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8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Clr>
                <a:schemeClr val="tx1"/>
              </a:buClr>
              <a:buFont typeface="Calibri" pitchFamily="34" charset="0"/>
              <a:buChar char="&gt;"/>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9pPr>
          </a:lstStyle>
          <a:p>
            <a:pPr marL="0" indent="712788">
              <a:buNone/>
            </a:pPr>
            <a:endParaRPr lang="zh-TW" altLang="en-US" sz="1800" dirty="0">
              <a:solidFill>
                <a:srgbClr val="002060"/>
              </a:solidFill>
              <a:latin typeface="標楷體" panose="03000509000000000000" pitchFamily="65" charset="-120"/>
              <a:ea typeface="標楷體" panose="03000509000000000000" pitchFamily="65" charset="-120"/>
            </a:endParaRPr>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732" y="1196752"/>
            <a:ext cx="2381250" cy="2800350"/>
          </a:xfrm>
          <a:prstGeom prst="rect">
            <a:avLst/>
          </a:prstGeom>
        </p:spPr>
      </p:pic>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70" y="3997102"/>
            <a:ext cx="2381250" cy="2581275"/>
          </a:xfrm>
          <a:prstGeom prst="rect">
            <a:avLst/>
          </a:prstGeom>
        </p:spPr>
      </p:pic>
    </p:spTree>
    <p:extLst>
      <p:ext uri="{BB962C8B-B14F-4D97-AF65-F5344CB8AC3E}">
        <p14:creationId xmlns:p14="http://schemas.microsoft.com/office/powerpoint/2010/main" val="40671321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9243" y="0"/>
            <a:ext cx="6336704" cy="936104"/>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愛河的環境</a:t>
            </a:r>
            <a:r>
              <a:rPr lang="zh-TW" altLang="en-US" sz="4800" dirty="0" smtClean="0">
                <a:solidFill>
                  <a:srgbClr val="0070C0"/>
                </a:solidFill>
                <a:latin typeface="標楷體" panose="03000509000000000000" pitchFamily="65" charset="-120"/>
                <a:ea typeface="標楷體" panose="03000509000000000000" pitchFamily="65" charset="-120"/>
              </a:rPr>
              <a:t>危機─前言</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467544" y="1124744"/>
            <a:ext cx="8208912" cy="4968552"/>
          </a:xfrm>
        </p:spPr>
        <p:txBody>
          <a:bodyPr>
            <a:normAutofit/>
          </a:bodyPr>
          <a:lstStyle/>
          <a:p>
            <a:pPr marL="0" indent="0">
              <a:buNone/>
            </a:pPr>
            <a:r>
              <a:rPr lang="zh-TW" altLang="en-US" sz="2600" dirty="0">
                <a:solidFill>
                  <a:srgbClr val="002060"/>
                </a:solidFill>
                <a:latin typeface="標楷體" panose="03000509000000000000" pitchFamily="65" charset="-120"/>
                <a:ea typeface="標楷體" panose="03000509000000000000" pitchFamily="65" charset="-120"/>
              </a:rPr>
              <a:t>究竟，愛河是怎麼變色的？</a:t>
            </a:r>
          </a:p>
          <a:p>
            <a:pPr marL="0" indent="0">
              <a:buNone/>
            </a:pPr>
            <a:r>
              <a:rPr lang="zh-TW" altLang="en-US" sz="2600" dirty="0">
                <a:solidFill>
                  <a:srgbClr val="002060"/>
                </a:solidFill>
                <a:latin typeface="標楷體" panose="03000509000000000000" pitchFamily="65" charset="-120"/>
                <a:ea typeface="標楷體" panose="03000509000000000000" pitchFamily="65" charset="-120"/>
              </a:rPr>
              <a:t>我們到底對他做了什麼事</a:t>
            </a:r>
            <a:r>
              <a:rPr lang="zh-TW" altLang="en-US" sz="2600" dirty="0" smtClean="0">
                <a:solidFill>
                  <a:srgbClr val="002060"/>
                </a:solidFill>
                <a:latin typeface="標楷體" panose="03000509000000000000" pitchFamily="65" charset="-120"/>
                <a:ea typeface="標楷體" panose="03000509000000000000" pitchFamily="65" charset="-120"/>
              </a:rPr>
              <a:t>？</a:t>
            </a:r>
            <a:endParaRPr lang="en-US" altLang="zh-TW" sz="2600" dirty="0" smtClean="0">
              <a:solidFill>
                <a:srgbClr val="002060"/>
              </a:solidFill>
              <a:latin typeface="標楷體" panose="03000509000000000000" pitchFamily="65" charset="-120"/>
              <a:ea typeface="標楷體" panose="03000509000000000000" pitchFamily="65" charset="-120"/>
            </a:endParaRPr>
          </a:p>
          <a:p>
            <a:pPr marL="0" indent="0">
              <a:buNone/>
            </a:pPr>
            <a:r>
              <a:rPr lang="zh-TW" altLang="en-US" sz="2600" dirty="0">
                <a:solidFill>
                  <a:srgbClr val="002060"/>
                </a:solidFill>
                <a:latin typeface="標楷體" panose="03000509000000000000" pitchFamily="65" charset="-120"/>
                <a:ea typeface="標楷體" panose="03000509000000000000" pitchFamily="65" charset="-120"/>
              </a:rPr>
              <a:t>如何判斷一條河是死還是活，很簡單，就從它的「自淨能力」判斷即可。而「自淨能力」是什麼呢</a:t>
            </a:r>
            <a:r>
              <a:rPr lang="zh-TW" altLang="en-US" sz="2600" dirty="0" smtClean="0">
                <a:solidFill>
                  <a:srgbClr val="002060"/>
                </a:solidFill>
                <a:latin typeface="標楷體" panose="03000509000000000000" pitchFamily="65" charset="-120"/>
                <a:ea typeface="標楷體" panose="03000509000000000000" pitchFamily="65" charset="-120"/>
              </a:rPr>
              <a:t>？就是</a:t>
            </a:r>
            <a:r>
              <a:rPr lang="zh-TW" altLang="en-US" sz="2600" dirty="0">
                <a:solidFill>
                  <a:srgbClr val="002060"/>
                </a:solidFill>
                <a:latin typeface="標楷體" panose="03000509000000000000" pitchFamily="65" charset="-120"/>
                <a:ea typeface="標楷體" panose="03000509000000000000" pitchFamily="65" charset="-120"/>
              </a:rPr>
              <a:t>「</a:t>
            </a:r>
            <a:r>
              <a:rPr lang="zh-TW" altLang="en-US" sz="2600" dirty="0" smtClean="0">
                <a:solidFill>
                  <a:srgbClr val="002060"/>
                </a:solidFill>
                <a:latin typeface="標楷體" panose="03000509000000000000" pitchFamily="65" charset="-120"/>
                <a:ea typeface="標楷體" panose="03000509000000000000" pitchFamily="65" charset="-120"/>
              </a:rPr>
              <a:t>河川自己</a:t>
            </a:r>
            <a:r>
              <a:rPr lang="zh-TW" altLang="en-US" sz="2600" dirty="0">
                <a:solidFill>
                  <a:srgbClr val="002060"/>
                </a:solidFill>
                <a:latin typeface="標楷體" panose="03000509000000000000" pitchFamily="65" charset="-120"/>
                <a:ea typeface="標楷體" panose="03000509000000000000" pitchFamily="65" charset="-120"/>
              </a:rPr>
              <a:t>清潔自己」的能力</a:t>
            </a:r>
            <a:r>
              <a:rPr lang="zh-TW" altLang="en-US" sz="2600" dirty="0" smtClean="0">
                <a:solidFill>
                  <a:srgbClr val="002060"/>
                </a:solidFill>
                <a:latin typeface="標楷體" panose="03000509000000000000" pitchFamily="65" charset="-120"/>
                <a:ea typeface="標楷體" panose="03000509000000000000" pitchFamily="65" charset="-120"/>
              </a:rPr>
              <a:t>。而愛河</a:t>
            </a:r>
            <a:r>
              <a:rPr lang="zh-TW" altLang="en-US" sz="2600" dirty="0">
                <a:solidFill>
                  <a:srgbClr val="002060"/>
                </a:solidFill>
                <a:latin typeface="標楷體" panose="03000509000000000000" pitchFamily="65" charset="-120"/>
                <a:ea typeface="標楷體" panose="03000509000000000000" pitchFamily="65" charset="-120"/>
              </a:rPr>
              <a:t>的出海口就是高雄港，港邊的潮汐變化相當明顯，而愛河主要就是利用這潮汐變化，所帶來的海水流動，進行下游（治平橋以下）的河川淨化。 由此可知愛河的自淨功能其實並不強大，只能依靠</a:t>
            </a:r>
            <a:r>
              <a:rPr lang="zh-TW" altLang="en-US" sz="2600" dirty="0" smtClean="0">
                <a:solidFill>
                  <a:srgbClr val="002060"/>
                </a:solidFill>
                <a:latin typeface="標楷體" panose="03000509000000000000" pitchFamily="65" charset="-120"/>
                <a:ea typeface="標楷體" panose="03000509000000000000" pitchFamily="65" charset="-120"/>
              </a:rPr>
              <a:t>上游</a:t>
            </a:r>
            <a:r>
              <a:rPr lang="zh-TW" altLang="en-US" sz="2600" dirty="0">
                <a:solidFill>
                  <a:srgbClr val="002060"/>
                </a:solidFill>
                <a:latin typeface="標楷體" panose="03000509000000000000" pitchFamily="65" charset="-120"/>
                <a:ea typeface="標楷體" panose="03000509000000000000" pitchFamily="65" charset="-120"/>
              </a:rPr>
              <a:t>稀少</a:t>
            </a:r>
            <a:r>
              <a:rPr lang="zh-TW" altLang="en-US" sz="2600" dirty="0" smtClean="0">
                <a:solidFill>
                  <a:srgbClr val="002060"/>
                </a:solidFill>
                <a:latin typeface="標楷體" panose="03000509000000000000" pitchFamily="65" charset="-120"/>
                <a:ea typeface="標楷體" panose="03000509000000000000" pitchFamily="65" charset="-120"/>
              </a:rPr>
              <a:t>的下</a:t>
            </a:r>
            <a:r>
              <a:rPr lang="zh-TW" altLang="en-US" sz="2600" dirty="0">
                <a:solidFill>
                  <a:srgbClr val="002060"/>
                </a:solidFill>
                <a:latin typeface="標楷體" panose="03000509000000000000" pitchFamily="65" charset="-120"/>
                <a:ea typeface="標楷體" panose="03000509000000000000" pitchFamily="65" charset="-120"/>
              </a:rPr>
              <a:t>雨量，和下游的潮汐變化</a:t>
            </a:r>
            <a:r>
              <a:rPr lang="zh-TW" altLang="en-US" sz="2600" dirty="0" smtClean="0">
                <a:solidFill>
                  <a:srgbClr val="002060"/>
                </a:solidFill>
                <a:latin typeface="標楷體" panose="03000509000000000000" pitchFamily="65" charset="-120"/>
                <a:ea typeface="標楷體" panose="03000509000000000000" pitchFamily="65" charset="-120"/>
              </a:rPr>
              <a:t>。</a:t>
            </a:r>
            <a:endParaRPr lang="en-US" altLang="zh-TW" sz="2600" dirty="0" smtClean="0">
              <a:solidFill>
                <a:srgbClr val="002060"/>
              </a:solidFill>
              <a:latin typeface="標楷體" panose="03000509000000000000" pitchFamily="65" charset="-120"/>
              <a:ea typeface="標楷體" panose="03000509000000000000" pitchFamily="65" charset="-120"/>
            </a:endParaRPr>
          </a:p>
          <a:p>
            <a:pPr marL="0" indent="0">
              <a:buNone/>
            </a:pPr>
            <a:r>
              <a:rPr lang="zh-TW" altLang="en-US" sz="2600" dirty="0">
                <a:solidFill>
                  <a:srgbClr val="FF0000"/>
                </a:solidFill>
                <a:latin typeface="標楷體" panose="03000509000000000000" pitchFamily="65" charset="-120"/>
                <a:ea typeface="標楷體" panose="03000509000000000000" pitchFamily="65" charset="-120"/>
              </a:rPr>
              <a:t>愛河的自淨能力是有限的，所以最後愛河河裡頭，越來越多排不掉的污染物，污染也就越來越嚴重了。</a:t>
            </a:r>
          </a:p>
        </p:txBody>
      </p:sp>
    </p:spTree>
    <p:extLst>
      <p:ext uri="{BB962C8B-B14F-4D97-AF65-F5344CB8AC3E}">
        <p14:creationId xmlns:p14="http://schemas.microsoft.com/office/powerpoint/2010/main" val="23496188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2120" y="4929758"/>
            <a:ext cx="2304256" cy="1728192"/>
          </a:xfrm>
          <a:prstGeom prst="rect">
            <a:avLst/>
          </a:prstGeom>
        </p:spPr>
      </p:pic>
      <p:sp>
        <p:nvSpPr>
          <p:cNvPr id="2" name="標題 1"/>
          <p:cNvSpPr>
            <a:spLocks noGrp="1"/>
          </p:cNvSpPr>
          <p:nvPr>
            <p:ph type="title"/>
          </p:nvPr>
        </p:nvSpPr>
        <p:spPr>
          <a:xfrm>
            <a:off x="323528" y="0"/>
            <a:ext cx="8820471" cy="936104"/>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愛河的環境危機─家庭工業污水</a:t>
            </a:r>
          </a:p>
        </p:txBody>
      </p:sp>
      <p:sp>
        <p:nvSpPr>
          <p:cNvPr id="3" name="內容版面配置區 2"/>
          <p:cNvSpPr>
            <a:spLocks noGrp="1"/>
          </p:cNvSpPr>
          <p:nvPr>
            <p:ph idx="1"/>
          </p:nvPr>
        </p:nvSpPr>
        <p:spPr>
          <a:xfrm>
            <a:off x="539552" y="1052736"/>
            <a:ext cx="8208912" cy="4320480"/>
          </a:xfrm>
        </p:spPr>
        <p:txBody>
          <a:bodyPr>
            <a:normAutofit fontScale="92500"/>
          </a:bodyPr>
          <a:lstStyle/>
          <a:p>
            <a:pPr marL="0" indent="542925">
              <a:buNone/>
            </a:pPr>
            <a:r>
              <a:rPr lang="zh-TW" altLang="en-US" sz="2600" dirty="0">
                <a:solidFill>
                  <a:srgbClr val="002060"/>
                </a:solidFill>
                <a:latin typeface="標楷體" panose="03000509000000000000" pitchFamily="65" charset="-120"/>
                <a:ea typeface="標楷體" panose="03000509000000000000" pitchFamily="65" charset="-120"/>
              </a:rPr>
              <a:t>從日治時期開始，因為愛河優良的運輸功能，所以讓愛河中游腹地升格為工業區。也因此帶動了附近的工商業活動，有越來越多的 皮革、造紙、食品等加工廠紛紛在河岸旁成立。相對的，越多的工廠，也就代表著越多的垃圾、工業廢水。而這些污染源也就跟著直接排放進入愛河了</a:t>
            </a:r>
            <a:r>
              <a:rPr lang="zh-TW" altLang="en-US" sz="2600" dirty="0" smtClean="0">
                <a:solidFill>
                  <a:srgbClr val="002060"/>
                </a:solidFill>
                <a:latin typeface="標楷體" panose="03000509000000000000" pitchFamily="65" charset="-120"/>
                <a:ea typeface="標楷體" panose="03000509000000000000" pitchFamily="65" charset="-120"/>
              </a:rPr>
              <a:t>。</a:t>
            </a:r>
            <a:endParaRPr lang="zh-TW" altLang="en-US" sz="2600" dirty="0">
              <a:solidFill>
                <a:srgbClr val="002060"/>
              </a:solidFill>
              <a:latin typeface="標楷體" panose="03000509000000000000" pitchFamily="65" charset="-120"/>
              <a:ea typeface="標楷體" panose="03000509000000000000" pitchFamily="65" charset="-120"/>
            </a:endParaRPr>
          </a:p>
          <a:p>
            <a:pPr marL="0" indent="0">
              <a:buNone/>
            </a:pPr>
            <a:r>
              <a:rPr lang="zh-TW" altLang="en-US" sz="2600" dirty="0">
                <a:solidFill>
                  <a:srgbClr val="002060"/>
                </a:solidFill>
                <a:latin typeface="標楷體" panose="03000509000000000000" pitchFamily="65" charset="-120"/>
                <a:ea typeface="標楷體" panose="03000509000000000000" pitchFamily="65" charset="-120"/>
              </a:rPr>
              <a:t>　　另一個污染則是家庭廢水的排放。愛河流域涵蓋高雄市面積的</a:t>
            </a:r>
            <a:r>
              <a:rPr lang="en-US" altLang="zh-TW" sz="2600" dirty="0">
                <a:solidFill>
                  <a:srgbClr val="002060"/>
                </a:solidFill>
                <a:latin typeface="標楷體" panose="03000509000000000000" pitchFamily="65" charset="-120"/>
                <a:ea typeface="標楷體" panose="03000509000000000000" pitchFamily="65" charset="-120"/>
              </a:rPr>
              <a:t>40</a:t>
            </a:r>
            <a:r>
              <a:rPr lang="zh-TW" altLang="en-US" sz="2600" dirty="0">
                <a:solidFill>
                  <a:srgbClr val="002060"/>
                </a:solidFill>
                <a:latin typeface="標楷體" panose="03000509000000000000" pitchFamily="65" charset="-120"/>
                <a:ea typeface="標楷體" panose="03000509000000000000" pitchFamily="65" charset="-120"/>
              </a:rPr>
              <a:t>％，是高雄市最重要的洩洪道。也就是說只要是高雄市愛河流域的居民，家中用的洗澡水、洗衣水、如廁後的廢水</a:t>
            </a:r>
            <a:r>
              <a:rPr lang="en-US" altLang="zh-TW" sz="2600" dirty="0">
                <a:solidFill>
                  <a:srgbClr val="002060"/>
                </a:solidFill>
                <a:latin typeface="標楷體" panose="03000509000000000000" pitchFamily="65" charset="-120"/>
                <a:ea typeface="標楷體" panose="03000509000000000000" pitchFamily="65" charset="-120"/>
              </a:rPr>
              <a:t>......</a:t>
            </a:r>
            <a:r>
              <a:rPr lang="zh-TW" altLang="en-US" sz="2600" dirty="0">
                <a:solidFill>
                  <a:srgbClr val="002060"/>
                </a:solidFill>
                <a:latin typeface="標楷體" panose="03000509000000000000" pitchFamily="65" charset="-120"/>
                <a:ea typeface="標楷體" panose="03000509000000000000" pitchFamily="65" charset="-120"/>
              </a:rPr>
              <a:t>等，唯一的去處就只有愛河這個洩洪道，而這麼多廢水只能靠愛河來沖淡它，或是順著愛河帶到海裡，不然這些污染物就會沈澱在愛河底。</a:t>
            </a:r>
            <a:endParaRPr lang="zh-TW" altLang="en-US" sz="2600" dirty="0">
              <a:solidFill>
                <a:srgbClr val="FF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2876769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2080" y="4463365"/>
            <a:ext cx="3333750" cy="23812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標題 1"/>
          <p:cNvSpPr>
            <a:spLocks noGrp="1"/>
          </p:cNvSpPr>
          <p:nvPr>
            <p:ph type="title"/>
          </p:nvPr>
        </p:nvSpPr>
        <p:spPr>
          <a:xfrm>
            <a:off x="323528" y="0"/>
            <a:ext cx="8820471" cy="936104"/>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早期對愛河污染問題的處理</a:t>
            </a:r>
          </a:p>
        </p:txBody>
      </p:sp>
      <p:sp>
        <p:nvSpPr>
          <p:cNvPr id="3" name="內容版面配置區 2"/>
          <p:cNvSpPr>
            <a:spLocks noGrp="1"/>
          </p:cNvSpPr>
          <p:nvPr>
            <p:ph idx="1"/>
          </p:nvPr>
        </p:nvSpPr>
        <p:spPr>
          <a:xfrm>
            <a:off x="539552" y="1052736"/>
            <a:ext cx="8208912" cy="4320480"/>
          </a:xfrm>
        </p:spPr>
        <p:txBody>
          <a:bodyPr>
            <a:normAutofit fontScale="92500" lnSpcReduction="20000"/>
          </a:bodyPr>
          <a:lstStyle/>
          <a:p>
            <a:pPr marL="0" indent="542925">
              <a:buNone/>
            </a:pPr>
            <a:r>
              <a:rPr lang="zh-TW" altLang="en-US" sz="2600" dirty="0">
                <a:solidFill>
                  <a:srgbClr val="002060"/>
                </a:solidFill>
                <a:latin typeface="標楷體" panose="03000509000000000000" pitchFamily="65" charset="-120"/>
                <a:ea typeface="標楷體" panose="03000509000000000000" pitchFamily="65" charset="-120"/>
              </a:rPr>
              <a:t>早期高雄只是延續日據時期的作法，闢建衛生下水道以排水防洪為主。雨水、家庭污水、工業廢水及農業餘水依舊共同排入愛河。過量的污染使愛河的自淨功能逐漸消失，愛河只有一年比一年的髒臭。</a:t>
            </a:r>
            <a:r>
              <a:rPr lang="en-US" altLang="zh-TW" sz="2600" dirty="0">
                <a:solidFill>
                  <a:srgbClr val="002060"/>
                </a:solidFill>
                <a:latin typeface="標楷體" panose="03000509000000000000" pitchFamily="65" charset="-120"/>
                <a:ea typeface="標楷體" panose="03000509000000000000" pitchFamily="65" charset="-120"/>
              </a:rPr>
              <a:t>1971</a:t>
            </a:r>
            <a:r>
              <a:rPr lang="zh-TW" altLang="en-US" sz="2600" dirty="0">
                <a:solidFill>
                  <a:srgbClr val="002060"/>
                </a:solidFill>
                <a:latin typeface="標楷體" panose="03000509000000000000" pitchFamily="65" charset="-120"/>
                <a:ea typeface="標楷體" panose="03000509000000000000" pitchFamily="65" charset="-120"/>
              </a:rPr>
              <a:t>年愛河終於因市民的不知愛惜，揮霍無度，而正式宣告死亡</a:t>
            </a:r>
            <a:r>
              <a:rPr lang="zh-TW" altLang="en-US" sz="2600" dirty="0" smtClean="0">
                <a:solidFill>
                  <a:srgbClr val="002060"/>
                </a:solidFill>
                <a:latin typeface="標楷體" panose="03000509000000000000" pitchFamily="65" charset="-120"/>
                <a:ea typeface="標楷體" panose="03000509000000000000" pitchFamily="65" charset="-120"/>
              </a:rPr>
              <a:t>。</a:t>
            </a:r>
            <a:endParaRPr lang="zh-TW" altLang="en-US" sz="2600" dirty="0">
              <a:solidFill>
                <a:srgbClr val="002060"/>
              </a:solidFill>
              <a:latin typeface="標楷體" panose="03000509000000000000" pitchFamily="65" charset="-120"/>
              <a:ea typeface="標楷體" panose="03000509000000000000" pitchFamily="65" charset="-120"/>
            </a:endParaRPr>
          </a:p>
          <a:p>
            <a:pPr marL="0" indent="542925">
              <a:buNone/>
            </a:pPr>
            <a:r>
              <a:rPr lang="zh-TW" altLang="en-US" sz="2600" dirty="0">
                <a:solidFill>
                  <a:srgbClr val="002060"/>
                </a:solidFill>
                <a:latin typeface="標楷體" panose="03000509000000000000" pitchFamily="65" charset="-120"/>
                <a:ea typeface="標楷體" panose="03000509000000000000" pitchFamily="65" charset="-120"/>
              </a:rPr>
              <a:t>　　早在</a:t>
            </a:r>
            <a:r>
              <a:rPr lang="en-US" altLang="zh-TW" sz="2600" dirty="0">
                <a:solidFill>
                  <a:srgbClr val="002060"/>
                </a:solidFill>
                <a:latin typeface="標楷體" panose="03000509000000000000" pitchFamily="65" charset="-120"/>
                <a:ea typeface="標楷體" panose="03000509000000000000" pitchFamily="65" charset="-120"/>
              </a:rPr>
              <a:t>1968</a:t>
            </a:r>
            <a:r>
              <a:rPr lang="zh-TW" altLang="en-US" sz="2600" dirty="0">
                <a:solidFill>
                  <a:srgbClr val="002060"/>
                </a:solidFill>
                <a:latin typeface="標楷體" panose="03000509000000000000" pitchFamily="65" charset="-120"/>
                <a:ea typeface="標楷體" panose="03000509000000000000" pitchFamily="65" charset="-120"/>
              </a:rPr>
              <a:t>年市政府已感受到愛河污染的嚴重，於是購置兩艘挖泥船進行愛河污泥挖除工作。可惜因方法不對，效果不彰，一年後停止挖除污泥計畫，轉而以計畫建立污水下水道系統來解決愛河污染的問題。</a:t>
            </a:r>
            <a:r>
              <a:rPr lang="en-US" altLang="zh-TW" sz="2600" dirty="0">
                <a:solidFill>
                  <a:srgbClr val="002060"/>
                </a:solidFill>
                <a:latin typeface="標楷體" panose="03000509000000000000" pitchFamily="65" charset="-120"/>
                <a:ea typeface="標楷體" panose="03000509000000000000" pitchFamily="65" charset="-120"/>
              </a:rPr>
              <a:t>1979</a:t>
            </a:r>
            <a:r>
              <a:rPr lang="zh-TW" altLang="en-US" sz="2600" dirty="0">
                <a:solidFill>
                  <a:srgbClr val="002060"/>
                </a:solidFill>
                <a:latin typeface="標楷體" panose="03000509000000000000" pitchFamily="65" charset="-120"/>
                <a:ea typeface="標楷體" panose="03000509000000000000" pitchFamily="65" charset="-120"/>
              </a:rPr>
              <a:t>年市政府開始執行愛河整治計畫，採雨水、污水分流制，興建污水下水道系統，收集家庭污水、工業廢水輸送到污水處理廠經初級處理後，再由海洋放流管放流到外海</a:t>
            </a:r>
            <a:r>
              <a:rPr lang="zh-TW" altLang="en-US" sz="2600" dirty="0" smtClean="0">
                <a:solidFill>
                  <a:srgbClr val="002060"/>
                </a:solidFill>
                <a:latin typeface="標楷體" panose="03000509000000000000" pitchFamily="65" charset="-120"/>
                <a:ea typeface="標楷體" panose="03000509000000000000" pitchFamily="65" charset="-120"/>
              </a:rPr>
              <a:t>。</a:t>
            </a:r>
            <a:endParaRPr lang="zh-TW" altLang="en-US" sz="2600" dirty="0">
              <a:solidFill>
                <a:srgbClr val="002060"/>
              </a:solidFill>
              <a:latin typeface="標楷體" panose="03000509000000000000" pitchFamily="65" charset="-120"/>
              <a:ea typeface="標楷體" panose="03000509000000000000" pitchFamily="65" charset="-120"/>
            </a:endParaRPr>
          </a:p>
          <a:p>
            <a:pPr marL="0" indent="542925">
              <a:buNone/>
            </a:pPr>
            <a:r>
              <a:rPr lang="zh-TW" altLang="en-US" sz="2600" dirty="0">
                <a:solidFill>
                  <a:srgbClr val="002060"/>
                </a:solidFill>
                <a:latin typeface="標楷體" panose="03000509000000000000" pitchFamily="65" charset="-120"/>
                <a:ea typeface="標楷體" panose="03000509000000000000" pitchFamily="65" charset="-120"/>
              </a:rPr>
              <a:t>　　</a:t>
            </a:r>
            <a:endParaRPr lang="zh-TW" altLang="en-US" sz="2600" dirty="0">
              <a:solidFill>
                <a:srgbClr val="FF0000"/>
              </a:solidFill>
              <a:latin typeface="標楷體" panose="03000509000000000000" pitchFamily="65" charset="-120"/>
              <a:ea typeface="標楷體" panose="03000509000000000000" pitchFamily="65" charset="-120"/>
            </a:endParaRPr>
          </a:p>
        </p:txBody>
      </p:sp>
      <p:sp>
        <p:nvSpPr>
          <p:cNvPr id="6" name="矩形 5"/>
          <p:cNvSpPr/>
          <p:nvPr/>
        </p:nvSpPr>
        <p:spPr>
          <a:xfrm>
            <a:off x="543000" y="4869160"/>
            <a:ext cx="4749080" cy="1569660"/>
          </a:xfrm>
          <a:prstGeom prst="rect">
            <a:avLst/>
          </a:prstGeom>
        </p:spPr>
        <p:txBody>
          <a:bodyPr wrap="square">
            <a:spAutoFit/>
          </a:bodyPr>
          <a:lstStyle/>
          <a:p>
            <a:r>
              <a:rPr lang="zh-TW" altLang="en-US" sz="2400" dirty="0">
                <a:solidFill>
                  <a:srgbClr val="002060"/>
                </a:solidFill>
                <a:latin typeface="標楷體" panose="03000509000000000000" pitchFamily="65" charset="-120"/>
                <a:ea typeface="標楷體" panose="03000509000000000000" pitchFamily="65" charset="-120"/>
              </a:rPr>
              <a:t>以</a:t>
            </a:r>
            <a:r>
              <a:rPr lang="zh-TW" altLang="en-US" sz="2400" dirty="0">
                <a:solidFill>
                  <a:srgbClr val="FF0000"/>
                </a:solidFill>
                <a:latin typeface="標楷體" panose="03000509000000000000" pitchFamily="65" charset="-120"/>
                <a:ea typeface="標楷體" panose="03000509000000000000" pitchFamily="65" charset="-120"/>
              </a:rPr>
              <a:t>污水下水道</a:t>
            </a:r>
            <a:r>
              <a:rPr lang="zh-TW" altLang="en-US" sz="2400" dirty="0">
                <a:solidFill>
                  <a:srgbClr val="002060"/>
                </a:solidFill>
                <a:latin typeface="標楷體" panose="03000509000000000000" pitchFamily="65" charset="-120"/>
                <a:ea typeface="標楷體" panose="03000509000000000000" pitchFamily="65" charset="-120"/>
              </a:rPr>
              <a:t>來解決都市河流的污染是</a:t>
            </a:r>
            <a:r>
              <a:rPr lang="zh-TW" altLang="en-US" sz="2400" dirty="0">
                <a:solidFill>
                  <a:srgbClr val="9E1A04"/>
                </a:solidFill>
                <a:latin typeface="標楷體" panose="03000509000000000000" pitchFamily="65" charset="-120"/>
                <a:ea typeface="標楷體" panose="03000509000000000000" pitchFamily="65" charset="-120"/>
              </a:rPr>
              <a:t>英國人於十九世紀的傑作，至今成為各國解決都市河流污染</a:t>
            </a:r>
            <a:r>
              <a:rPr lang="zh-TW" altLang="en-US" sz="2400" dirty="0">
                <a:solidFill>
                  <a:srgbClr val="002060"/>
                </a:solidFill>
                <a:latin typeface="標楷體" panose="03000509000000000000" pitchFamily="65" charset="-120"/>
                <a:ea typeface="標楷體" panose="03000509000000000000" pitchFamily="65" charset="-120"/>
              </a:rPr>
              <a:t>的主要作法。</a:t>
            </a:r>
            <a:endParaRPr lang="zh-TW" altLang="en-US" sz="2400" dirty="0"/>
          </a:p>
        </p:txBody>
      </p:sp>
    </p:spTree>
    <p:extLst>
      <p:ext uri="{BB962C8B-B14F-4D97-AF65-F5344CB8AC3E}">
        <p14:creationId xmlns:p14="http://schemas.microsoft.com/office/powerpoint/2010/main" val="34176838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528" y="0"/>
            <a:ext cx="8820471" cy="936104"/>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愛河的環境危機─河岸</a:t>
            </a:r>
            <a:r>
              <a:rPr lang="zh-TW" altLang="en-US" sz="4800" dirty="0" smtClean="0">
                <a:solidFill>
                  <a:srgbClr val="0070C0"/>
                </a:solidFill>
                <a:latin typeface="標楷體" panose="03000509000000000000" pitchFamily="65" charset="-120"/>
                <a:ea typeface="標楷體" panose="03000509000000000000" pitchFamily="65" charset="-120"/>
              </a:rPr>
              <a:t>破壞一</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395536" y="1052736"/>
            <a:ext cx="8496944" cy="2664296"/>
          </a:xfrm>
        </p:spPr>
        <p:txBody>
          <a:bodyPr>
            <a:normAutofit fontScale="92500" lnSpcReduction="10000"/>
          </a:bodyPr>
          <a:lstStyle/>
          <a:p>
            <a:pPr marL="0" indent="0">
              <a:buNone/>
            </a:pPr>
            <a:r>
              <a:rPr lang="zh-TW" altLang="en-US" sz="2600" dirty="0">
                <a:solidFill>
                  <a:srgbClr val="FF0000"/>
                </a:solidFill>
                <a:latin typeface="標楷體" panose="03000509000000000000" pitchFamily="65" charset="-120"/>
                <a:ea typeface="標楷體" panose="03000509000000000000" pitchFamily="65" charset="-120"/>
              </a:rPr>
              <a:t>河岸迫害的</a:t>
            </a:r>
            <a:r>
              <a:rPr lang="zh-TW" altLang="en-US" sz="2600" dirty="0" smtClean="0">
                <a:solidFill>
                  <a:srgbClr val="FF0000"/>
                </a:solidFill>
                <a:latin typeface="標楷體" panose="03000509000000000000" pitchFamily="65" charset="-120"/>
                <a:ea typeface="標楷體" panose="03000509000000000000" pitchFamily="65" charset="-120"/>
              </a:rPr>
              <a:t>開始</a:t>
            </a:r>
            <a:endParaRPr lang="zh-TW" altLang="en-US" sz="2600" dirty="0">
              <a:solidFill>
                <a:srgbClr val="FF0000"/>
              </a:solidFill>
              <a:latin typeface="標楷體" panose="03000509000000000000" pitchFamily="65" charset="-120"/>
              <a:ea typeface="標楷體" panose="03000509000000000000" pitchFamily="65" charset="-120"/>
            </a:endParaRPr>
          </a:p>
          <a:p>
            <a:pPr marL="0" indent="542925">
              <a:buNone/>
            </a:pPr>
            <a:r>
              <a:rPr lang="zh-TW" altLang="en-US" sz="2600" dirty="0" smtClean="0">
                <a:solidFill>
                  <a:srgbClr val="002060"/>
                </a:solidFill>
                <a:latin typeface="標楷體" panose="03000509000000000000" pitchFamily="65" charset="-120"/>
                <a:ea typeface="標楷體" panose="03000509000000000000" pitchFamily="65" charset="-120"/>
              </a:rPr>
              <a:t>由</a:t>
            </a:r>
            <a:r>
              <a:rPr lang="zh-TW" altLang="en-US" sz="2600" dirty="0">
                <a:solidFill>
                  <a:srgbClr val="002060"/>
                </a:solidFill>
                <a:latin typeface="標楷體" panose="03000509000000000000" pitchFamily="65" charset="-120"/>
                <a:ea typeface="標楷體" panose="03000509000000000000" pitchFamily="65" charset="-120"/>
              </a:rPr>
              <a:t>日治時代的混凝土堤防開始，下游的水岸空間已遭破壞，近十年來的整治、地下街的闢建，如今愛河已經是一條沒有溼地（除了上游</a:t>
            </a:r>
            <a:r>
              <a:rPr lang="zh-TW" altLang="en-US" sz="2600" dirty="0" smtClean="0">
                <a:solidFill>
                  <a:srgbClr val="002060"/>
                </a:solidFill>
                <a:latin typeface="標楷體" panose="03000509000000000000" pitchFamily="65" charset="-120"/>
                <a:ea typeface="標楷體" panose="03000509000000000000" pitchFamily="65" charset="-120"/>
              </a:rPr>
              <a:t>兩百</a:t>
            </a:r>
            <a:r>
              <a:rPr lang="zh-TW" altLang="en-US" sz="2600" dirty="0">
                <a:solidFill>
                  <a:srgbClr val="002060"/>
                </a:solidFill>
                <a:latin typeface="標楷體" panose="03000509000000000000" pitchFamily="65" charset="-120"/>
                <a:ea typeface="標楷體" panose="03000509000000000000" pitchFamily="65" charset="-120"/>
              </a:rPr>
              <a:t>公尺）、沒有腹地（緊臨道路）的「控固力」河流，這不僅阻礙河岸生長的分佈，也造成了人與自然溝通的深度障礙，古早的「親水」轉向「離水」，愛河的問題怎能不愈來愈嚴重</a:t>
            </a:r>
            <a:r>
              <a:rPr lang="zh-TW" altLang="en-US" sz="2600" dirty="0" smtClean="0">
                <a:solidFill>
                  <a:srgbClr val="002060"/>
                </a:solidFill>
                <a:latin typeface="標楷體" panose="03000509000000000000" pitchFamily="65" charset="-120"/>
                <a:ea typeface="標楷體" panose="03000509000000000000" pitchFamily="65" charset="-120"/>
              </a:rPr>
              <a:t>呢！</a:t>
            </a:r>
            <a:endParaRPr lang="en-US" altLang="zh-TW" sz="2600" dirty="0" smtClean="0">
              <a:solidFill>
                <a:srgbClr val="002060"/>
              </a:solidFill>
              <a:latin typeface="標楷體" panose="03000509000000000000" pitchFamily="65" charset="-120"/>
              <a:ea typeface="標楷體" panose="03000509000000000000" pitchFamily="65" charset="-120"/>
            </a:endParaRPr>
          </a:p>
          <a:p>
            <a:pPr marL="0" indent="542925">
              <a:buNone/>
            </a:pPr>
            <a:endParaRPr lang="zh-TW" altLang="en-US" sz="2600" dirty="0">
              <a:solidFill>
                <a:srgbClr val="FF0000"/>
              </a:solidFill>
              <a:latin typeface="標楷體" panose="03000509000000000000" pitchFamily="65" charset="-120"/>
              <a:ea typeface="標楷體" panose="03000509000000000000" pitchFamily="65" charset="-120"/>
            </a:endParaRPr>
          </a:p>
        </p:txBody>
      </p:sp>
      <p:sp>
        <p:nvSpPr>
          <p:cNvPr id="6" name="內容版面配置區 2"/>
          <p:cNvSpPr txBox="1">
            <a:spLocks/>
          </p:cNvSpPr>
          <p:nvPr/>
        </p:nvSpPr>
        <p:spPr>
          <a:xfrm>
            <a:off x="428387" y="3501008"/>
            <a:ext cx="6519878" cy="2952328"/>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28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Clr>
                <a:schemeClr val="tx1"/>
              </a:buClr>
              <a:buFont typeface="Calibri" pitchFamily="34" charset="0"/>
              <a:buChar char="&gt;"/>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9pPr>
          </a:lstStyle>
          <a:p>
            <a:pPr marL="0" indent="0">
              <a:buNone/>
            </a:pPr>
            <a:r>
              <a:rPr lang="zh-TW" altLang="en-US" sz="2600" dirty="0">
                <a:solidFill>
                  <a:srgbClr val="FF0000"/>
                </a:solidFill>
                <a:latin typeface="標楷體" panose="03000509000000000000" pitchFamily="65" charset="-120"/>
                <a:ea typeface="標楷體" panose="03000509000000000000" pitchFamily="65" charset="-120"/>
              </a:rPr>
              <a:t>整治河川氾濫的後遺症</a:t>
            </a:r>
          </a:p>
          <a:p>
            <a:pPr marL="0" indent="542925">
              <a:buNone/>
            </a:pPr>
            <a:r>
              <a:rPr lang="zh-TW" altLang="en-US" sz="2600" dirty="0">
                <a:solidFill>
                  <a:srgbClr val="002060"/>
                </a:solidFill>
                <a:latin typeface="標楷體" panose="03000509000000000000" pitchFamily="65" charset="-120"/>
                <a:ea typeface="標楷體" panose="03000509000000000000" pitchFamily="65" charset="-120"/>
              </a:rPr>
              <a:t>以前河川兩岸是稻田，天特別藍，田特別綠，看起來很漂亮，可是很多齊整劃一的自然後面，隱藏了許多我們看不到的問題。</a:t>
            </a:r>
          </a:p>
          <a:p>
            <a:pPr marL="0" indent="0">
              <a:buNone/>
            </a:pPr>
            <a:r>
              <a:rPr lang="zh-TW" altLang="en-US" sz="2600" dirty="0">
                <a:solidFill>
                  <a:srgbClr val="002060"/>
                </a:solidFill>
                <a:latin typeface="標楷體" panose="03000509000000000000" pitchFamily="65" charset="-120"/>
                <a:ea typeface="標楷體" panose="03000509000000000000" pitchFamily="65" charset="-120"/>
              </a:rPr>
              <a:t>河川如果整修的越簡單，裡面的生態也變的越單純，也是最不自然的方式；河川要以河川的生命為主體而不是以人為主體，如果大家都有此認識，那麼河川的整治成功是可以期待的。</a:t>
            </a:r>
          </a:p>
        </p:txBody>
      </p:sp>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1980" y="3573016"/>
            <a:ext cx="1905000" cy="1428750"/>
          </a:xfrm>
          <a:prstGeom prst="rect">
            <a:avLst/>
          </a:prstGeom>
        </p:spPr>
      </p:pic>
      <p:graphicFrame>
        <p:nvGraphicFramePr>
          <p:cNvPr id="9" name="資料庫圖表 8"/>
          <p:cNvGraphicFramePr/>
          <p:nvPr>
            <p:extLst>
              <p:ext uri="{D42A27DB-BD31-4B8C-83A1-F6EECF244321}">
                <p14:modId xmlns:p14="http://schemas.microsoft.com/office/powerpoint/2010/main" val="2010167894"/>
              </p:ext>
            </p:extLst>
          </p:nvPr>
        </p:nvGraphicFramePr>
        <p:xfrm>
          <a:off x="6948265" y="5157192"/>
          <a:ext cx="1878716" cy="5232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811876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528" y="0"/>
            <a:ext cx="8820471" cy="936104"/>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愛河的環境危機─河岸</a:t>
            </a:r>
            <a:r>
              <a:rPr lang="zh-TW" altLang="en-US" sz="4800" dirty="0" smtClean="0">
                <a:solidFill>
                  <a:srgbClr val="0070C0"/>
                </a:solidFill>
                <a:latin typeface="標楷體" panose="03000509000000000000" pitchFamily="65" charset="-120"/>
                <a:ea typeface="標楷體" panose="03000509000000000000" pitchFamily="65" charset="-120"/>
              </a:rPr>
              <a:t>破壞二</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395536" y="1052736"/>
            <a:ext cx="8496944" cy="2880320"/>
          </a:xfrm>
        </p:spPr>
        <p:txBody>
          <a:bodyPr>
            <a:normAutofit fontScale="77500" lnSpcReduction="20000"/>
          </a:bodyPr>
          <a:lstStyle/>
          <a:p>
            <a:pPr marL="0" indent="0">
              <a:buNone/>
            </a:pPr>
            <a:r>
              <a:rPr lang="zh-TW" altLang="en-US" sz="3400" dirty="0">
                <a:solidFill>
                  <a:srgbClr val="FF0000"/>
                </a:solidFill>
                <a:latin typeface="標楷體" panose="03000509000000000000" pitchFamily="65" charset="-120"/>
                <a:ea typeface="標楷體" panose="03000509000000000000" pitchFamily="65" charset="-120"/>
              </a:rPr>
              <a:t>堤岸設計與河流容貌</a:t>
            </a:r>
          </a:p>
          <a:p>
            <a:pPr marL="0" indent="446088">
              <a:buNone/>
            </a:pPr>
            <a:r>
              <a:rPr lang="zh-TW" altLang="en-US" sz="2600" dirty="0">
                <a:solidFill>
                  <a:srgbClr val="002060"/>
                </a:solidFill>
                <a:latin typeface="標楷體" panose="03000509000000000000" pitchFamily="65" charset="-120"/>
                <a:ea typeface="標楷體" panose="03000509000000000000" pitchFamily="65" charset="-120"/>
              </a:rPr>
              <a:t>文藻外語學院前的愛河河岸約有二層樓高，這麼高的垂直水泥堤岸令人望而卻步，阻隔人與河流的親近。這是高雄市整治河流的通病，將河流視同水溝，只注重防洪功能。因為，水溝是沒有生態的，是不可以親近的，平白糟塌了河流的寶貴資源。</a:t>
            </a:r>
          </a:p>
          <a:p>
            <a:pPr marL="0" indent="446088">
              <a:buNone/>
            </a:pPr>
            <a:r>
              <a:rPr lang="zh-TW" altLang="en-US" sz="2600" dirty="0">
                <a:solidFill>
                  <a:srgbClr val="002060"/>
                </a:solidFill>
                <a:latin typeface="標楷體" panose="03000509000000000000" pitchFamily="65" charset="-120"/>
                <a:ea typeface="標楷體" panose="03000509000000000000" pitchFamily="65" charset="-120"/>
              </a:rPr>
              <a:t>河流堤岸一定要建成如水溝式的垂直堤岸嗎？當然不是。人與水的關係是可以沒有距離的。人與水的親近可以激發人性的柔軟面，緩和工業城市帶來的陽剛氣。河流是上天送給都市的最佳禮物。</a:t>
            </a:r>
          </a:p>
          <a:p>
            <a:pPr marL="0" indent="0">
              <a:buNone/>
            </a:pPr>
            <a:r>
              <a:rPr lang="zh-TW" altLang="en-US" sz="2600" dirty="0">
                <a:solidFill>
                  <a:srgbClr val="002060"/>
                </a:solidFill>
                <a:latin typeface="標楷體" panose="03000509000000000000" pitchFamily="65" charset="-120"/>
                <a:ea typeface="標楷體" panose="03000509000000000000" pitchFamily="65" charset="-120"/>
              </a:rPr>
              <a:t>這樣的原野景觀隨著水泥堤岸的築建而消失。當生物的棲息空間因都市的發展而被消毀殆盡，所呈現出來的是都市的粗暴與人性的悲哀。</a:t>
            </a:r>
          </a:p>
        </p:txBody>
      </p:sp>
      <p:sp>
        <p:nvSpPr>
          <p:cNvPr id="6" name="內容版面配置區 2"/>
          <p:cNvSpPr txBox="1">
            <a:spLocks/>
          </p:cNvSpPr>
          <p:nvPr/>
        </p:nvSpPr>
        <p:spPr>
          <a:xfrm>
            <a:off x="432713" y="3789040"/>
            <a:ext cx="6519878" cy="306896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Clr>
                <a:schemeClr val="tx1"/>
              </a:buClr>
              <a:buFont typeface="Calibri" pitchFamily="34" charset="0"/>
              <a:buChar char="&gt;"/>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Calibri"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Clr>
                <a:schemeClr val="tx1"/>
              </a:buClr>
              <a:buFont typeface="Calibri" pitchFamily="34" charset="0"/>
              <a:buChar char="−"/>
              <a:defRPr sz="1800" kern="1200">
                <a:solidFill>
                  <a:schemeClr val="tx1"/>
                </a:solidFill>
                <a:latin typeface="+mn-lt"/>
                <a:ea typeface="+mn-ea"/>
                <a:cs typeface="+mn-cs"/>
              </a:defRPr>
            </a:lvl9pPr>
          </a:lstStyle>
          <a:p>
            <a:pPr marL="0" indent="0">
              <a:buNone/>
            </a:pPr>
            <a:r>
              <a:rPr lang="zh-TW" altLang="en-US" sz="2400" dirty="0">
                <a:solidFill>
                  <a:srgbClr val="FF0000"/>
                </a:solidFill>
                <a:latin typeface="標楷體" panose="03000509000000000000" pitchFamily="65" charset="-120"/>
                <a:ea typeface="標楷體" panose="03000509000000000000" pitchFamily="65" charset="-120"/>
              </a:rPr>
              <a:t>水泥堤岸的遮醜</a:t>
            </a:r>
          </a:p>
          <a:p>
            <a:pPr marL="0" indent="0">
              <a:buNone/>
            </a:pPr>
            <a:r>
              <a:rPr lang="zh-TW" altLang="en-US" sz="2000" dirty="0">
                <a:solidFill>
                  <a:srgbClr val="002060"/>
                </a:solidFill>
                <a:latin typeface="標楷體" panose="03000509000000000000" pitchFamily="65" charset="-120"/>
                <a:ea typeface="標楷體" panose="03000509000000000000" pitchFamily="65" charset="-120"/>
              </a:rPr>
              <a:t>水泥堤岸已成建，再也難以復舊。那麼有沒有什麼簡單的辦法可以遮住醜陋的堤壁呢？在沿岸有限的泥土空間裡</a:t>
            </a:r>
            <a:r>
              <a:rPr lang="zh-TW" altLang="en-US" sz="2000" dirty="0">
                <a:solidFill>
                  <a:srgbClr val="9E1A04"/>
                </a:solidFill>
                <a:latin typeface="標楷體" panose="03000509000000000000" pitchFamily="65" charset="-120"/>
                <a:ea typeface="標楷體" panose="03000509000000000000" pitchFamily="65" charset="-120"/>
              </a:rPr>
              <a:t>種植下垂性的藤本植物是一個不錯的選擇</a:t>
            </a:r>
            <a:r>
              <a:rPr lang="zh-TW" altLang="en-US" sz="2000" dirty="0">
                <a:solidFill>
                  <a:srgbClr val="002060"/>
                </a:solidFill>
                <a:latin typeface="標楷體" panose="03000509000000000000" pitchFamily="65" charset="-120"/>
                <a:ea typeface="標楷體" panose="03000509000000000000" pitchFamily="65" charset="-120"/>
              </a:rPr>
              <a:t>。另外亦可以考慮在第二層的</a:t>
            </a:r>
            <a:r>
              <a:rPr lang="zh-TW" altLang="en-US" sz="2000" dirty="0">
                <a:solidFill>
                  <a:srgbClr val="9E1A04"/>
                </a:solidFill>
                <a:latin typeface="標楷體" panose="03000509000000000000" pitchFamily="65" charset="-120"/>
                <a:ea typeface="標楷體" panose="03000509000000000000" pitchFamily="65" charset="-120"/>
              </a:rPr>
              <a:t>河堤上種植開花的小喬木來緩和水泥僵硬的感覺</a:t>
            </a:r>
            <a:r>
              <a:rPr lang="zh-TW" altLang="en-US" sz="2000" dirty="0">
                <a:solidFill>
                  <a:srgbClr val="002060"/>
                </a:solidFill>
                <a:latin typeface="標楷體" panose="03000509000000000000" pitchFamily="65" charset="-120"/>
                <a:ea typeface="標楷體" panose="03000509000000000000" pitchFamily="65" charset="-120"/>
              </a:rPr>
              <a:t>。這些作法花費不高，效果卻是極大。「小兵可以立大功」，建設不一定要花大錢，</a:t>
            </a:r>
            <a:r>
              <a:rPr lang="zh-TW" altLang="en-US" sz="2000" dirty="0">
                <a:solidFill>
                  <a:srgbClr val="9E1A04"/>
                </a:solidFill>
                <a:latin typeface="標楷體" panose="03000509000000000000" pitchFamily="65" charset="-120"/>
                <a:ea typeface="標楷體" panose="03000509000000000000" pitchFamily="65" charset="-120"/>
              </a:rPr>
              <a:t>關鍵在於設計能否配合環境的特性，關鍵在於規畫者是否曾有過感動。而「沒有感動」正是今日河岸規畫的致命傷</a:t>
            </a:r>
            <a:r>
              <a:rPr lang="zh-TW" altLang="en-US" sz="2000" dirty="0">
                <a:solidFill>
                  <a:srgbClr val="002060"/>
                </a:solidFill>
                <a:latin typeface="標楷體" panose="03000509000000000000" pitchFamily="65" charset="-120"/>
                <a:ea typeface="標楷體" panose="03000509000000000000" pitchFamily="65" charset="-120"/>
              </a:rPr>
              <a:t>。</a:t>
            </a:r>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2240" y="4725144"/>
            <a:ext cx="2097021" cy="1572766"/>
          </a:xfrm>
          <a:prstGeom prst="rect">
            <a:avLst/>
          </a:prstGeom>
        </p:spPr>
      </p:pic>
      <p:graphicFrame>
        <p:nvGraphicFramePr>
          <p:cNvPr id="8" name="資料庫圖表 7"/>
          <p:cNvGraphicFramePr/>
          <p:nvPr>
            <p:extLst>
              <p:ext uri="{D42A27DB-BD31-4B8C-83A1-F6EECF244321}">
                <p14:modId xmlns:p14="http://schemas.microsoft.com/office/powerpoint/2010/main" val="832889420"/>
              </p:ext>
            </p:extLst>
          </p:nvPr>
        </p:nvGraphicFramePr>
        <p:xfrm>
          <a:off x="6952591" y="4005064"/>
          <a:ext cx="1651857" cy="5847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75340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7584" y="0"/>
            <a:ext cx="6336704"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愛河的整治方法～前言</a:t>
            </a:r>
          </a:p>
        </p:txBody>
      </p:sp>
      <p:sp>
        <p:nvSpPr>
          <p:cNvPr id="3" name="內容版面配置區 2"/>
          <p:cNvSpPr>
            <a:spLocks noGrp="1"/>
          </p:cNvSpPr>
          <p:nvPr>
            <p:ph idx="1"/>
          </p:nvPr>
        </p:nvSpPr>
        <p:spPr>
          <a:xfrm>
            <a:off x="827584" y="980728"/>
            <a:ext cx="7899648" cy="2232248"/>
          </a:xfrm>
        </p:spPr>
        <p:txBody>
          <a:bodyPr>
            <a:normAutofit/>
          </a:bodyPr>
          <a:lstStyle/>
          <a:p>
            <a:pPr marL="0" indent="627063">
              <a:buNone/>
            </a:pPr>
            <a:r>
              <a:rPr lang="zh-TW" altLang="en-US" sz="2600" dirty="0">
                <a:solidFill>
                  <a:srgbClr val="002060"/>
                </a:solidFill>
                <a:latin typeface="標楷體" panose="03000509000000000000" pitchFamily="65" charset="-120"/>
                <a:ea typeface="標楷體" panose="03000509000000000000" pitchFamily="65" charset="-120"/>
              </a:rPr>
              <a:t>目前</a:t>
            </a:r>
            <a:r>
              <a:rPr lang="zh-TW" altLang="en-US" sz="2600" dirty="0" smtClean="0">
                <a:solidFill>
                  <a:srgbClr val="002060"/>
                </a:solidFill>
                <a:latin typeface="標楷體" panose="03000509000000000000" pitchFamily="65" charset="-120"/>
                <a:ea typeface="標楷體" panose="03000509000000000000" pitchFamily="65" charset="-120"/>
              </a:rPr>
              <a:t>高雄市愛河經</a:t>
            </a:r>
            <a:r>
              <a:rPr lang="zh-TW" altLang="en-US" sz="2600" dirty="0">
                <a:solidFill>
                  <a:srgbClr val="002060"/>
                </a:solidFill>
                <a:latin typeface="標楷體" panose="03000509000000000000" pitchFamily="65" charset="-120"/>
                <a:ea typeface="標楷體" panose="03000509000000000000" pitchFamily="65" charset="-120"/>
              </a:rPr>
              <a:t>整治與建設後主要具備</a:t>
            </a:r>
            <a:r>
              <a:rPr lang="zh-TW" altLang="en-US" sz="2600" dirty="0">
                <a:solidFill>
                  <a:srgbClr val="FF0000"/>
                </a:solidFill>
                <a:latin typeface="標楷體" panose="03000509000000000000" pitchFamily="65" charset="-120"/>
                <a:ea typeface="標楷體" panose="03000509000000000000" pitchFamily="65" charset="-120"/>
              </a:rPr>
              <a:t>親水、空間及自然生態機能</a:t>
            </a:r>
            <a:r>
              <a:rPr lang="zh-TW" altLang="en-US" sz="2600" dirty="0">
                <a:solidFill>
                  <a:srgbClr val="002060"/>
                </a:solidFill>
                <a:latin typeface="標楷體" panose="03000509000000000000" pitchFamily="65" charset="-120"/>
                <a:ea typeface="標楷體" panose="03000509000000000000" pitchFamily="65" charset="-120"/>
              </a:rPr>
              <a:t>，而河岸親水景觀公園、河岸美綠化、木棧道、自行車道、行船之旅、濕地公園與沿岸人文藝術建設等，亦使其在社會、休閒遊憩、景觀美質與生產等層面展現其重要價值。</a:t>
            </a:r>
          </a:p>
        </p:txBody>
      </p:sp>
      <p:sp>
        <p:nvSpPr>
          <p:cNvPr id="6" name="AutoShape 4" descr="D:\103-506\%E6%A1%82%E6%9E%97%E5%A4%A7%E6%B2%B3%E6%88%80%E4%BB%8B%E7%B4%B9\%E6%84%9B%E6%B2%B3\%E6%84%9B%E6%B2%B3\library.taiwanschoolnet.org\cyberfair2005\yacjh\images\pru0-5.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975" y="4437112"/>
            <a:ext cx="2887489" cy="22049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圖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9792" y="3212976"/>
            <a:ext cx="3349285" cy="2557636"/>
          </a:xfrm>
          <a:prstGeom prst="rect">
            <a:avLst/>
          </a:prstGeom>
        </p:spPr>
      </p:pic>
      <p:pic>
        <p:nvPicPr>
          <p:cNvPr id="9" name="圖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4924" y="4077072"/>
            <a:ext cx="3492500" cy="2667000"/>
          </a:xfrm>
          <a:prstGeom prst="rect">
            <a:avLst/>
          </a:prstGeom>
        </p:spPr>
      </p:pic>
    </p:spTree>
    <p:extLst>
      <p:ext uri="{BB962C8B-B14F-4D97-AF65-F5344CB8AC3E}">
        <p14:creationId xmlns:p14="http://schemas.microsoft.com/office/powerpoint/2010/main" val="19418185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10564" y="7937"/>
            <a:ext cx="8733435"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愛河的整治方法～污水</a:t>
            </a:r>
            <a:r>
              <a:rPr lang="zh-TW" altLang="en-US" sz="4800" dirty="0" smtClean="0">
                <a:solidFill>
                  <a:srgbClr val="0070C0"/>
                </a:solidFill>
                <a:latin typeface="標楷體" panose="03000509000000000000" pitchFamily="65" charset="-120"/>
                <a:ea typeface="標楷體" panose="03000509000000000000" pitchFamily="65" charset="-120"/>
              </a:rPr>
              <a:t>地下道一</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827584" y="980727"/>
            <a:ext cx="7899648" cy="2719863"/>
          </a:xfrm>
        </p:spPr>
        <p:txBody>
          <a:bodyPr>
            <a:normAutofit fontScale="92500" lnSpcReduction="10000"/>
          </a:bodyPr>
          <a:lstStyle/>
          <a:p>
            <a:pPr marL="0" indent="0">
              <a:buNone/>
            </a:pPr>
            <a:r>
              <a:rPr lang="zh-TW" altLang="en-US" sz="2600" dirty="0">
                <a:solidFill>
                  <a:srgbClr val="FF0000"/>
                </a:solidFill>
                <a:latin typeface="標楷體" panose="03000509000000000000" pitchFamily="65" charset="-120"/>
                <a:ea typeface="標楷體" panose="03000509000000000000" pitchFamily="65" charset="-120"/>
              </a:rPr>
              <a:t>什麼是污水</a:t>
            </a:r>
            <a:r>
              <a:rPr lang="zh-TW" altLang="en-US" sz="2600" dirty="0" smtClean="0">
                <a:solidFill>
                  <a:srgbClr val="FF0000"/>
                </a:solidFill>
                <a:latin typeface="標楷體" panose="03000509000000000000" pitchFamily="65" charset="-120"/>
                <a:ea typeface="標楷體" panose="03000509000000000000" pitchFamily="65" charset="-120"/>
              </a:rPr>
              <a:t>地下道</a:t>
            </a:r>
            <a:endParaRPr lang="en-US" altLang="zh-TW" sz="2600" dirty="0" smtClean="0">
              <a:solidFill>
                <a:srgbClr val="FF0000"/>
              </a:solidFill>
              <a:latin typeface="標楷體" panose="03000509000000000000" pitchFamily="65" charset="-120"/>
              <a:ea typeface="標楷體" panose="03000509000000000000" pitchFamily="65" charset="-120"/>
            </a:endParaRPr>
          </a:p>
          <a:p>
            <a:pPr marL="0" indent="627063">
              <a:buNone/>
            </a:pPr>
            <a:r>
              <a:rPr lang="zh-TW" altLang="en-US" sz="2600" dirty="0" smtClean="0">
                <a:solidFill>
                  <a:srgbClr val="002060"/>
                </a:solidFill>
                <a:latin typeface="標楷體" panose="03000509000000000000" pitchFamily="65" charset="-120"/>
                <a:ea typeface="標楷體" panose="03000509000000000000" pitchFamily="65" charset="-120"/>
              </a:rPr>
              <a:t>下水道</a:t>
            </a:r>
            <a:r>
              <a:rPr lang="zh-TW" altLang="en-US" sz="2600" dirty="0">
                <a:solidFill>
                  <a:srgbClr val="002060"/>
                </a:solidFill>
                <a:latin typeface="標楷體" panose="03000509000000000000" pitchFamily="65" charset="-120"/>
                <a:ea typeface="標楷體" panose="03000509000000000000" pitchFamily="65" charset="-120"/>
              </a:rPr>
              <a:t>分為二種，一是收集雨水的下水道，如道路邊的水溝；一是收集污水的下水道，深埋在地下，在道路上是看不到的。污水下水道就是以深埋在地下的下水道管線將家庭的污水，及工廠商家的工業廢水等加以收集，輸送到污水處理廠，再利用化學及物理的方法處理和消毒後，再以放流管排放到河川或海洋。</a:t>
            </a:r>
          </a:p>
        </p:txBody>
      </p:sp>
      <p:sp>
        <p:nvSpPr>
          <p:cNvPr id="6" name="AutoShape 4" descr="D:\103-506\%E6%A1%82%E6%9E%97%E5%A4%A7%E6%B2%B3%E6%88%80%E4%BB%8B%E7%B4%B9\%E6%84%9B%E6%B2%B3\%E6%84%9B%E6%B2%B3\library.taiwanschoolnet.org\cyberfair2005\yacjh\images\pru0-5.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3936970"/>
            <a:ext cx="4914900" cy="2413000"/>
          </a:xfrm>
          <a:prstGeom prst="rect">
            <a:avLst/>
          </a:prstGeom>
        </p:spPr>
      </p:pic>
      <p:sp>
        <p:nvSpPr>
          <p:cNvPr id="5" name="矩形 4"/>
          <p:cNvSpPr/>
          <p:nvPr/>
        </p:nvSpPr>
        <p:spPr>
          <a:xfrm>
            <a:off x="1403648" y="3536860"/>
            <a:ext cx="3518912" cy="400110"/>
          </a:xfrm>
          <a:prstGeom prst="rect">
            <a:avLst/>
          </a:prstGeom>
        </p:spPr>
        <p:txBody>
          <a:bodyPr wrap="none">
            <a:spAutoFit/>
          </a:bodyPr>
          <a:lstStyle/>
          <a:p>
            <a:r>
              <a:rPr lang="zh-TW" altLang="en-US" sz="2000" dirty="0">
                <a:latin typeface="標楷體" panose="03000509000000000000" pitchFamily="65" charset="-120"/>
                <a:ea typeface="標楷體" panose="03000509000000000000" pitchFamily="65" charset="-120"/>
              </a:rPr>
              <a:t>將雨水、污水分開處理的流程</a:t>
            </a:r>
          </a:p>
        </p:txBody>
      </p:sp>
      <p:sp>
        <p:nvSpPr>
          <p:cNvPr id="10" name="矩形 9"/>
          <p:cNvSpPr/>
          <p:nvPr/>
        </p:nvSpPr>
        <p:spPr>
          <a:xfrm>
            <a:off x="3275856" y="6349970"/>
            <a:ext cx="4108817" cy="369332"/>
          </a:xfrm>
          <a:prstGeom prst="rect">
            <a:avLst/>
          </a:prstGeom>
        </p:spPr>
        <p:txBody>
          <a:bodyPr wrap="none">
            <a:spAutoFit/>
          </a:bodyPr>
          <a:lstStyle/>
          <a:p>
            <a:r>
              <a:rPr lang="zh-TW" altLang="en-US" dirty="0"/>
              <a:t>圖片來源：高雄市工務局工程處下水道</a:t>
            </a:r>
          </a:p>
        </p:txBody>
      </p:sp>
    </p:spTree>
    <p:extLst>
      <p:ext uri="{BB962C8B-B14F-4D97-AF65-F5344CB8AC3E}">
        <p14:creationId xmlns:p14="http://schemas.microsoft.com/office/powerpoint/2010/main" val="271666794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8968" y="5013176"/>
            <a:ext cx="2520280" cy="1683547"/>
          </a:xfrm>
          <a:prstGeom prst="rect">
            <a:avLst/>
          </a:prstGeom>
        </p:spPr>
      </p:pic>
      <p:sp>
        <p:nvSpPr>
          <p:cNvPr id="3" name="內容版面配置區 2"/>
          <p:cNvSpPr>
            <a:spLocks noGrp="1"/>
          </p:cNvSpPr>
          <p:nvPr>
            <p:ph idx="1"/>
          </p:nvPr>
        </p:nvSpPr>
        <p:spPr>
          <a:xfrm>
            <a:off x="335472" y="908719"/>
            <a:ext cx="8496944" cy="4752529"/>
          </a:xfrm>
        </p:spPr>
        <p:txBody>
          <a:bodyPr>
            <a:normAutofit fontScale="92500" lnSpcReduction="20000"/>
          </a:bodyPr>
          <a:lstStyle/>
          <a:p>
            <a:pPr marL="0" indent="0">
              <a:buNone/>
            </a:pPr>
            <a:r>
              <a:rPr lang="zh-TW" altLang="en-US" sz="2600" dirty="0">
                <a:solidFill>
                  <a:srgbClr val="FF0000"/>
                </a:solidFill>
                <a:latin typeface="標楷體" panose="03000509000000000000" pitchFamily="65" charset="-120"/>
                <a:ea typeface="標楷體" panose="03000509000000000000" pitchFamily="65" charset="-120"/>
              </a:rPr>
              <a:t>為什麼要有污水</a:t>
            </a:r>
            <a:r>
              <a:rPr lang="zh-TW" altLang="en-US" sz="2600" dirty="0" smtClean="0">
                <a:solidFill>
                  <a:srgbClr val="FF0000"/>
                </a:solidFill>
                <a:latin typeface="標楷體" panose="03000509000000000000" pitchFamily="65" charset="-120"/>
                <a:ea typeface="標楷體" panose="03000509000000000000" pitchFamily="65" charset="-120"/>
              </a:rPr>
              <a:t>地下道</a:t>
            </a:r>
            <a:endParaRPr lang="zh-TW" altLang="en-US" sz="2600" dirty="0">
              <a:solidFill>
                <a:srgbClr val="FF0000"/>
              </a:solidFill>
              <a:latin typeface="標楷體" panose="03000509000000000000" pitchFamily="65" charset="-120"/>
              <a:ea typeface="標楷體" panose="03000509000000000000" pitchFamily="65" charset="-120"/>
            </a:endParaRPr>
          </a:p>
          <a:p>
            <a:pPr marL="0" indent="0">
              <a:buNone/>
            </a:pPr>
            <a:r>
              <a:rPr lang="zh-TW" altLang="en-US" sz="2600" dirty="0">
                <a:solidFill>
                  <a:srgbClr val="FF0000"/>
                </a:solidFill>
                <a:latin typeface="標楷體" panose="03000509000000000000" pitchFamily="65" charset="-120"/>
                <a:ea typeface="標楷體" panose="03000509000000000000" pitchFamily="65" charset="-120"/>
              </a:rPr>
              <a:t>　　</a:t>
            </a:r>
            <a:r>
              <a:rPr lang="zh-TW" altLang="en-US" sz="2600" dirty="0">
                <a:solidFill>
                  <a:srgbClr val="002060"/>
                </a:solidFill>
                <a:latin typeface="標楷體" panose="03000509000000000000" pitchFamily="65" charset="-120"/>
                <a:ea typeface="標楷體" panose="03000509000000000000" pitchFamily="65" charset="-120"/>
              </a:rPr>
              <a:t>民國</a:t>
            </a:r>
            <a:r>
              <a:rPr lang="en-US" altLang="zh-TW" sz="2600" dirty="0">
                <a:solidFill>
                  <a:srgbClr val="002060"/>
                </a:solidFill>
                <a:latin typeface="標楷體" panose="03000509000000000000" pitchFamily="65" charset="-120"/>
                <a:ea typeface="標楷體" panose="03000509000000000000" pitchFamily="65" charset="-120"/>
              </a:rPr>
              <a:t>76</a:t>
            </a:r>
            <a:r>
              <a:rPr lang="zh-TW" altLang="en-US" sz="2600" dirty="0">
                <a:solidFill>
                  <a:srgbClr val="002060"/>
                </a:solidFill>
                <a:latin typeface="標楷體" panose="03000509000000000000" pitchFamily="65" charset="-120"/>
                <a:ea typeface="標楷體" panose="03000509000000000000" pitchFamily="65" charset="-120"/>
              </a:rPr>
              <a:t>年高雄市的都市計畫發展中並無污水下水道系統的設置，因此各式的污廢水便利用大街小巷到處可見的小水溝（雨水下水道）→中水溝→大水溝流注到</a:t>
            </a:r>
            <a:r>
              <a:rPr lang="zh-TW" altLang="en-US" sz="2600" dirty="0">
                <a:solidFill>
                  <a:srgbClr val="FF0000"/>
                </a:solidFill>
                <a:latin typeface="標楷體" panose="03000509000000000000" pitchFamily="65" charset="-120"/>
                <a:ea typeface="標楷體" panose="03000509000000000000" pitchFamily="65" charset="-120"/>
              </a:rPr>
              <a:t>愛河</a:t>
            </a:r>
            <a:r>
              <a:rPr lang="zh-TW" altLang="en-US" sz="2600" dirty="0">
                <a:solidFill>
                  <a:srgbClr val="002060"/>
                </a:solidFill>
                <a:latin typeface="標楷體" panose="03000509000000000000" pitchFamily="65" charset="-120"/>
                <a:ea typeface="標楷體" panose="03000509000000000000" pitchFamily="65" charset="-120"/>
              </a:rPr>
              <a:t>裡，因此原本應該只收納雨水及地表逕流水的河川，只好毫無選擇餘地，照單全收，變成匯集全市污廢水的超級大臭水溝，難怪愛河會變得如此的惡臭，因為我們把</a:t>
            </a:r>
            <a:r>
              <a:rPr lang="zh-TW" altLang="en-US" sz="2600" dirty="0">
                <a:solidFill>
                  <a:srgbClr val="FF0000"/>
                </a:solidFill>
                <a:latin typeface="標楷體" panose="03000509000000000000" pitchFamily="65" charset="-120"/>
                <a:ea typeface="標楷體" panose="03000509000000000000" pitchFamily="65" charset="-120"/>
              </a:rPr>
              <a:t>愛河當作一條巨大的排水溝</a:t>
            </a:r>
            <a:r>
              <a:rPr lang="zh-TW" altLang="en-US" sz="2600" dirty="0">
                <a:solidFill>
                  <a:srgbClr val="002060"/>
                </a:solidFill>
                <a:latin typeface="標楷體" panose="03000509000000000000" pitchFamily="65" charset="-120"/>
                <a:ea typeface="標楷體" panose="03000509000000000000" pitchFamily="65" charset="-120"/>
              </a:rPr>
              <a:t>來使用</a:t>
            </a:r>
            <a:r>
              <a:rPr lang="zh-TW" altLang="en-US" sz="2600" dirty="0" smtClean="0">
                <a:solidFill>
                  <a:srgbClr val="002060"/>
                </a:solidFill>
                <a:latin typeface="標楷體" panose="03000509000000000000" pitchFamily="65" charset="-120"/>
                <a:ea typeface="標楷體" panose="03000509000000000000" pitchFamily="65" charset="-120"/>
              </a:rPr>
              <a:t>。</a:t>
            </a:r>
            <a:endParaRPr lang="zh-TW" altLang="en-US" sz="2600" dirty="0">
              <a:solidFill>
                <a:srgbClr val="002060"/>
              </a:solidFill>
              <a:latin typeface="標楷體" panose="03000509000000000000" pitchFamily="65" charset="-120"/>
              <a:ea typeface="標楷體" panose="03000509000000000000" pitchFamily="65" charset="-120"/>
            </a:endParaRPr>
          </a:p>
          <a:p>
            <a:pPr marL="0" indent="0">
              <a:buNone/>
            </a:pPr>
            <a:r>
              <a:rPr lang="zh-TW" altLang="en-US" sz="2600" dirty="0">
                <a:solidFill>
                  <a:srgbClr val="002060"/>
                </a:solidFill>
                <a:latin typeface="標楷體" panose="03000509000000000000" pitchFamily="65" charset="-120"/>
                <a:ea typeface="標楷體" panose="03000509000000000000" pitchFamily="65" charset="-120"/>
              </a:rPr>
              <a:t>　　因此我們需要污水地下道，連接到各個建築物，主要用來聚集各式各樣的污水，最後再將污水地下道聚集到的污水，送往污水處理廠處理、淨化。使用污水下水道的地區，建築物不必再設置化糞池。因此可以節省化糞池的設備費及日後的維護與處理費，同時污水不會溢流到馬路，暴露在空氣中，排水溝聞不到污水的惡臭。所以，</a:t>
            </a:r>
            <a:r>
              <a:rPr lang="zh-TW" altLang="en-US" sz="2600" dirty="0">
                <a:solidFill>
                  <a:srgbClr val="FF0000"/>
                </a:solidFill>
                <a:latin typeface="標楷體" panose="03000509000000000000" pitchFamily="65" charset="-120"/>
                <a:ea typeface="標楷體" panose="03000509000000000000" pitchFamily="65" charset="-120"/>
              </a:rPr>
              <a:t>污水下水道可以解決污水污染環境的問題，洗刷河流污臭的惡名</a:t>
            </a:r>
            <a:r>
              <a:rPr lang="zh-TW" altLang="en-US" sz="2600" dirty="0">
                <a:solidFill>
                  <a:srgbClr val="002060"/>
                </a:solidFill>
                <a:latin typeface="標楷體" panose="03000509000000000000" pitchFamily="65" charset="-120"/>
                <a:ea typeface="標楷體" panose="03000509000000000000" pitchFamily="65" charset="-120"/>
              </a:rPr>
              <a:t>。都市污水下水道的普及率已被列為評估都市生活品質的重要指標之一。</a:t>
            </a:r>
          </a:p>
        </p:txBody>
      </p:sp>
      <p:sp>
        <p:nvSpPr>
          <p:cNvPr id="2" name="標題 1"/>
          <p:cNvSpPr>
            <a:spLocks noGrp="1"/>
          </p:cNvSpPr>
          <p:nvPr>
            <p:ph type="title"/>
          </p:nvPr>
        </p:nvSpPr>
        <p:spPr>
          <a:xfrm>
            <a:off x="155574" y="7937"/>
            <a:ext cx="8988425"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愛河的整治方法～污水</a:t>
            </a:r>
            <a:r>
              <a:rPr lang="zh-TW" altLang="en-US" sz="4800" dirty="0" smtClean="0">
                <a:solidFill>
                  <a:srgbClr val="0070C0"/>
                </a:solidFill>
                <a:latin typeface="標楷體" panose="03000509000000000000" pitchFamily="65" charset="-120"/>
                <a:ea typeface="標楷體" panose="03000509000000000000" pitchFamily="65" charset="-120"/>
              </a:rPr>
              <a:t>地下道二</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6" name="AutoShape 4" descr="D:\103-506\%E6%A1%82%E6%9E%97%E5%A4%A7%E6%B2%B3%E6%88%80%E4%BB%8B%E7%B4%B9\%E6%84%9B%E6%B2%B3\%E6%84%9B%E6%B2%B3\library.taiwanschoolnet.org\cyberfair2005\yacjh\images\pru0-5.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sp>
        <p:nvSpPr>
          <p:cNvPr id="8" name="矩形 7"/>
          <p:cNvSpPr/>
          <p:nvPr/>
        </p:nvSpPr>
        <p:spPr>
          <a:xfrm>
            <a:off x="460374" y="5670283"/>
            <a:ext cx="5668593" cy="369332"/>
          </a:xfrm>
          <a:prstGeom prst="rect">
            <a:avLst/>
          </a:prstGeom>
        </p:spPr>
        <p:txBody>
          <a:bodyPr wrap="square">
            <a:spAutoFit/>
          </a:bodyPr>
          <a:lstStyle/>
          <a:p>
            <a:r>
              <a:rPr lang="zh-TW" altLang="en-US" dirty="0">
                <a:latin typeface="標楷體" panose="03000509000000000000" pitchFamily="65" charset="-120"/>
                <a:ea typeface="標楷體" panose="03000509000000000000" pitchFamily="65" charset="-120"/>
              </a:rPr>
              <a:t>開發污水地下道，需要將管線埋到地底下，相當</a:t>
            </a:r>
            <a:r>
              <a:rPr lang="zh-TW" altLang="en-US" dirty="0" smtClean="0">
                <a:latin typeface="標楷體" panose="03000509000000000000" pitchFamily="65" charset="-120"/>
                <a:ea typeface="標楷體" panose="03000509000000000000" pitchFamily="65" charset="-120"/>
              </a:rPr>
              <a:t>艱難。</a:t>
            </a:r>
            <a:endParaRPr lang="zh-TW" altLang="en-US" dirty="0">
              <a:latin typeface="標楷體" panose="03000509000000000000" pitchFamily="65" charset="-120"/>
              <a:ea typeface="標楷體" panose="03000509000000000000" pitchFamily="65" charset="-120"/>
            </a:endParaRPr>
          </a:p>
        </p:txBody>
      </p:sp>
      <p:sp>
        <p:nvSpPr>
          <p:cNvPr id="9" name="矩形 8"/>
          <p:cNvSpPr/>
          <p:nvPr/>
        </p:nvSpPr>
        <p:spPr>
          <a:xfrm>
            <a:off x="2020151" y="6371325"/>
            <a:ext cx="4108817" cy="369332"/>
          </a:xfrm>
          <a:prstGeom prst="rect">
            <a:avLst/>
          </a:prstGeom>
        </p:spPr>
        <p:txBody>
          <a:bodyPr wrap="none">
            <a:spAutoFit/>
          </a:bodyPr>
          <a:lstStyle/>
          <a:p>
            <a:r>
              <a:rPr lang="zh-TW" altLang="en-US" dirty="0">
                <a:latin typeface="標楷體" panose="03000509000000000000" pitchFamily="65" charset="-120"/>
                <a:ea typeface="標楷體" panose="03000509000000000000" pitchFamily="65" charset="-120"/>
              </a:rPr>
              <a:t>圖片出處：高雄市工務局工程處下水道</a:t>
            </a:r>
          </a:p>
        </p:txBody>
      </p:sp>
    </p:spTree>
    <p:extLst>
      <p:ext uri="{BB962C8B-B14F-4D97-AF65-F5344CB8AC3E}">
        <p14:creationId xmlns:p14="http://schemas.microsoft.com/office/powerpoint/2010/main" val="18287190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6868" y="4365104"/>
            <a:ext cx="2880321" cy="2199518"/>
          </a:xfrm>
          <a:prstGeom prst="rect">
            <a:avLst/>
          </a:prstGeom>
        </p:spPr>
      </p:pic>
      <p:sp>
        <p:nvSpPr>
          <p:cNvPr id="3" name="內容版面配置區 2"/>
          <p:cNvSpPr>
            <a:spLocks noGrp="1"/>
          </p:cNvSpPr>
          <p:nvPr>
            <p:ph idx="1"/>
          </p:nvPr>
        </p:nvSpPr>
        <p:spPr>
          <a:xfrm>
            <a:off x="335472" y="908719"/>
            <a:ext cx="8496944" cy="3744417"/>
          </a:xfrm>
        </p:spPr>
        <p:txBody>
          <a:bodyPr>
            <a:normAutofit fontScale="92500" lnSpcReduction="10000"/>
          </a:bodyPr>
          <a:lstStyle/>
          <a:p>
            <a:pPr marL="0" indent="0">
              <a:buNone/>
            </a:pPr>
            <a:r>
              <a:rPr lang="zh-TW" altLang="en-US" sz="2600" dirty="0">
                <a:solidFill>
                  <a:srgbClr val="FF0000"/>
                </a:solidFill>
                <a:latin typeface="標楷體" panose="03000509000000000000" pitchFamily="65" charset="-120"/>
                <a:ea typeface="標楷體" panose="03000509000000000000" pitchFamily="65" charset="-120"/>
              </a:rPr>
              <a:t>現在高雄市的污水</a:t>
            </a:r>
            <a:r>
              <a:rPr lang="zh-TW" altLang="en-US" sz="2600" dirty="0" smtClean="0">
                <a:solidFill>
                  <a:srgbClr val="FF0000"/>
                </a:solidFill>
                <a:latin typeface="標楷體" panose="03000509000000000000" pitchFamily="65" charset="-120"/>
                <a:ea typeface="標楷體" panose="03000509000000000000" pitchFamily="65" charset="-120"/>
              </a:rPr>
              <a:t>地下道</a:t>
            </a:r>
            <a:endParaRPr lang="zh-TW" altLang="en-US" sz="2600" dirty="0">
              <a:solidFill>
                <a:srgbClr val="FF0000"/>
              </a:solidFill>
              <a:latin typeface="標楷體" panose="03000509000000000000" pitchFamily="65" charset="-120"/>
              <a:ea typeface="標楷體" panose="03000509000000000000" pitchFamily="65" charset="-120"/>
            </a:endParaRPr>
          </a:p>
          <a:p>
            <a:pPr marL="0" indent="0">
              <a:buNone/>
            </a:pPr>
            <a:r>
              <a:rPr lang="zh-TW" altLang="en-US" sz="2600" dirty="0">
                <a:solidFill>
                  <a:srgbClr val="FF0000"/>
                </a:solidFill>
                <a:latin typeface="標楷體" panose="03000509000000000000" pitchFamily="65" charset="-120"/>
                <a:ea typeface="標楷體" panose="03000509000000000000" pitchFamily="65" charset="-120"/>
              </a:rPr>
              <a:t>　　</a:t>
            </a:r>
            <a:r>
              <a:rPr lang="zh-TW" altLang="en-US" sz="2600" dirty="0">
                <a:solidFill>
                  <a:srgbClr val="002060"/>
                </a:solidFill>
                <a:latin typeface="標楷體" panose="03000509000000000000" pitchFamily="65" charset="-120"/>
                <a:ea typeface="標楷體" panose="03000509000000000000" pitchFamily="65" charset="-120"/>
              </a:rPr>
              <a:t>高雄市自民國</a:t>
            </a:r>
            <a:r>
              <a:rPr lang="en-US" altLang="zh-TW" sz="2600" dirty="0">
                <a:solidFill>
                  <a:srgbClr val="002060"/>
                </a:solidFill>
                <a:latin typeface="標楷體" panose="03000509000000000000" pitchFamily="65" charset="-120"/>
                <a:ea typeface="標楷體" panose="03000509000000000000" pitchFamily="65" charset="-120"/>
              </a:rPr>
              <a:t>88</a:t>
            </a:r>
            <a:r>
              <a:rPr lang="zh-TW" altLang="en-US" sz="2600" dirty="0">
                <a:solidFill>
                  <a:srgbClr val="002060"/>
                </a:solidFill>
                <a:latin typeface="標楷體" panose="03000509000000000000" pitchFamily="65" charset="-120"/>
                <a:ea typeface="標楷體" panose="03000509000000000000" pitchFamily="65" charset="-120"/>
              </a:rPr>
              <a:t>年至</a:t>
            </a:r>
            <a:r>
              <a:rPr lang="en-US" altLang="zh-TW" sz="2600" dirty="0">
                <a:solidFill>
                  <a:srgbClr val="002060"/>
                </a:solidFill>
                <a:latin typeface="標楷體" panose="03000509000000000000" pitchFamily="65" charset="-120"/>
                <a:ea typeface="標楷體" panose="03000509000000000000" pitchFamily="65" charset="-120"/>
              </a:rPr>
              <a:t>92</a:t>
            </a:r>
            <a:r>
              <a:rPr lang="zh-TW" altLang="en-US" sz="2600" dirty="0">
                <a:solidFill>
                  <a:srgbClr val="002060"/>
                </a:solidFill>
                <a:latin typeface="標楷體" panose="03000509000000000000" pitchFamily="65" charset="-120"/>
                <a:ea typeface="標楷體" panose="03000509000000000000" pitchFamily="65" charset="-120"/>
              </a:rPr>
              <a:t>年辦理污水下水道系統第一階段第三期，第三期主要優先辦理銜接凱旋路主幹管及較接近市中心之九如路、福德路、建工路及瑞隆路之污水次幹管的舖設，並進行各區域內污水分支管網，包括「後巷接管」的建設。同時埋設大同路、五福路、復興路及部分鎮興路、建國路的污水次幹管，使高雄市污水下水道系統的普及率在民國</a:t>
            </a:r>
            <a:r>
              <a:rPr lang="en-US" altLang="zh-TW" sz="2600" dirty="0">
                <a:solidFill>
                  <a:srgbClr val="002060"/>
                </a:solidFill>
                <a:latin typeface="標楷體" panose="03000509000000000000" pitchFamily="65" charset="-120"/>
                <a:ea typeface="標楷體" panose="03000509000000000000" pitchFamily="65" charset="-120"/>
              </a:rPr>
              <a:t>87</a:t>
            </a:r>
            <a:r>
              <a:rPr lang="zh-TW" altLang="en-US" sz="2600" dirty="0">
                <a:solidFill>
                  <a:srgbClr val="002060"/>
                </a:solidFill>
                <a:latin typeface="標楷體" panose="03000509000000000000" pitchFamily="65" charset="-120"/>
                <a:ea typeface="標楷體" panose="03000509000000000000" pitchFamily="65" charset="-120"/>
              </a:rPr>
              <a:t>年底為</a:t>
            </a:r>
            <a:r>
              <a:rPr lang="en-US" altLang="zh-TW" sz="2600" dirty="0">
                <a:solidFill>
                  <a:srgbClr val="002060"/>
                </a:solidFill>
                <a:latin typeface="標楷體" panose="03000509000000000000" pitchFamily="65" charset="-120"/>
                <a:ea typeface="標楷體" panose="03000509000000000000" pitchFamily="65" charset="-120"/>
              </a:rPr>
              <a:t>6.5</a:t>
            </a:r>
            <a:r>
              <a:rPr lang="zh-TW" altLang="en-US" sz="2600" dirty="0">
                <a:solidFill>
                  <a:srgbClr val="002060"/>
                </a:solidFill>
                <a:latin typeface="標楷體" panose="03000509000000000000" pitchFamily="65" charset="-120"/>
                <a:ea typeface="標楷體" panose="03000509000000000000" pitchFamily="65" charset="-120"/>
              </a:rPr>
              <a:t>％，民國</a:t>
            </a:r>
            <a:r>
              <a:rPr lang="en-US" altLang="zh-TW" sz="2600" dirty="0">
                <a:solidFill>
                  <a:srgbClr val="002060"/>
                </a:solidFill>
                <a:latin typeface="標楷體" panose="03000509000000000000" pitchFamily="65" charset="-120"/>
                <a:ea typeface="標楷體" panose="03000509000000000000" pitchFamily="65" charset="-120"/>
              </a:rPr>
              <a:t>88</a:t>
            </a:r>
            <a:r>
              <a:rPr lang="zh-TW" altLang="en-US" sz="2600" dirty="0">
                <a:solidFill>
                  <a:srgbClr val="002060"/>
                </a:solidFill>
                <a:latin typeface="標楷體" panose="03000509000000000000" pitchFamily="65" charset="-120"/>
                <a:ea typeface="標楷體" panose="03000509000000000000" pitchFamily="65" charset="-120"/>
              </a:rPr>
              <a:t>年以後每年大約以</a:t>
            </a:r>
            <a:r>
              <a:rPr lang="en-US" altLang="zh-TW" sz="2600" dirty="0">
                <a:solidFill>
                  <a:srgbClr val="002060"/>
                </a:solidFill>
                <a:latin typeface="標楷體" panose="03000509000000000000" pitchFamily="65" charset="-120"/>
                <a:ea typeface="標楷體" panose="03000509000000000000" pitchFamily="65" charset="-120"/>
              </a:rPr>
              <a:t>4~5</a:t>
            </a:r>
            <a:r>
              <a:rPr lang="zh-TW" altLang="en-US" sz="2600" dirty="0">
                <a:solidFill>
                  <a:srgbClr val="002060"/>
                </a:solidFill>
                <a:latin typeface="標楷體" panose="03000509000000000000" pitchFamily="65" charset="-120"/>
                <a:ea typeface="標楷體" panose="03000509000000000000" pitchFamily="65" charset="-120"/>
              </a:rPr>
              <a:t>％的速率往上累進，直至在</a:t>
            </a:r>
            <a:r>
              <a:rPr lang="en-US" altLang="zh-TW" sz="2600" dirty="0">
                <a:solidFill>
                  <a:srgbClr val="002060"/>
                </a:solidFill>
                <a:latin typeface="標楷體" panose="03000509000000000000" pitchFamily="65" charset="-120"/>
                <a:ea typeface="標楷體" panose="03000509000000000000" pitchFamily="65" charset="-120"/>
              </a:rPr>
              <a:t>90</a:t>
            </a:r>
            <a:r>
              <a:rPr lang="zh-TW" altLang="en-US" sz="2600" dirty="0">
                <a:solidFill>
                  <a:srgbClr val="002060"/>
                </a:solidFill>
                <a:latin typeface="標楷體" panose="03000509000000000000" pitchFamily="65" charset="-120"/>
                <a:ea typeface="標楷體" panose="03000509000000000000" pitchFamily="65" charset="-120"/>
              </a:rPr>
              <a:t>年底達</a:t>
            </a:r>
            <a:r>
              <a:rPr lang="en-US" altLang="zh-TW" sz="2600" dirty="0">
                <a:solidFill>
                  <a:srgbClr val="002060"/>
                </a:solidFill>
                <a:latin typeface="標楷體" panose="03000509000000000000" pitchFamily="65" charset="-120"/>
                <a:ea typeface="標楷體" panose="03000509000000000000" pitchFamily="65" charset="-120"/>
              </a:rPr>
              <a:t>20</a:t>
            </a:r>
            <a:r>
              <a:rPr lang="zh-TW" altLang="en-US" sz="2600" dirty="0">
                <a:solidFill>
                  <a:srgbClr val="002060"/>
                </a:solidFill>
                <a:latin typeface="標楷體" panose="03000509000000000000" pitchFamily="65" charset="-120"/>
                <a:ea typeface="標楷體" panose="03000509000000000000" pitchFamily="65" charset="-120"/>
              </a:rPr>
              <a:t>％，</a:t>
            </a:r>
            <a:r>
              <a:rPr lang="en-US" altLang="zh-TW" sz="2600" dirty="0">
                <a:solidFill>
                  <a:srgbClr val="002060"/>
                </a:solidFill>
                <a:latin typeface="標楷體" panose="03000509000000000000" pitchFamily="65" charset="-120"/>
                <a:ea typeface="標楷體" panose="03000509000000000000" pitchFamily="65" charset="-120"/>
              </a:rPr>
              <a:t>91</a:t>
            </a:r>
            <a:r>
              <a:rPr lang="zh-TW" altLang="en-US" sz="2600" dirty="0">
                <a:solidFill>
                  <a:srgbClr val="002060"/>
                </a:solidFill>
                <a:latin typeface="標楷體" panose="03000509000000000000" pitchFamily="65" charset="-120"/>
                <a:ea typeface="標楷體" panose="03000509000000000000" pitchFamily="65" charset="-120"/>
              </a:rPr>
              <a:t>年底達</a:t>
            </a:r>
            <a:r>
              <a:rPr lang="en-US" altLang="zh-TW" sz="2600" dirty="0">
                <a:solidFill>
                  <a:srgbClr val="002060"/>
                </a:solidFill>
                <a:latin typeface="標楷體" panose="03000509000000000000" pitchFamily="65" charset="-120"/>
                <a:ea typeface="標楷體" panose="03000509000000000000" pitchFamily="65" charset="-120"/>
              </a:rPr>
              <a:t>25</a:t>
            </a:r>
            <a:r>
              <a:rPr lang="zh-TW" altLang="en-US" sz="2600" dirty="0">
                <a:solidFill>
                  <a:srgbClr val="002060"/>
                </a:solidFill>
                <a:latin typeface="標楷體" panose="03000509000000000000" pitchFamily="65" charset="-120"/>
                <a:ea typeface="標楷體" panose="03000509000000000000" pitchFamily="65" charset="-120"/>
              </a:rPr>
              <a:t>％，至</a:t>
            </a:r>
            <a:r>
              <a:rPr lang="en-US" altLang="zh-TW" sz="2600" dirty="0">
                <a:solidFill>
                  <a:srgbClr val="002060"/>
                </a:solidFill>
                <a:latin typeface="標楷體" panose="03000509000000000000" pitchFamily="65" charset="-120"/>
                <a:ea typeface="標楷體" panose="03000509000000000000" pitchFamily="65" charset="-120"/>
              </a:rPr>
              <a:t>92</a:t>
            </a:r>
            <a:r>
              <a:rPr lang="zh-TW" altLang="en-US" sz="2600" dirty="0">
                <a:solidFill>
                  <a:srgbClr val="002060"/>
                </a:solidFill>
                <a:latin typeface="標楷體" panose="03000509000000000000" pitchFamily="65" charset="-120"/>
                <a:ea typeface="標楷體" panose="03000509000000000000" pitchFamily="65" charset="-120"/>
              </a:rPr>
              <a:t>年底達</a:t>
            </a:r>
            <a:r>
              <a:rPr lang="en-US" altLang="zh-TW" sz="2600" dirty="0">
                <a:solidFill>
                  <a:srgbClr val="002060"/>
                </a:solidFill>
                <a:latin typeface="標楷體" panose="03000509000000000000" pitchFamily="65" charset="-120"/>
                <a:ea typeface="標楷體" panose="03000509000000000000" pitchFamily="65" charset="-120"/>
              </a:rPr>
              <a:t>28</a:t>
            </a:r>
            <a:r>
              <a:rPr lang="zh-TW" altLang="en-US" sz="2600" dirty="0">
                <a:solidFill>
                  <a:srgbClr val="002060"/>
                </a:solidFill>
                <a:latin typeface="標楷體" panose="03000509000000000000" pitchFamily="65" charset="-120"/>
                <a:ea typeface="標楷體" panose="03000509000000000000" pitchFamily="65" charset="-120"/>
              </a:rPr>
              <a:t>％。而我們的愛河河川品質也越來越棒</a:t>
            </a:r>
            <a:r>
              <a:rPr lang="zh-TW" altLang="en-US" sz="2600" dirty="0" smtClean="0">
                <a:solidFill>
                  <a:srgbClr val="002060"/>
                </a:solidFill>
                <a:latin typeface="標楷體" panose="03000509000000000000" pitchFamily="65" charset="-120"/>
                <a:ea typeface="標楷體" panose="03000509000000000000" pitchFamily="65" charset="-120"/>
              </a:rPr>
              <a:t>了。</a:t>
            </a:r>
            <a:endParaRPr lang="en-US" altLang="zh-TW" sz="2600" dirty="0" smtClean="0">
              <a:solidFill>
                <a:srgbClr val="002060"/>
              </a:solidFill>
              <a:latin typeface="標楷體" panose="03000509000000000000" pitchFamily="65" charset="-120"/>
              <a:ea typeface="標楷體" panose="03000509000000000000" pitchFamily="65" charset="-120"/>
            </a:endParaRPr>
          </a:p>
        </p:txBody>
      </p:sp>
      <p:sp>
        <p:nvSpPr>
          <p:cNvPr id="2" name="標題 1"/>
          <p:cNvSpPr>
            <a:spLocks noGrp="1"/>
          </p:cNvSpPr>
          <p:nvPr>
            <p:ph type="title"/>
          </p:nvPr>
        </p:nvSpPr>
        <p:spPr>
          <a:xfrm>
            <a:off x="155574" y="7937"/>
            <a:ext cx="8988425"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愛河的整治方法～污水</a:t>
            </a:r>
            <a:r>
              <a:rPr lang="zh-TW" altLang="en-US" sz="4800" dirty="0" smtClean="0">
                <a:solidFill>
                  <a:srgbClr val="0070C0"/>
                </a:solidFill>
                <a:latin typeface="標楷體" panose="03000509000000000000" pitchFamily="65" charset="-120"/>
                <a:ea typeface="標楷體" panose="03000509000000000000" pitchFamily="65" charset="-120"/>
              </a:rPr>
              <a:t>地下道三</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6" name="AutoShape 4" descr="D:\103-506\%E6%A1%82%E6%9E%97%E5%A4%A7%E6%B2%B3%E6%88%80%E4%BB%8B%E7%B4%B9\%E6%84%9B%E6%B2%B3\%E6%84%9B%E6%B2%B3\library.taiwanschoolnet.org\cyberfair2005\yacjh\images\pru0-5.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9752" y="5023996"/>
            <a:ext cx="2340372" cy="1787193"/>
          </a:xfrm>
          <a:prstGeom prst="rect">
            <a:avLst/>
          </a:prstGeom>
        </p:spPr>
      </p:pic>
      <p:sp>
        <p:nvSpPr>
          <p:cNvPr id="10" name="矩形 9"/>
          <p:cNvSpPr/>
          <p:nvPr/>
        </p:nvSpPr>
        <p:spPr>
          <a:xfrm>
            <a:off x="155576" y="4365104"/>
            <a:ext cx="5928592" cy="1200329"/>
          </a:xfrm>
          <a:prstGeom prst="rect">
            <a:avLst/>
          </a:prstGeom>
        </p:spPr>
        <p:txBody>
          <a:bodyPr wrap="square">
            <a:spAutoFit/>
          </a:bodyPr>
          <a:lstStyle/>
          <a:p>
            <a:pPr lvl="0" indent="712788">
              <a:spcBef>
                <a:spcPct val="20000"/>
              </a:spcBef>
            </a:pPr>
            <a:r>
              <a:rPr lang="zh-TW" altLang="en-US" sz="2400" dirty="0">
                <a:solidFill>
                  <a:srgbClr val="002060"/>
                </a:solidFill>
                <a:latin typeface="標楷體" panose="03000509000000000000" pitchFamily="65" charset="-120"/>
                <a:ea typeface="標楷體" panose="03000509000000000000" pitchFamily="65" charset="-120"/>
              </a:rPr>
              <a:t>高雄市污水管線目前完成約 </a:t>
            </a:r>
            <a:r>
              <a:rPr lang="en-US" altLang="zh-TW" sz="2400" dirty="0">
                <a:solidFill>
                  <a:srgbClr val="002060"/>
                </a:solidFill>
                <a:latin typeface="標楷體" panose="03000509000000000000" pitchFamily="65" charset="-120"/>
                <a:ea typeface="標楷體" panose="03000509000000000000" pitchFamily="65" charset="-120"/>
              </a:rPr>
              <a:t>1,078.71 </a:t>
            </a:r>
            <a:r>
              <a:rPr lang="zh-TW" altLang="en-US" sz="2400" dirty="0">
                <a:solidFill>
                  <a:srgbClr val="002060"/>
                </a:solidFill>
                <a:latin typeface="標楷體" panose="03000509000000000000" pitchFamily="65" charset="-120"/>
                <a:ea typeface="標楷體" panose="03000509000000000000" pitchFamily="65" charset="-120"/>
              </a:rPr>
              <a:t>公里，用戶接管普及率為 </a:t>
            </a:r>
            <a:r>
              <a:rPr lang="en-US" altLang="zh-TW" sz="2400" dirty="0">
                <a:solidFill>
                  <a:srgbClr val="002060"/>
                </a:solidFill>
                <a:latin typeface="標楷體" panose="03000509000000000000" pitchFamily="65" charset="-120"/>
                <a:ea typeface="標楷體" panose="03000509000000000000" pitchFamily="65" charset="-120"/>
              </a:rPr>
              <a:t>47.2</a:t>
            </a:r>
            <a:r>
              <a:rPr lang="zh-TW" altLang="en-US" sz="2400" dirty="0">
                <a:solidFill>
                  <a:srgbClr val="002060"/>
                </a:solidFill>
                <a:latin typeface="標楷體" panose="03000509000000000000" pitchFamily="65" charset="-120"/>
                <a:ea typeface="標楷體" panose="03000509000000000000" pitchFamily="65" charset="-120"/>
              </a:rPr>
              <a:t>％，排水幹線興建完成率為</a:t>
            </a:r>
            <a:r>
              <a:rPr lang="en-US" altLang="zh-TW" sz="2400" dirty="0">
                <a:solidFill>
                  <a:srgbClr val="002060"/>
                </a:solidFill>
                <a:latin typeface="標楷體" panose="03000509000000000000" pitchFamily="65" charset="-120"/>
                <a:ea typeface="標楷體" panose="03000509000000000000" pitchFamily="65" charset="-120"/>
              </a:rPr>
              <a:t>69.55</a:t>
            </a:r>
            <a:r>
              <a:rPr lang="zh-TW" altLang="en-US" sz="2400" dirty="0">
                <a:solidFill>
                  <a:srgbClr val="002060"/>
                </a:solidFill>
                <a:latin typeface="標楷體" panose="03000509000000000000" pitchFamily="65" charset="-120"/>
                <a:ea typeface="標楷體" panose="03000509000000000000" pitchFamily="65" charset="-120"/>
              </a:rPr>
              <a:t>％。</a:t>
            </a:r>
          </a:p>
        </p:txBody>
      </p:sp>
    </p:spTree>
    <p:extLst>
      <p:ext uri="{BB962C8B-B14F-4D97-AF65-F5344CB8AC3E}">
        <p14:creationId xmlns:p14="http://schemas.microsoft.com/office/powerpoint/2010/main" val="39631324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335472" y="908719"/>
            <a:ext cx="8496944" cy="4392489"/>
          </a:xfrm>
        </p:spPr>
        <p:txBody>
          <a:bodyPr>
            <a:normAutofit fontScale="92500" lnSpcReduction="10000"/>
          </a:bodyPr>
          <a:lstStyle/>
          <a:p>
            <a:pPr marL="0" indent="0">
              <a:buNone/>
            </a:pPr>
            <a:r>
              <a:rPr lang="zh-TW" altLang="en-US" sz="2600" dirty="0">
                <a:solidFill>
                  <a:srgbClr val="FF0000"/>
                </a:solidFill>
                <a:latin typeface="標楷體" panose="03000509000000000000" pitchFamily="65" charset="-120"/>
                <a:ea typeface="標楷體" panose="03000509000000000000" pitchFamily="65" charset="-120"/>
              </a:rPr>
              <a:t>截流站的</a:t>
            </a:r>
            <a:r>
              <a:rPr lang="zh-TW" altLang="en-US" sz="2600" dirty="0" smtClean="0">
                <a:solidFill>
                  <a:srgbClr val="FF0000"/>
                </a:solidFill>
                <a:latin typeface="標楷體" panose="03000509000000000000" pitchFamily="65" charset="-120"/>
                <a:ea typeface="標楷體" panose="03000509000000000000" pitchFamily="65" charset="-120"/>
              </a:rPr>
              <a:t>誕生</a:t>
            </a:r>
            <a:endParaRPr lang="zh-TW" altLang="en-US" sz="2600" dirty="0">
              <a:solidFill>
                <a:srgbClr val="FF0000"/>
              </a:solidFill>
              <a:latin typeface="標楷體" panose="03000509000000000000" pitchFamily="65" charset="-120"/>
              <a:ea typeface="標楷體" panose="03000509000000000000" pitchFamily="65" charset="-120"/>
            </a:endParaRPr>
          </a:p>
          <a:p>
            <a:pPr marL="0" indent="0">
              <a:buNone/>
            </a:pPr>
            <a:r>
              <a:rPr lang="zh-TW" altLang="en-US" sz="2600" dirty="0">
                <a:solidFill>
                  <a:srgbClr val="FF0000"/>
                </a:solidFill>
                <a:latin typeface="標楷體" panose="03000509000000000000" pitchFamily="65" charset="-120"/>
                <a:ea typeface="標楷體" panose="03000509000000000000" pitchFamily="65" charset="-120"/>
              </a:rPr>
              <a:t>　　</a:t>
            </a:r>
            <a:r>
              <a:rPr lang="zh-TW" altLang="en-US" sz="2600" dirty="0">
                <a:solidFill>
                  <a:srgbClr val="002060"/>
                </a:solidFill>
                <a:latin typeface="標楷體" panose="03000509000000000000" pitchFamily="65" charset="-120"/>
                <a:ea typeface="標楷體" panose="03000509000000000000" pitchFamily="65" charset="-120"/>
              </a:rPr>
              <a:t>由於污水下水道需深埋在地下，施工經費昂貴，難以短期內大量的設置。在雨、汙水分流的下水道系統尚未建立前，汙水隨同雨水直接排入河流或海洋中，造成水域環境嚴重汙染，污水所產生的公害問題已迫在眉睫，而設置截流站可立即達到環境整潔的目標。於是市政府採治標、治本兼行的方式，在治平橋、九如橋、鼓山運河、力行路、興隆溝、二號運河、七賢路、六合路、民生路、新樂街、大義路等十一處雨水下水道出口設置防潮閘門截流設施，配合污水管與中洲污水處理廠的興建，將污水阻絕於閘門前，經由污水幹管輸送至中洲污水處理廠處理後，海洋放流。只要污水不再流入愛河，依賴河流本身的自淨功能，愛河的水質將會愈來愈好。</a:t>
            </a:r>
            <a:endParaRPr lang="en-US" altLang="zh-TW" sz="2600" dirty="0" smtClean="0">
              <a:solidFill>
                <a:srgbClr val="002060"/>
              </a:solidFill>
              <a:latin typeface="標楷體" panose="03000509000000000000" pitchFamily="65" charset="-120"/>
              <a:ea typeface="標楷體" panose="03000509000000000000" pitchFamily="65" charset="-120"/>
            </a:endParaRPr>
          </a:p>
        </p:txBody>
      </p:sp>
      <p:sp>
        <p:nvSpPr>
          <p:cNvPr id="2" name="標題 1"/>
          <p:cNvSpPr>
            <a:spLocks noGrp="1"/>
          </p:cNvSpPr>
          <p:nvPr>
            <p:ph type="title"/>
          </p:nvPr>
        </p:nvSpPr>
        <p:spPr>
          <a:xfrm>
            <a:off x="155574" y="7937"/>
            <a:ext cx="8988425"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愛河的整治方法～截流站</a:t>
            </a:r>
          </a:p>
        </p:txBody>
      </p:sp>
      <p:sp>
        <p:nvSpPr>
          <p:cNvPr id="6" name="AutoShape 4" descr="D:\103-506\%E6%A1%82%E6%9E%97%E5%A4%A7%E6%B2%B3%E6%88%80%E4%BB%8B%E7%B4%B9\%E6%84%9B%E6%B2%B3\%E6%84%9B%E6%B2%B3\library.taiwanschoolnet.org\cyberfair2005\yacjh\images\pru0-5.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6176" y="4760302"/>
            <a:ext cx="2448272" cy="1836204"/>
          </a:xfrm>
          <a:prstGeom prst="rect">
            <a:avLst/>
          </a:prstGeom>
        </p:spPr>
      </p:pic>
    </p:spTree>
    <p:extLst>
      <p:ext uri="{BB962C8B-B14F-4D97-AF65-F5344CB8AC3E}">
        <p14:creationId xmlns:p14="http://schemas.microsoft.com/office/powerpoint/2010/main" val="58223160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306069" y="908719"/>
            <a:ext cx="8730427" cy="3888433"/>
          </a:xfrm>
        </p:spPr>
        <p:txBody>
          <a:bodyPr>
            <a:normAutofit/>
          </a:bodyPr>
          <a:lstStyle/>
          <a:p>
            <a:pPr marL="0" indent="0">
              <a:buNone/>
            </a:pPr>
            <a:r>
              <a:rPr lang="zh-TW" altLang="en-US" sz="2000" dirty="0">
                <a:solidFill>
                  <a:srgbClr val="FF0000"/>
                </a:solidFill>
                <a:latin typeface="標楷體" panose="03000509000000000000" pitchFamily="65" charset="-120"/>
                <a:ea typeface="標楷體" panose="03000509000000000000" pitchFamily="65" charset="-120"/>
              </a:rPr>
              <a:t>　　</a:t>
            </a:r>
            <a:r>
              <a:rPr lang="zh-TW" altLang="en-US" sz="2000" dirty="0">
                <a:solidFill>
                  <a:srgbClr val="002060"/>
                </a:solidFill>
                <a:latin typeface="標楷體" panose="03000509000000000000" pitchFamily="65" charset="-120"/>
                <a:ea typeface="標楷體" panose="03000509000000000000" pitchFamily="65" charset="-120"/>
              </a:rPr>
              <a:t>截流站裡主要配備有：防洪閘門三門、 污水揚水泵（抽水）、 機械式攔污柵、 除臭設備（耙污器）、 緊急備用發電機。目的不外乎將家庭工業污水和愛河的河水區離開來，以及防洪用</a:t>
            </a:r>
            <a:r>
              <a:rPr lang="zh-TW" altLang="en-US" sz="2000" dirty="0" smtClean="0">
                <a:solidFill>
                  <a:srgbClr val="002060"/>
                </a:solidFill>
                <a:latin typeface="標楷體" panose="03000509000000000000" pitchFamily="65" charset="-120"/>
                <a:ea typeface="標楷體" panose="03000509000000000000" pitchFamily="65" charset="-120"/>
              </a:rPr>
              <a:t>。</a:t>
            </a:r>
            <a:endParaRPr lang="zh-TW" altLang="en-US" sz="2000" dirty="0">
              <a:solidFill>
                <a:srgbClr val="002060"/>
              </a:solidFill>
              <a:latin typeface="標楷體" panose="03000509000000000000" pitchFamily="65" charset="-120"/>
              <a:ea typeface="標楷體" panose="03000509000000000000" pitchFamily="65" charset="-120"/>
            </a:endParaRPr>
          </a:p>
          <a:p>
            <a:pPr marL="0" indent="0">
              <a:buNone/>
            </a:pPr>
            <a:r>
              <a:rPr lang="zh-TW" altLang="en-US" sz="2000" dirty="0">
                <a:solidFill>
                  <a:srgbClr val="002060"/>
                </a:solidFill>
                <a:latin typeface="標楷體" panose="03000509000000000000" pitchFamily="65" charset="-120"/>
                <a:ea typeface="標楷體" panose="03000509000000000000" pitchFamily="65" charset="-120"/>
              </a:rPr>
              <a:t>　　當愛河的天氣為晴天時，為避免家庭工廠等污水進入愛河、污染河川。所以此時截流站的功能主要在「截取愛河上游沿岸的污水」，先把污水擋住，再用重力及抽水馬達，導入污水管後，再運到中洲處理廠</a:t>
            </a:r>
            <a:r>
              <a:rPr lang="zh-TW" altLang="en-US" sz="2000" dirty="0" smtClean="0">
                <a:solidFill>
                  <a:srgbClr val="002060"/>
                </a:solidFill>
                <a:latin typeface="標楷體" panose="03000509000000000000" pitchFamily="65" charset="-120"/>
                <a:ea typeface="標楷體" panose="03000509000000000000" pitchFamily="65" charset="-120"/>
              </a:rPr>
              <a:t>。</a:t>
            </a:r>
            <a:endParaRPr lang="zh-TW" altLang="en-US" sz="2000" dirty="0">
              <a:solidFill>
                <a:srgbClr val="002060"/>
              </a:solidFill>
              <a:latin typeface="標楷體" panose="03000509000000000000" pitchFamily="65" charset="-120"/>
              <a:ea typeface="標楷體" panose="03000509000000000000" pitchFamily="65" charset="-120"/>
            </a:endParaRPr>
          </a:p>
          <a:p>
            <a:pPr marL="0" indent="0">
              <a:buNone/>
            </a:pPr>
            <a:r>
              <a:rPr lang="zh-TW" altLang="en-US" sz="2000" dirty="0">
                <a:solidFill>
                  <a:srgbClr val="002060"/>
                </a:solidFill>
                <a:latin typeface="標楷體" panose="03000509000000000000" pitchFamily="65" charset="-120"/>
                <a:ea typeface="標楷體" panose="03000509000000000000" pitchFamily="65" charset="-120"/>
              </a:rPr>
              <a:t>　　 但是若是雨天，再將河水繼續擋住，可能因為上游水位過高，而發生潰堤的現象。所以雨天則是為避免河水過高，導致潰堤的現象，主要以「洩洪」為主，截流站會開啟防洪閘門排洪，宣洩愛河上游雨水，不過這也代表一件事：雨天的時候，我們沒辦法將污水和河水分開處理，它們將一同隨雨水流入愛河中，產生季節性的河川污染</a:t>
            </a:r>
            <a:r>
              <a:rPr lang="zh-TW" altLang="en-US" sz="2000" dirty="0" smtClean="0">
                <a:solidFill>
                  <a:srgbClr val="002060"/>
                </a:solidFill>
                <a:latin typeface="標楷體" panose="03000509000000000000" pitchFamily="65" charset="-120"/>
                <a:ea typeface="標楷體" panose="03000509000000000000" pitchFamily="65" charset="-120"/>
              </a:rPr>
              <a:t>。</a:t>
            </a:r>
            <a:r>
              <a:rPr lang="en-US" altLang="zh-TW" sz="2000" dirty="0" smtClean="0">
                <a:solidFill>
                  <a:srgbClr val="002060"/>
                </a:solidFill>
                <a:latin typeface="標楷體" panose="03000509000000000000" pitchFamily="65" charset="-120"/>
                <a:ea typeface="標楷體" panose="03000509000000000000" pitchFamily="65" charset="-120"/>
              </a:rPr>
              <a:t/>
            </a:r>
            <a:br>
              <a:rPr lang="en-US" altLang="zh-TW" sz="2000" dirty="0" smtClean="0">
                <a:solidFill>
                  <a:srgbClr val="002060"/>
                </a:solidFill>
                <a:latin typeface="標楷體" panose="03000509000000000000" pitchFamily="65" charset="-120"/>
                <a:ea typeface="標楷體" panose="03000509000000000000" pitchFamily="65" charset="-120"/>
              </a:rPr>
            </a:br>
            <a:endParaRPr lang="en-US" altLang="zh-TW" sz="2000" dirty="0" smtClean="0">
              <a:solidFill>
                <a:srgbClr val="002060"/>
              </a:solidFill>
              <a:latin typeface="標楷體" panose="03000509000000000000" pitchFamily="65" charset="-120"/>
              <a:ea typeface="標楷體" panose="03000509000000000000" pitchFamily="65" charset="-120"/>
            </a:endParaRPr>
          </a:p>
        </p:txBody>
      </p:sp>
      <p:sp>
        <p:nvSpPr>
          <p:cNvPr id="2" name="標題 1"/>
          <p:cNvSpPr>
            <a:spLocks noGrp="1"/>
          </p:cNvSpPr>
          <p:nvPr>
            <p:ph type="title"/>
          </p:nvPr>
        </p:nvSpPr>
        <p:spPr>
          <a:xfrm>
            <a:off x="155574" y="7937"/>
            <a:ext cx="9384978"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愛河的整治方法～截流站</a:t>
            </a:r>
            <a:r>
              <a:rPr lang="zh-TW" altLang="en-US" sz="4800" dirty="0" smtClean="0">
                <a:solidFill>
                  <a:srgbClr val="0070C0"/>
                </a:solidFill>
                <a:latin typeface="標楷體" panose="03000509000000000000" pitchFamily="65" charset="-120"/>
                <a:ea typeface="標楷體" panose="03000509000000000000" pitchFamily="65" charset="-120"/>
              </a:rPr>
              <a:t>功能</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6" name="AutoShape 4" descr="D:\103-506\%E6%A1%82%E6%9E%97%E5%A4%A7%E6%B2%B3%E6%88%80%E4%BB%8B%E7%B4%B9\%E6%84%9B%E6%B2%B3\%E6%84%9B%E6%B2%B3\library.taiwanschoolnet.org\cyberfair2005\yacjh\images\pru0-5.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6216" y="4941168"/>
            <a:ext cx="2193032" cy="1644774"/>
          </a:xfrm>
          <a:prstGeom prst="rect">
            <a:avLst/>
          </a:prstGeom>
        </p:spPr>
      </p:pic>
      <p:sp>
        <p:nvSpPr>
          <p:cNvPr id="5" name="矩形 4"/>
          <p:cNvSpPr/>
          <p:nvPr/>
        </p:nvSpPr>
        <p:spPr>
          <a:xfrm>
            <a:off x="321542" y="4438876"/>
            <a:ext cx="6319812" cy="2419124"/>
          </a:xfrm>
          <a:prstGeom prst="rect">
            <a:avLst/>
          </a:prstGeom>
        </p:spPr>
        <p:txBody>
          <a:bodyPr wrap="square">
            <a:spAutoFit/>
          </a:bodyPr>
          <a:lstStyle/>
          <a:p>
            <a:pPr lvl="0">
              <a:spcBef>
                <a:spcPct val="20000"/>
              </a:spcBef>
            </a:pPr>
            <a:r>
              <a:rPr lang="zh-TW" altLang="en-US" dirty="0">
                <a:solidFill>
                  <a:srgbClr val="FF0000"/>
                </a:solidFill>
                <a:latin typeface="標楷體" panose="03000509000000000000" pitchFamily="65" charset="-120"/>
                <a:ea typeface="標楷體" panose="03000509000000000000" pitchFamily="65" charset="-120"/>
              </a:rPr>
              <a:t>截流站處理步驟</a:t>
            </a:r>
          </a:p>
          <a:p>
            <a:pPr lvl="0">
              <a:spcBef>
                <a:spcPct val="20000"/>
              </a:spcBef>
            </a:pPr>
            <a:r>
              <a:rPr lang="zh-TW" altLang="en-US" dirty="0">
                <a:solidFill>
                  <a:srgbClr val="002060"/>
                </a:solidFill>
                <a:latin typeface="標楷體" panose="03000509000000000000" pitchFamily="65" charset="-120"/>
                <a:ea typeface="標楷體" panose="03000509000000000000" pitchFamily="65" charset="-120"/>
              </a:rPr>
              <a:t>　　一．晴天關閉防洪閘門截取愛河上游污水，當污水水位（內水位）高於 </a:t>
            </a:r>
            <a:r>
              <a:rPr lang="en-US" altLang="zh-TW" dirty="0">
                <a:solidFill>
                  <a:srgbClr val="002060"/>
                </a:solidFill>
                <a:latin typeface="標楷體" panose="03000509000000000000" pitchFamily="65" charset="-120"/>
                <a:ea typeface="標楷體" panose="03000509000000000000" pitchFamily="65" charset="-120"/>
              </a:rPr>
              <a:t>EL </a:t>
            </a:r>
            <a:r>
              <a:rPr lang="zh-TW" altLang="en-US" dirty="0">
                <a:solidFill>
                  <a:srgbClr val="002060"/>
                </a:solidFill>
                <a:latin typeface="標楷體" panose="03000509000000000000" pitchFamily="65" charset="-120"/>
                <a:ea typeface="標楷體" panose="03000509000000000000" pitchFamily="65" charset="-120"/>
              </a:rPr>
              <a:t>負 </a:t>
            </a:r>
            <a:r>
              <a:rPr lang="en-US" altLang="zh-TW" dirty="0">
                <a:solidFill>
                  <a:srgbClr val="002060"/>
                </a:solidFill>
                <a:latin typeface="標楷體" panose="03000509000000000000" pitchFamily="65" charset="-120"/>
                <a:ea typeface="標楷體" panose="03000509000000000000" pitchFamily="65" charset="-120"/>
              </a:rPr>
              <a:t>-.-M </a:t>
            </a:r>
            <a:r>
              <a:rPr lang="zh-TW" altLang="en-US" dirty="0">
                <a:solidFill>
                  <a:srgbClr val="002060"/>
                </a:solidFill>
                <a:latin typeface="標楷體" panose="03000509000000000000" pitchFamily="65" charset="-120"/>
                <a:ea typeface="標楷體" panose="03000509000000000000" pitchFamily="65" charset="-120"/>
              </a:rPr>
              <a:t>時則由重力方式導入污水管，低於 </a:t>
            </a:r>
            <a:r>
              <a:rPr lang="en-US" altLang="zh-TW" dirty="0">
                <a:solidFill>
                  <a:srgbClr val="002060"/>
                </a:solidFill>
                <a:latin typeface="標楷體" panose="03000509000000000000" pitchFamily="65" charset="-120"/>
                <a:ea typeface="標楷體" panose="03000509000000000000" pitchFamily="65" charset="-120"/>
              </a:rPr>
              <a:t>EL-.-M </a:t>
            </a:r>
            <a:r>
              <a:rPr lang="zh-TW" altLang="en-US" dirty="0">
                <a:solidFill>
                  <a:srgbClr val="002060"/>
                </a:solidFill>
                <a:latin typeface="標楷體" panose="03000509000000000000" pitchFamily="65" charset="-120"/>
                <a:ea typeface="標楷體" panose="03000509000000000000" pitchFamily="65" charset="-120"/>
              </a:rPr>
              <a:t>時則由污水泵洋水經撈污處理後導入污水管，截流量為每秒 </a:t>
            </a:r>
            <a:r>
              <a:rPr lang="en-US" altLang="zh-TW" dirty="0">
                <a:solidFill>
                  <a:srgbClr val="002060"/>
                </a:solidFill>
                <a:latin typeface="標楷體" panose="03000509000000000000" pitchFamily="65" charset="-120"/>
                <a:ea typeface="標楷體" panose="03000509000000000000" pitchFamily="65" charset="-120"/>
              </a:rPr>
              <a:t>2.7 </a:t>
            </a:r>
            <a:r>
              <a:rPr lang="zh-TW" altLang="en-US" dirty="0">
                <a:solidFill>
                  <a:srgbClr val="002060"/>
                </a:solidFill>
                <a:latin typeface="標楷體" panose="03000509000000000000" pitchFamily="65" charset="-120"/>
                <a:ea typeface="標楷體" panose="03000509000000000000" pitchFamily="65" charset="-120"/>
              </a:rPr>
              <a:t>頓避免污水流入愛河下游而污染水質。 </a:t>
            </a:r>
          </a:p>
          <a:p>
            <a:pPr lvl="0">
              <a:spcBef>
                <a:spcPct val="20000"/>
              </a:spcBef>
            </a:pPr>
            <a:r>
              <a:rPr lang="zh-TW" altLang="en-US" dirty="0">
                <a:solidFill>
                  <a:srgbClr val="002060"/>
                </a:solidFill>
                <a:latin typeface="標楷體" panose="03000509000000000000" pitchFamily="65" charset="-120"/>
                <a:ea typeface="標楷體" panose="03000509000000000000" pitchFamily="65" charset="-120"/>
              </a:rPr>
              <a:t>　　二．雨天時，當愛河上游水位（即內水位）達 </a:t>
            </a:r>
            <a:r>
              <a:rPr lang="en-US" altLang="zh-TW" dirty="0">
                <a:solidFill>
                  <a:srgbClr val="002060"/>
                </a:solidFill>
                <a:latin typeface="標楷體" panose="03000509000000000000" pitchFamily="65" charset="-120"/>
                <a:ea typeface="標楷體" panose="03000509000000000000" pitchFamily="65" charset="-120"/>
              </a:rPr>
              <a:t>EL </a:t>
            </a:r>
            <a:r>
              <a:rPr lang="zh-TW" altLang="en-US" dirty="0">
                <a:solidFill>
                  <a:srgbClr val="002060"/>
                </a:solidFill>
                <a:latin typeface="標楷體" panose="03000509000000000000" pitchFamily="65" charset="-120"/>
                <a:ea typeface="標楷體" panose="03000509000000000000" pitchFamily="65" charset="-120"/>
              </a:rPr>
              <a:t>一 </a:t>
            </a:r>
            <a:r>
              <a:rPr lang="en-US" altLang="zh-TW" dirty="0">
                <a:solidFill>
                  <a:srgbClr val="002060"/>
                </a:solidFill>
                <a:latin typeface="標楷體" panose="03000509000000000000" pitchFamily="65" charset="-120"/>
                <a:ea typeface="標楷體" panose="03000509000000000000" pitchFamily="65" charset="-120"/>
              </a:rPr>
              <a:t>. </a:t>
            </a:r>
            <a:r>
              <a:rPr lang="zh-TW" altLang="en-US" dirty="0">
                <a:solidFill>
                  <a:srgbClr val="002060"/>
                </a:solidFill>
                <a:latin typeface="標楷體" panose="03000509000000000000" pitchFamily="65" charset="-120"/>
                <a:ea typeface="標楷體" panose="03000509000000000000" pitchFamily="65" charset="-120"/>
              </a:rPr>
              <a:t>四四 </a:t>
            </a:r>
            <a:r>
              <a:rPr lang="en-US" altLang="zh-TW" dirty="0">
                <a:solidFill>
                  <a:srgbClr val="002060"/>
                </a:solidFill>
                <a:latin typeface="標楷體" panose="03000509000000000000" pitchFamily="65" charset="-120"/>
                <a:ea typeface="標楷體" panose="03000509000000000000" pitchFamily="65" charset="-120"/>
              </a:rPr>
              <a:t>M </a:t>
            </a:r>
            <a:r>
              <a:rPr lang="zh-TW" altLang="en-US" dirty="0">
                <a:solidFill>
                  <a:srgbClr val="002060"/>
                </a:solidFill>
                <a:latin typeface="標楷體" panose="03000509000000000000" pitchFamily="65" charset="-120"/>
                <a:ea typeface="標楷體" panose="03000509000000000000" pitchFamily="65" charset="-120"/>
              </a:rPr>
              <a:t>時則關閉截污進水閘門，開啟防洪閘門將上游雨水藉游愛河宣洩排洪。</a:t>
            </a:r>
          </a:p>
        </p:txBody>
      </p:sp>
      <p:sp>
        <p:nvSpPr>
          <p:cNvPr id="8" name="矩形 7"/>
          <p:cNvSpPr/>
          <p:nvPr/>
        </p:nvSpPr>
        <p:spPr>
          <a:xfrm>
            <a:off x="6280584" y="4356393"/>
            <a:ext cx="2664296" cy="584775"/>
          </a:xfrm>
          <a:prstGeom prst="rect">
            <a:avLst/>
          </a:prstGeom>
        </p:spPr>
        <p:txBody>
          <a:bodyPr wrap="square">
            <a:spAutoFit/>
          </a:bodyPr>
          <a:lstStyle/>
          <a:p>
            <a:r>
              <a:rPr lang="zh-TW" altLang="en-US" sz="1400" dirty="0">
                <a:latin typeface="標楷體" panose="03000509000000000000" pitchFamily="65" charset="-120"/>
                <a:ea typeface="標楷體" panose="03000509000000000000" pitchFamily="65" charset="-120"/>
              </a:rPr>
              <a:t>控制閘門的設施（在假日有人監控，以防豪大雨喔！</a:t>
            </a:r>
            <a:r>
              <a:rPr lang="zh-TW" altLang="en-US" dirty="0"/>
              <a:t>）</a:t>
            </a:r>
          </a:p>
        </p:txBody>
      </p:sp>
    </p:spTree>
    <p:extLst>
      <p:ext uri="{BB962C8B-B14F-4D97-AF65-F5344CB8AC3E}">
        <p14:creationId xmlns:p14="http://schemas.microsoft.com/office/powerpoint/2010/main" val="241652606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306069" y="908719"/>
            <a:ext cx="8730427" cy="3530157"/>
          </a:xfrm>
        </p:spPr>
        <p:txBody>
          <a:bodyPr>
            <a:normAutofit lnSpcReduction="10000"/>
          </a:bodyPr>
          <a:lstStyle/>
          <a:p>
            <a:pPr marL="0" indent="0">
              <a:buNone/>
            </a:pPr>
            <a:r>
              <a:rPr lang="zh-TW" altLang="en-US" sz="2000" dirty="0" smtClean="0">
                <a:solidFill>
                  <a:srgbClr val="FF0000"/>
                </a:solidFill>
                <a:latin typeface="標楷體" panose="03000509000000000000" pitchFamily="65" charset="-120"/>
                <a:ea typeface="標楷體" panose="03000509000000000000" pitchFamily="65" charset="-120"/>
              </a:rPr>
              <a:t>截流</a:t>
            </a:r>
            <a:r>
              <a:rPr lang="zh-TW" altLang="en-US" sz="2000" dirty="0">
                <a:solidFill>
                  <a:srgbClr val="FF0000"/>
                </a:solidFill>
                <a:latin typeface="標楷體" panose="03000509000000000000" pitchFamily="65" charset="-120"/>
                <a:ea typeface="標楷體" panose="03000509000000000000" pitchFamily="65" charset="-120"/>
              </a:rPr>
              <a:t>站的問題</a:t>
            </a:r>
            <a:r>
              <a:rPr lang="en-US" altLang="zh-TW" sz="2000" dirty="0">
                <a:solidFill>
                  <a:srgbClr val="FF0000"/>
                </a:solidFill>
                <a:latin typeface="標楷體" panose="03000509000000000000" pitchFamily="65" charset="-120"/>
                <a:ea typeface="標楷體" panose="03000509000000000000" pitchFamily="65" charset="-120"/>
              </a:rPr>
              <a:t>--</a:t>
            </a:r>
            <a:r>
              <a:rPr lang="zh-TW" altLang="en-US" sz="2000" dirty="0">
                <a:solidFill>
                  <a:srgbClr val="FF0000"/>
                </a:solidFill>
                <a:latin typeface="標楷體" panose="03000509000000000000" pitchFamily="65" charset="-120"/>
                <a:ea typeface="標楷體" panose="03000509000000000000" pitchFamily="65" charset="-120"/>
              </a:rPr>
              <a:t>季節性的</a:t>
            </a:r>
            <a:r>
              <a:rPr lang="zh-TW" altLang="en-US" sz="2000" dirty="0" smtClean="0">
                <a:solidFill>
                  <a:srgbClr val="FF0000"/>
                </a:solidFill>
                <a:latin typeface="標楷體" panose="03000509000000000000" pitchFamily="65" charset="-120"/>
                <a:ea typeface="標楷體" panose="03000509000000000000" pitchFamily="65" charset="-120"/>
              </a:rPr>
              <a:t>污染</a:t>
            </a:r>
            <a:endParaRPr lang="zh-TW" altLang="en-US" sz="2000" dirty="0">
              <a:solidFill>
                <a:srgbClr val="FF0000"/>
              </a:solidFill>
              <a:latin typeface="標楷體" panose="03000509000000000000" pitchFamily="65" charset="-120"/>
              <a:ea typeface="標楷體" panose="03000509000000000000" pitchFamily="65" charset="-120"/>
            </a:endParaRPr>
          </a:p>
          <a:p>
            <a:pPr marL="0" indent="0">
              <a:buNone/>
            </a:pPr>
            <a:r>
              <a:rPr lang="zh-TW" altLang="en-US" sz="2000" dirty="0">
                <a:solidFill>
                  <a:srgbClr val="002060"/>
                </a:solidFill>
                <a:latin typeface="標楷體" panose="03000509000000000000" pitchFamily="65" charset="-120"/>
                <a:ea typeface="標楷體" panose="03000509000000000000" pitchFamily="65" charset="-120"/>
              </a:rPr>
              <a:t>　　閘門截流污水的作法有一個嚴重的問題。首先是愛河主流水質變成「</a:t>
            </a:r>
            <a:r>
              <a:rPr lang="zh-TW" altLang="en-US" sz="2000" dirty="0">
                <a:solidFill>
                  <a:srgbClr val="9E1A04"/>
                </a:solidFill>
                <a:latin typeface="標楷體" panose="03000509000000000000" pitchFamily="65" charset="-120"/>
                <a:ea typeface="標楷體" panose="03000509000000000000" pitchFamily="65" charset="-120"/>
              </a:rPr>
              <a:t>冬季清澈，夏季污濁</a:t>
            </a:r>
            <a:r>
              <a:rPr lang="zh-TW" altLang="en-US" sz="2000" dirty="0">
                <a:solidFill>
                  <a:srgbClr val="002060"/>
                </a:solidFill>
                <a:latin typeface="標楷體" panose="03000509000000000000" pitchFamily="65" charset="-120"/>
                <a:ea typeface="標楷體" panose="03000509000000000000" pitchFamily="65" charset="-120"/>
              </a:rPr>
              <a:t>」的型態。高雄的</a:t>
            </a:r>
            <a:r>
              <a:rPr lang="zh-TW" altLang="en-US" sz="2000" dirty="0">
                <a:solidFill>
                  <a:srgbClr val="9E1A04"/>
                </a:solidFill>
                <a:latin typeface="標楷體" panose="03000509000000000000" pitchFamily="65" charset="-120"/>
                <a:ea typeface="標楷體" panose="03000509000000000000" pitchFamily="65" charset="-120"/>
              </a:rPr>
              <a:t>雨季</a:t>
            </a:r>
            <a:r>
              <a:rPr lang="zh-TW" altLang="en-US" sz="2000" dirty="0">
                <a:solidFill>
                  <a:srgbClr val="002060"/>
                </a:solidFill>
                <a:latin typeface="標楷體" panose="03000509000000000000" pitchFamily="65" charset="-120"/>
                <a:ea typeface="標楷體" panose="03000509000000000000" pitchFamily="65" charset="-120"/>
              </a:rPr>
              <a:t>集中在五月到九月，而愛河是高雄市主要的洩洪道，為防市區因雨淹水，這段期間愛河沿岸的污水閘門必須打開，疏導洪水排入愛河，這時原先想要防堵的污水也隨之流入愛河主流，造成</a:t>
            </a:r>
            <a:r>
              <a:rPr lang="zh-TW" altLang="en-US" sz="2000" dirty="0">
                <a:solidFill>
                  <a:srgbClr val="9E1A04"/>
                </a:solidFill>
                <a:latin typeface="標楷體" panose="03000509000000000000" pitchFamily="65" charset="-120"/>
                <a:ea typeface="標楷體" panose="03000509000000000000" pitchFamily="65" charset="-120"/>
              </a:rPr>
              <a:t>愛河水質急劇惡化</a:t>
            </a:r>
            <a:r>
              <a:rPr lang="zh-TW" altLang="en-US" sz="2000" dirty="0">
                <a:solidFill>
                  <a:srgbClr val="002060"/>
                </a:solidFill>
                <a:latin typeface="標楷體" panose="03000509000000000000" pitchFamily="65" charset="-120"/>
                <a:ea typeface="標楷體" panose="03000509000000000000" pitchFamily="65" charset="-120"/>
              </a:rPr>
              <a:t>。冬季時因非高雄的雨季，各處的污水閘門緊閉，善守截污本分，愛河主流因高雄港潮夕的自淨功能，水質反倒清澈</a:t>
            </a:r>
            <a:r>
              <a:rPr lang="zh-TW" altLang="en-US" sz="2000" dirty="0" smtClean="0">
                <a:solidFill>
                  <a:srgbClr val="002060"/>
                </a:solidFill>
                <a:latin typeface="標楷體" panose="03000509000000000000" pitchFamily="65" charset="-120"/>
                <a:ea typeface="標楷體" panose="03000509000000000000" pitchFamily="65" charset="-120"/>
              </a:rPr>
              <a:t>。</a:t>
            </a:r>
            <a:endParaRPr lang="zh-TW" altLang="en-US" sz="2000" dirty="0">
              <a:solidFill>
                <a:srgbClr val="002060"/>
              </a:solidFill>
              <a:latin typeface="標楷體" panose="03000509000000000000" pitchFamily="65" charset="-120"/>
              <a:ea typeface="標楷體" panose="03000509000000000000" pitchFamily="65" charset="-120"/>
            </a:endParaRPr>
          </a:p>
          <a:p>
            <a:pPr marL="0" indent="0">
              <a:buNone/>
            </a:pPr>
            <a:r>
              <a:rPr lang="zh-TW" altLang="en-US" sz="2000" dirty="0">
                <a:solidFill>
                  <a:srgbClr val="002060"/>
                </a:solidFill>
                <a:latin typeface="標楷體" panose="03000509000000000000" pitchFamily="65" charset="-120"/>
                <a:ea typeface="標楷體" panose="03000509000000000000" pitchFamily="65" charset="-120"/>
              </a:rPr>
              <a:t>　　而且在春夏突來的大雨，常讓大量汙水放流在愛河中，迅速惡化的水質經常造成大量的魚類死亡。 </a:t>
            </a:r>
          </a:p>
          <a:p>
            <a:pPr marL="0" indent="0">
              <a:buNone/>
            </a:pPr>
            <a:r>
              <a:rPr lang="zh-TW" altLang="en-US" sz="2000" dirty="0">
                <a:solidFill>
                  <a:srgbClr val="002060"/>
                </a:solidFill>
                <a:latin typeface="標楷體" panose="03000509000000000000" pitchFamily="65" charset="-120"/>
                <a:ea typeface="標楷體" panose="03000509000000000000" pitchFamily="65" charset="-120"/>
              </a:rPr>
              <a:t>　　所以最好的整治方式，還是讓污水地下道早點完成接管，這才算是根本的整治作法。 </a:t>
            </a:r>
          </a:p>
        </p:txBody>
      </p:sp>
      <p:sp>
        <p:nvSpPr>
          <p:cNvPr id="2" name="標題 1"/>
          <p:cNvSpPr>
            <a:spLocks noGrp="1"/>
          </p:cNvSpPr>
          <p:nvPr>
            <p:ph type="title"/>
          </p:nvPr>
        </p:nvSpPr>
        <p:spPr>
          <a:xfrm>
            <a:off x="155574" y="7937"/>
            <a:ext cx="9384978"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愛河的整治方法～截流</a:t>
            </a:r>
            <a:r>
              <a:rPr lang="zh-TW" altLang="en-US" sz="4800" dirty="0" smtClean="0">
                <a:solidFill>
                  <a:srgbClr val="0070C0"/>
                </a:solidFill>
                <a:latin typeface="標楷體" panose="03000509000000000000" pitchFamily="65" charset="-120"/>
                <a:ea typeface="標楷體" panose="03000509000000000000" pitchFamily="65" charset="-120"/>
              </a:rPr>
              <a:t>站問題</a:t>
            </a:r>
            <a:endParaRPr lang="zh-TW" altLang="en-US" sz="4800" dirty="0">
              <a:solidFill>
                <a:srgbClr val="0070C0"/>
              </a:solidFill>
              <a:latin typeface="標楷體" panose="03000509000000000000" pitchFamily="65" charset="-120"/>
              <a:ea typeface="標楷體" panose="03000509000000000000" pitchFamily="65" charset="-120"/>
            </a:endParaRPr>
          </a:p>
        </p:txBody>
      </p:sp>
      <p:sp>
        <p:nvSpPr>
          <p:cNvPr id="6" name="AutoShape 4" descr="D:\103-506\%E6%A1%82%E6%9E%97%E5%A4%A7%E6%B2%B3%E6%88%80%E4%BB%8B%E7%B4%B9\%E6%84%9B%E6%B2%B3\%E6%84%9B%E6%B2%B3\library.taiwanschoolnet.org\cyberfair2005\yacjh\images\pru0-5.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sp>
        <p:nvSpPr>
          <p:cNvPr id="5" name="矩形 4"/>
          <p:cNvSpPr/>
          <p:nvPr/>
        </p:nvSpPr>
        <p:spPr>
          <a:xfrm>
            <a:off x="322570" y="4077072"/>
            <a:ext cx="5690618" cy="2585323"/>
          </a:xfrm>
          <a:prstGeom prst="rect">
            <a:avLst/>
          </a:prstGeom>
        </p:spPr>
        <p:txBody>
          <a:bodyPr wrap="square">
            <a:spAutoFit/>
          </a:bodyPr>
          <a:lstStyle/>
          <a:p>
            <a:pPr lvl="0">
              <a:spcBef>
                <a:spcPct val="20000"/>
              </a:spcBef>
            </a:pPr>
            <a:r>
              <a:rPr lang="zh-TW" altLang="en-US" dirty="0">
                <a:solidFill>
                  <a:srgbClr val="FF0000"/>
                </a:solidFill>
                <a:latin typeface="標楷體" panose="03000509000000000000" pitchFamily="65" charset="-120"/>
                <a:ea typeface="標楷體" panose="03000509000000000000" pitchFamily="65" charset="-120"/>
              </a:rPr>
              <a:t>截流站的</a:t>
            </a:r>
            <a:r>
              <a:rPr lang="zh-TW" altLang="en-US" dirty="0" smtClean="0">
                <a:solidFill>
                  <a:srgbClr val="FF0000"/>
                </a:solidFill>
                <a:latin typeface="標楷體" panose="03000509000000000000" pitchFamily="65" charset="-120"/>
                <a:ea typeface="標楷體" panose="03000509000000000000" pitchFamily="65" charset="-120"/>
              </a:rPr>
              <a:t>未來</a:t>
            </a:r>
            <a:endParaRPr lang="zh-TW" altLang="en-US" dirty="0">
              <a:solidFill>
                <a:srgbClr val="FF0000"/>
              </a:solidFill>
              <a:latin typeface="標楷體" panose="03000509000000000000" pitchFamily="65" charset="-120"/>
              <a:ea typeface="標楷體" panose="03000509000000000000" pitchFamily="65" charset="-120"/>
            </a:endParaRPr>
          </a:p>
          <a:p>
            <a:pPr lvl="0">
              <a:spcBef>
                <a:spcPct val="20000"/>
              </a:spcBef>
            </a:pPr>
            <a:r>
              <a:rPr lang="zh-TW" altLang="en-US" dirty="0">
                <a:solidFill>
                  <a:srgbClr val="FF0000"/>
                </a:solidFill>
                <a:latin typeface="標楷體" panose="03000509000000000000" pitchFamily="65" charset="-120"/>
                <a:ea typeface="標楷體" panose="03000509000000000000" pitchFamily="65" charset="-120"/>
              </a:rPr>
              <a:t>　　</a:t>
            </a:r>
            <a:r>
              <a:rPr lang="zh-TW" altLang="en-US" sz="2000" dirty="0">
                <a:solidFill>
                  <a:srgbClr val="002060"/>
                </a:solidFill>
                <a:latin typeface="標楷體" panose="03000509000000000000" pitchFamily="65" charset="-120"/>
                <a:ea typeface="標楷體" panose="03000509000000000000" pitchFamily="65" charset="-120"/>
              </a:rPr>
              <a:t>由於截流站只是在污水下水道完成前，一個</a:t>
            </a:r>
            <a:r>
              <a:rPr lang="zh-TW" altLang="en-US" sz="2000" dirty="0">
                <a:solidFill>
                  <a:srgbClr val="9E1A04"/>
                </a:solidFill>
                <a:latin typeface="標楷體" panose="03000509000000000000" pitchFamily="65" charset="-120"/>
                <a:ea typeface="標楷體" panose="03000509000000000000" pitchFamily="65" charset="-120"/>
              </a:rPr>
              <a:t>過渡性的建設</a:t>
            </a:r>
            <a:r>
              <a:rPr lang="zh-TW" altLang="en-US" sz="2000" dirty="0">
                <a:solidFill>
                  <a:srgbClr val="002060"/>
                </a:solidFill>
                <a:latin typeface="標楷體" panose="03000509000000000000" pitchFamily="65" charset="-120"/>
                <a:ea typeface="標楷體" panose="03000509000000000000" pitchFamily="65" charset="-120"/>
              </a:rPr>
              <a:t>，所以總有一天截流站將走入歷史。而這些截流站將成為我們愛河的一個特色，所以現在截流站都設計的相當美觀大方、而具實用性，目的就是在未來截流站走入歷史後，能夠成為愛河沿岸的一個</a:t>
            </a:r>
            <a:r>
              <a:rPr lang="zh-TW" altLang="en-US" sz="2000" dirty="0">
                <a:solidFill>
                  <a:srgbClr val="9E1A04"/>
                </a:solidFill>
                <a:latin typeface="標楷體" panose="03000509000000000000" pitchFamily="65" charset="-120"/>
                <a:ea typeface="標楷體" panose="03000509000000000000" pitchFamily="65" charset="-120"/>
              </a:rPr>
              <a:t>觀光景點</a:t>
            </a:r>
            <a:r>
              <a:rPr lang="zh-TW" altLang="en-US" sz="2000" dirty="0">
                <a:solidFill>
                  <a:srgbClr val="002060"/>
                </a:solidFill>
                <a:latin typeface="標楷體" panose="03000509000000000000" pitchFamily="65" charset="-120"/>
                <a:ea typeface="標楷體" panose="03000509000000000000" pitchFamily="65" charset="-120"/>
              </a:rPr>
              <a:t>，讓大家記得曾有十一個小英雄默默為我們愛河努力。</a:t>
            </a:r>
          </a:p>
        </p:txBody>
      </p:sp>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3188" y="4602177"/>
            <a:ext cx="2854960" cy="1803400"/>
          </a:xfrm>
          <a:prstGeom prst="rect">
            <a:avLst/>
          </a:prstGeom>
        </p:spPr>
      </p:pic>
    </p:spTree>
    <p:extLst>
      <p:ext uri="{BB962C8B-B14F-4D97-AF65-F5344CB8AC3E}">
        <p14:creationId xmlns:p14="http://schemas.microsoft.com/office/powerpoint/2010/main" val="285037130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9523" y="3853676"/>
            <a:ext cx="3550880" cy="2711581"/>
          </a:xfrm>
          <a:prstGeom prst="rect">
            <a:avLst/>
          </a:prstGeom>
        </p:spPr>
      </p:pic>
      <p:sp>
        <p:nvSpPr>
          <p:cNvPr id="3" name="內容版面配置區 2"/>
          <p:cNvSpPr>
            <a:spLocks noGrp="1"/>
          </p:cNvSpPr>
          <p:nvPr>
            <p:ph idx="1"/>
          </p:nvPr>
        </p:nvSpPr>
        <p:spPr>
          <a:xfrm>
            <a:off x="306069" y="908719"/>
            <a:ext cx="8730427" cy="3071449"/>
          </a:xfrm>
        </p:spPr>
        <p:txBody>
          <a:bodyPr>
            <a:normAutofit fontScale="92500" lnSpcReduction="10000"/>
          </a:bodyPr>
          <a:lstStyle/>
          <a:p>
            <a:pPr marL="0" indent="627063">
              <a:buNone/>
            </a:pPr>
            <a:r>
              <a:rPr lang="zh-TW" altLang="en-US" sz="2000" dirty="0">
                <a:solidFill>
                  <a:srgbClr val="002060"/>
                </a:solidFill>
                <a:latin typeface="標楷體" panose="03000509000000000000" pitchFamily="65" charset="-120"/>
                <a:ea typeface="標楷體" panose="03000509000000000000" pitchFamily="65" charset="-120"/>
              </a:rPr>
              <a:t>愛河全長</a:t>
            </a:r>
            <a:r>
              <a:rPr lang="en-US" altLang="zh-TW" sz="2000" dirty="0">
                <a:solidFill>
                  <a:srgbClr val="002060"/>
                </a:solidFill>
                <a:latin typeface="標楷體" panose="03000509000000000000" pitchFamily="65" charset="-120"/>
                <a:ea typeface="標楷體" panose="03000509000000000000" pitchFamily="65" charset="-120"/>
              </a:rPr>
              <a:t>12</a:t>
            </a:r>
            <a:r>
              <a:rPr lang="zh-TW" altLang="en-US" sz="2000" dirty="0">
                <a:solidFill>
                  <a:srgbClr val="002060"/>
                </a:solidFill>
                <a:latin typeface="標楷體" panose="03000509000000000000" pitchFamily="65" charset="-120"/>
                <a:ea typeface="標楷體" panose="03000509000000000000" pitchFamily="65" charset="-120"/>
              </a:rPr>
              <a:t>公里，流經高雄市的有</a:t>
            </a:r>
            <a:r>
              <a:rPr lang="en-US" altLang="zh-TW" sz="2000" dirty="0">
                <a:solidFill>
                  <a:srgbClr val="002060"/>
                </a:solidFill>
                <a:latin typeface="標楷體" panose="03000509000000000000" pitchFamily="65" charset="-120"/>
                <a:ea typeface="標楷體" panose="03000509000000000000" pitchFamily="65" charset="-120"/>
              </a:rPr>
              <a:t>10.5</a:t>
            </a:r>
            <a:r>
              <a:rPr lang="zh-TW" altLang="en-US" sz="2000" dirty="0">
                <a:solidFill>
                  <a:srgbClr val="002060"/>
                </a:solidFill>
                <a:latin typeface="標楷體" panose="03000509000000000000" pitchFamily="65" charset="-120"/>
                <a:ea typeface="標楷體" panose="03000509000000000000" pitchFamily="65" charset="-120"/>
              </a:rPr>
              <a:t>公里，其中</a:t>
            </a:r>
            <a:r>
              <a:rPr lang="en-US" altLang="zh-TW" sz="2000" dirty="0">
                <a:solidFill>
                  <a:srgbClr val="002060"/>
                </a:solidFill>
                <a:latin typeface="標楷體" panose="03000509000000000000" pitchFamily="65" charset="-120"/>
                <a:ea typeface="標楷體" panose="03000509000000000000" pitchFamily="65" charset="-120"/>
              </a:rPr>
              <a:t>10.2</a:t>
            </a:r>
            <a:r>
              <a:rPr lang="zh-TW" altLang="en-US" sz="2000" dirty="0">
                <a:solidFill>
                  <a:srgbClr val="002060"/>
                </a:solidFill>
                <a:latin typeface="標楷體" panose="03000509000000000000" pitchFamily="65" charset="-120"/>
                <a:ea typeface="標楷體" panose="03000509000000000000" pitchFamily="65" charset="-120"/>
              </a:rPr>
              <a:t>公里已被整建成水泥的垂直堤岸，剩餘的這</a:t>
            </a:r>
            <a:r>
              <a:rPr lang="en-US" altLang="zh-TW" sz="2000" dirty="0">
                <a:solidFill>
                  <a:srgbClr val="002060"/>
                </a:solidFill>
                <a:latin typeface="標楷體" panose="03000509000000000000" pitchFamily="65" charset="-120"/>
                <a:ea typeface="標楷體" panose="03000509000000000000" pitchFamily="65" charset="-120"/>
              </a:rPr>
              <a:t>300</a:t>
            </a:r>
            <a:r>
              <a:rPr lang="zh-TW" altLang="en-US" sz="2000" dirty="0">
                <a:solidFill>
                  <a:srgbClr val="002060"/>
                </a:solidFill>
                <a:latin typeface="標楷體" panose="03000509000000000000" pitchFamily="65" charset="-120"/>
                <a:ea typeface="標楷體" panose="03000509000000000000" pitchFamily="65" charset="-120"/>
              </a:rPr>
              <a:t>公尺河道經文化愛河協會二年的爭取，建成壘石堆積的緩坡河堤，目的在為生物保留一個家，也為高雄的河流整治跨出新的一步</a:t>
            </a:r>
            <a:r>
              <a:rPr lang="zh-TW" altLang="en-US" sz="2000" dirty="0" smtClean="0">
                <a:solidFill>
                  <a:srgbClr val="002060"/>
                </a:solidFill>
                <a:latin typeface="標楷體" panose="03000509000000000000" pitchFamily="65" charset="-120"/>
                <a:ea typeface="標楷體" panose="03000509000000000000" pitchFamily="65" charset="-120"/>
              </a:rPr>
              <a:t>。</a:t>
            </a:r>
            <a:endParaRPr lang="en-US" altLang="zh-TW" sz="2000" dirty="0" smtClean="0">
              <a:solidFill>
                <a:srgbClr val="002060"/>
              </a:solidFill>
              <a:latin typeface="標楷體" panose="03000509000000000000" pitchFamily="65" charset="-120"/>
              <a:ea typeface="標楷體" panose="03000509000000000000" pitchFamily="65" charset="-120"/>
            </a:endParaRPr>
          </a:p>
          <a:p>
            <a:pPr marL="0" indent="0">
              <a:buNone/>
            </a:pPr>
            <a:r>
              <a:rPr lang="zh-TW" altLang="en-US" sz="2000" dirty="0">
                <a:solidFill>
                  <a:srgbClr val="002060"/>
                </a:solidFill>
                <a:latin typeface="標楷體" panose="03000509000000000000" pitchFamily="65" charset="-120"/>
                <a:ea typeface="標楷體" panose="03000509000000000000" pitchFamily="65" charset="-120"/>
              </a:rPr>
              <a:t>　　仿自然河岸，位於高雄榮民總醫院東側的圍牆外，後港橋附近。這段河道約</a:t>
            </a:r>
            <a:r>
              <a:rPr lang="en-US" altLang="zh-TW" sz="2000" dirty="0">
                <a:solidFill>
                  <a:srgbClr val="002060"/>
                </a:solidFill>
                <a:latin typeface="標楷體" panose="03000509000000000000" pitchFamily="65" charset="-120"/>
                <a:ea typeface="標楷體" panose="03000509000000000000" pitchFamily="65" charset="-120"/>
              </a:rPr>
              <a:t>300</a:t>
            </a:r>
            <a:r>
              <a:rPr lang="zh-TW" altLang="en-US" sz="2000" dirty="0">
                <a:solidFill>
                  <a:srgbClr val="002060"/>
                </a:solidFill>
                <a:latin typeface="標楷體" panose="03000509000000000000" pitchFamily="65" charset="-120"/>
                <a:ea typeface="標楷體" panose="03000509000000000000" pitchFamily="65" charset="-120"/>
              </a:rPr>
              <a:t>公尺，是愛河</a:t>
            </a:r>
            <a:r>
              <a:rPr lang="zh-TW" altLang="en-US" sz="2000" dirty="0" smtClean="0">
                <a:solidFill>
                  <a:srgbClr val="002060"/>
                </a:solidFill>
                <a:latin typeface="標楷體" panose="03000509000000000000" pitchFamily="65" charset="-120"/>
                <a:ea typeface="標楷體" panose="03000509000000000000" pitchFamily="65" charset="-120"/>
              </a:rPr>
              <a:t>自仁武區進入</a:t>
            </a:r>
            <a:r>
              <a:rPr lang="zh-TW" altLang="en-US" sz="2000" dirty="0">
                <a:solidFill>
                  <a:srgbClr val="002060"/>
                </a:solidFill>
                <a:latin typeface="標楷體" panose="03000509000000000000" pitchFamily="65" charset="-120"/>
                <a:ea typeface="標楷體" panose="03000509000000000000" pitchFamily="65" charset="-120"/>
              </a:rPr>
              <a:t>高雄市的最上游，再往上穿過高速公路便是渠道縱橫的愛河源頭。而這段仿自然河岸的建立，其目的在「</a:t>
            </a:r>
            <a:r>
              <a:rPr lang="zh-TW" altLang="en-US" sz="2000" dirty="0">
                <a:solidFill>
                  <a:srgbClr val="C00000"/>
                </a:solidFill>
                <a:latin typeface="標楷體" panose="03000509000000000000" pitchFamily="65" charset="-120"/>
                <a:ea typeface="標楷體" panose="03000509000000000000" pitchFamily="65" charset="-120"/>
              </a:rPr>
              <a:t>為生物保留一個家</a:t>
            </a:r>
            <a:r>
              <a:rPr lang="zh-TW" altLang="en-US" sz="2000" dirty="0">
                <a:solidFill>
                  <a:srgbClr val="002060"/>
                </a:solidFill>
                <a:latin typeface="標楷體" panose="03000509000000000000" pitchFamily="65" charset="-120"/>
                <a:ea typeface="標楷體" panose="03000509000000000000" pitchFamily="65" charset="-120"/>
              </a:rPr>
              <a:t>」，也為高雄人創造一個</a:t>
            </a:r>
            <a:r>
              <a:rPr lang="zh-TW" altLang="en-US" sz="2000" dirty="0">
                <a:solidFill>
                  <a:srgbClr val="C00000"/>
                </a:solidFill>
                <a:latin typeface="標楷體" panose="03000509000000000000" pitchFamily="65" charset="-120"/>
                <a:ea typeface="標楷體" panose="03000509000000000000" pitchFamily="65" charset="-120"/>
              </a:rPr>
              <a:t>親水的空間</a:t>
            </a:r>
            <a:r>
              <a:rPr lang="zh-TW" altLang="en-US" sz="2000" dirty="0" smtClean="0">
                <a:solidFill>
                  <a:srgbClr val="002060"/>
                </a:solidFill>
                <a:latin typeface="標楷體" panose="03000509000000000000" pitchFamily="65" charset="-120"/>
                <a:ea typeface="標楷體" panose="03000509000000000000" pitchFamily="65" charset="-120"/>
              </a:rPr>
              <a:t>。</a:t>
            </a:r>
            <a:endParaRPr lang="zh-TW" altLang="en-US" sz="2000" dirty="0">
              <a:solidFill>
                <a:srgbClr val="002060"/>
              </a:solidFill>
              <a:latin typeface="標楷體" panose="03000509000000000000" pitchFamily="65" charset="-120"/>
              <a:ea typeface="標楷體" panose="03000509000000000000" pitchFamily="65" charset="-120"/>
            </a:endParaRPr>
          </a:p>
          <a:p>
            <a:pPr marL="0" indent="0">
              <a:buNone/>
            </a:pPr>
            <a:r>
              <a:rPr lang="zh-TW" altLang="en-US" sz="2000" dirty="0">
                <a:solidFill>
                  <a:srgbClr val="002060"/>
                </a:solidFill>
                <a:latin typeface="標楷體" panose="03000509000000000000" pitchFamily="65" charset="-120"/>
                <a:ea typeface="標楷體" panose="03000509000000000000" pitchFamily="65" charset="-120"/>
              </a:rPr>
              <a:t>　　河流親水的涵意有二，一是</a:t>
            </a:r>
            <a:r>
              <a:rPr lang="zh-TW" altLang="en-US" sz="2000" dirty="0">
                <a:solidFill>
                  <a:srgbClr val="C00000"/>
                </a:solidFill>
                <a:latin typeface="標楷體" panose="03000509000000000000" pitchFamily="65" charset="-120"/>
                <a:ea typeface="標楷體" panose="03000509000000000000" pitchFamily="65" charset="-120"/>
              </a:rPr>
              <a:t>市民可以直接與水接觸</a:t>
            </a:r>
            <a:r>
              <a:rPr lang="zh-TW" altLang="en-US" sz="2000" dirty="0">
                <a:solidFill>
                  <a:srgbClr val="002060"/>
                </a:solidFill>
                <a:latin typeface="標楷體" panose="03000509000000000000" pitchFamily="65" charset="-120"/>
                <a:ea typeface="標楷體" panose="03000509000000000000" pitchFamily="65" charset="-120"/>
              </a:rPr>
              <a:t>，如宜蘭的冬山河親水公園，但前提必須是河岸的腹地夠寬、水質乾淨、水量足夠；一是</a:t>
            </a:r>
            <a:r>
              <a:rPr lang="zh-TW" altLang="en-US" sz="2000" dirty="0">
                <a:solidFill>
                  <a:srgbClr val="C00000"/>
                </a:solidFill>
                <a:latin typeface="標楷體" panose="03000509000000000000" pitchFamily="65" charset="-120"/>
                <a:ea typeface="標楷體" panose="03000509000000000000" pitchFamily="65" charset="-120"/>
              </a:rPr>
              <a:t>市民可以在堤岸無拘無束的散步</a:t>
            </a:r>
            <a:r>
              <a:rPr lang="zh-TW" altLang="en-US" sz="2000" dirty="0">
                <a:solidFill>
                  <a:srgbClr val="002060"/>
                </a:solidFill>
                <a:latin typeface="標楷體" panose="03000509000000000000" pitchFamily="65" charset="-120"/>
                <a:ea typeface="標楷體" panose="03000509000000000000" pitchFamily="65" charset="-120"/>
              </a:rPr>
              <a:t>，不用擔心若不慎掉落河中而無處可上岸</a:t>
            </a:r>
            <a:r>
              <a:rPr lang="zh-TW" altLang="en-US" sz="2000" dirty="0" smtClean="0">
                <a:solidFill>
                  <a:srgbClr val="002060"/>
                </a:solidFill>
                <a:latin typeface="標楷體" panose="03000509000000000000" pitchFamily="65" charset="-120"/>
                <a:ea typeface="標楷體" panose="03000509000000000000" pitchFamily="65" charset="-120"/>
              </a:rPr>
              <a:t>。</a:t>
            </a:r>
            <a:endParaRPr lang="en-US" altLang="zh-TW" sz="2000" dirty="0" smtClean="0">
              <a:solidFill>
                <a:srgbClr val="002060"/>
              </a:solidFill>
              <a:latin typeface="標楷體" panose="03000509000000000000" pitchFamily="65" charset="-120"/>
              <a:ea typeface="標楷體" panose="03000509000000000000" pitchFamily="65" charset="-120"/>
            </a:endParaRPr>
          </a:p>
          <a:p>
            <a:pPr marL="0" indent="0">
              <a:buNone/>
            </a:pPr>
            <a:endParaRPr lang="zh-TW" altLang="en-US" sz="2000" dirty="0">
              <a:solidFill>
                <a:srgbClr val="002060"/>
              </a:solidFill>
              <a:latin typeface="標楷體" panose="03000509000000000000" pitchFamily="65" charset="-120"/>
              <a:ea typeface="標楷體" panose="03000509000000000000" pitchFamily="65" charset="-120"/>
            </a:endParaRPr>
          </a:p>
        </p:txBody>
      </p:sp>
      <p:sp>
        <p:nvSpPr>
          <p:cNvPr id="2" name="標題 1"/>
          <p:cNvSpPr>
            <a:spLocks noGrp="1"/>
          </p:cNvSpPr>
          <p:nvPr>
            <p:ph type="title"/>
          </p:nvPr>
        </p:nvSpPr>
        <p:spPr>
          <a:xfrm>
            <a:off x="155574" y="7937"/>
            <a:ext cx="9384978"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愛河的整治方法～仿自然河岸</a:t>
            </a:r>
          </a:p>
        </p:txBody>
      </p:sp>
      <p:sp>
        <p:nvSpPr>
          <p:cNvPr id="6" name="AutoShape 4" descr="D:\103-506\%E6%A1%82%E6%9E%97%E5%A4%A7%E6%B2%B3%E6%88%80%E4%BB%8B%E7%B4%B9\%E6%84%9B%E6%B2%B3\%E6%84%9B%E6%B2%B3\library.taiwanschoolnet.org\cyberfair2005\yacjh\images\pru0-5.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sp>
        <p:nvSpPr>
          <p:cNvPr id="8" name="矩形 7"/>
          <p:cNvSpPr/>
          <p:nvPr/>
        </p:nvSpPr>
        <p:spPr>
          <a:xfrm>
            <a:off x="331735" y="3836002"/>
            <a:ext cx="5248377" cy="2862322"/>
          </a:xfrm>
          <a:prstGeom prst="rect">
            <a:avLst/>
          </a:prstGeom>
        </p:spPr>
        <p:txBody>
          <a:bodyPr wrap="square">
            <a:spAutoFit/>
          </a:bodyPr>
          <a:lstStyle/>
          <a:p>
            <a:pPr indent="542925"/>
            <a:r>
              <a:rPr lang="zh-TW" altLang="en-US" sz="2000" dirty="0">
                <a:solidFill>
                  <a:srgbClr val="002060"/>
                </a:solidFill>
                <a:latin typeface="標楷體" panose="03000509000000000000" pitchFamily="65" charset="-120"/>
                <a:ea typeface="標楷體" panose="03000509000000000000" pitchFamily="65" charset="-120"/>
              </a:rPr>
              <a:t>植綠部分</a:t>
            </a:r>
            <a:r>
              <a:rPr lang="zh-TW" altLang="en-US" sz="2000" dirty="0">
                <a:solidFill>
                  <a:srgbClr val="C00000"/>
                </a:solidFill>
                <a:latin typeface="標楷體" panose="03000509000000000000" pitchFamily="65" charset="-120"/>
                <a:ea typeface="標楷體" panose="03000509000000000000" pitchFamily="65" charset="-120"/>
              </a:rPr>
              <a:t>喬木</a:t>
            </a:r>
            <a:r>
              <a:rPr lang="zh-TW" altLang="en-US" sz="2000" dirty="0">
                <a:solidFill>
                  <a:srgbClr val="002060"/>
                </a:solidFill>
                <a:latin typeface="標楷體" panose="03000509000000000000" pitchFamily="65" charset="-120"/>
                <a:ea typeface="標楷體" panose="03000509000000000000" pitchFamily="65" charset="-120"/>
              </a:rPr>
              <a:t>的選擇甚為重要，適宜的樹種不僅可以營造特殊的風情，也可達成預定的目標。這段河岸的喬木樹種有誘鳥植栽如</a:t>
            </a:r>
            <a:r>
              <a:rPr lang="zh-TW" altLang="en-US" sz="2000" dirty="0">
                <a:solidFill>
                  <a:srgbClr val="C00000"/>
                </a:solidFill>
                <a:latin typeface="標楷體" panose="03000509000000000000" pitchFamily="65" charset="-120"/>
                <a:ea typeface="標楷體" panose="03000509000000000000" pitchFamily="65" charset="-120"/>
              </a:rPr>
              <a:t>稜果榕、苦楝、樟樹，有本土樹種如大葉山欖、香楠、欖仁</a:t>
            </a:r>
            <a:r>
              <a:rPr lang="zh-TW" altLang="en-US" sz="2000" dirty="0">
                <a:solidFill>
                  <a:srgbClr val="002060"/>
                </a:solidFill>
                <a:latin typeface="標楷體" panose="03000509000000000000" pitchFamily="65" charset="-120"/>
                <a:ea typeface="標楷體" panose="03000509000000000000" pitchFamily="65" charset="-120"/>
              </a:rPr>
              <a:t>。假以時日，長成巨木，引來鳥類蝴蝶，豐富河岸景觀，是可以預期的。「</a:t>
            </a:r>
            <a:r>
              <a:rPr lang="zh-TW" altLang="en-US" sz="2000" dirty="0">
                <a:solidFill>
                  <a:srgbClr val="C00000"/>
                </a:solidFill>
                <a:latin typeface="標楷體" panose="03000509000000000000" pitchFamily="65" charset="-120"/>
                <a:ea typeface="標楷體" panose="03000509000000000000" pitchFamily="65" charset="-120"/>
              </a:rPr>
              <a:t>仿自然河岸的完工，不是愛河整治的結束，而是開始</a:t>
            </a:r>
            <a:r>
              <a:rPr lang="zh-TW" altLang="en-US" sz="2000" dirty="0">
                <a:solidFill>
                  <a:srgbClr val="002060"/>
                </a:solidFill>
                <a:latin typeface="標楷體" panose="03000509000000000000" pitchFamily="65" charset="-120"/>
                <a:ea typeface="標楷體" panose="03000509000000000000" pitchFamily="65" charset="-120"/>
              </a:rPr>
              <a:t>。」它象徵一場河流整治觀念的革命在高雄正要</a:t>
            </a:r>
            <a:r>
              <a:rPr lang="zh-TW" altLang="en-US" sz="2000" dirty="0" smtClean="0">
                <a:solidFill>
                  <a:srgbClr val="002060"/>
                </a:solidFill>
                <a:latin typeface="標楷體" panose="03000509000000000000" pitchFamily="65" charset="-120"/>
                <a:ea typeface="標楷體" panose="03000509000000000000" pitchFamily="65" charset="-120"/>
              </a:rPr>
              <a:t>展開。</a:t>
            </a:r>
            <a:endParaRPr lang="zh-TW" altLang="en-US" dirty="0"/>
          </a:p>
        </p:txBody>
      </p:sp>
    </p:spTree>
    <p:extLst>
      <p:ext uri="{BB962C8B-B14F-4D97-AF65-F5344CB8AC3E}">
        <p14:creationId xmlns:p14="http://schemas.microsoft.com/office/powerpoint/2010/main" val="40121256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7335" y="4504147"/>
            <a:ext cx="3103513" cy="2327635"/>
          </a:xfrm>
          <a:prstGeom prst="rect">
            <a:avLst/>
          </a:prstGeom>
        </p:spPr>
      </p:pic>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0849" y="3242341"/>
            <a:ext cx="4297288" cy="3222966"/>
          </a:xfrm>
          <a:prstGeom prst="rect">
            <a:avLst/>
          </a:prstGeom>
        </p:spPr>
      </p:pic>
      <p:sp>
        <p:nvSpPr>
          <p:cNvPr id="3" name="內容版面配置區 2"/>
          <p:cNvSpPr>
            <a:spLocks noGrp="1"/>
          </p:cNvSpPr>
          <p:nvPr>
            <p:ph idx="1"/>
          </p:nvPr>
        </p:nvSpPr>
        <p:spPr>
          <a:xfrm>
            <a:off x="307975" y="980728"/>
            <a:ext cx="8730427" cy="4536504"/>
          </a:xfrm>
        </p:spPr>
        <p:txBody>
          <a:bodyPr>
            <a:noAutofit/>
          </a:bodyPr>
          <a:lstStyle/>
          <a:p>
            <a:pPr marL="0" indent="0">
              <a:buNone/>
            </a:pPr>
            <a:r>
              <a:rPr lang="zh-TW" altLang="en-US" sz="2400" dirty="0">
                <a:solidFill>
                  <a:srgbClr val="002060"/>
                </a:solidFill>
                <a:latin typeface="標楷體" panose="03000509000000000000" pitchFamily="65" charset="-120"/>
                <a:ea typeface="標楷體" panose="03000509000000000000" pitchFamily="65" charset="-120"/>
              </a:rPr>
              <a:t>整治一條河並不是把它打扮的花枝招展是成功，</a:t>
            </a:r>
          </a:p>
          <a:p>
            <a:pPr marL="0" indent="0">
              <a:buNone/>
            </a:pPr>
            <a:r>
              <a:rPr lang="zh-TW" altLang="en-US" sz="2400" dirty="0">
                <a:solidFill>
                  <a:srgbClr val="002060"/>
                </a:solidFill>
                <a:latin typeface="標楷體" panose="03000509000000000000" pitchFamily="65" charset="-120"/>
                <a:ea typeface="標楷體" panose="03000509000000000000" pitchFamily="65" charset="-120"/>
              </a:rPr>
              <a:t>從舊照片看五十年代、六十年代的愛河，</a:t>
            </a:r>
          </a:p>
          <a:p>
            <a:pPr marL="0" indent="0">
              <a:buNone/>
            </a:pPr>
            <a:r>
              <a:rPr lang="zh-TW" altLang="en-US" sz="2400" dirty="0">
                <a:solidFill>
                  <a:srgbClr val="002060"/>
                </a:solidFill>
                <a:latin typeface="標楷體" panose="03000509000000000000" pitchFamily="65" charset="-120"/>
                <a:ea typeface="標楷體" panose="03000509000000000000" pitchFamily="65" charset="-120"/>
              </a:rPr>
              <a:t>兩岸有許多柳樹、水上有船，水裡有魚，</a:t>
            </a:r>
          </a:p>
          <a:p>
            <a:pPr marL="0" indent="0">
              <a:buNone/>
            </a:pPr>
            <a:r>
              <a:rPr lang="zh-TW" altLang="en-US" sz="2400" dirty="0">
                <a:solidFill>
                  <a:srgbClr val="002060"/>
                </a:solidFill>
                <a:latin typeface="標楷體" panose="03000509000000000000" pitchFamily="65" charset="-120"/>
                <a:ea typeface="標楷體" panose="03000509000000000000" pitchFamily="65" charset="-120"/>
              </a:rPr>
              <a:t>今天這些都不見了，</a:t>
            </a:r>
          </a:p>
          <a:p>
            <a:pPr marL="0" indent="0">
              <a:buNone/>
            </a:pPr>
            <a:r>
              <a:rPr lang="zh-TW" altLang="en-US" sz="2400" dirty="0">
                <a:solidFill>
                  <a:srgbClr val="002060"/>
                </a:solidFill>
                <a:latin typeface="標楷體" panose="03000509000000000000" pitchFamily="65" charset="-120"/>
                <a:ea typeface="標楷體" panose="03000509000000000000" pitchFamily="65" charset="-120"/>
              </a:rPr>
              <a:t>所以當年的景象才是我們整治愛河所追求的目標</a:t>
            </a:r>
            <a:r>
              <a:rPr lang="zh-TW" altLang="en-US" sz="2400" dirty="0" smtClean="0">
                <a:solidFill>
                  <a:srgbClr val="002060"/>
                </a:solidFill>
                <a:latin typeface="標楷體" panose="03000509000000000000" pitchFamily="65" charset="-120"/>
                <a:ea typeface="標楷體" panose="03000509000000000000" pitchFamily="65" charset="-120"/>
              </a:rPr>
              <a:t>。</a:t>
            </a:r>
            <a:endParaRPr lang="en-US" altLang="zh-TW" sz="2400" dirty="0" smtClean="0">
              <a:solidFill>
                <a:srgbClr val="002060"/>
              </a:solidFill>
              <a:latin typeface="標楷體" panose="03000509000000000000" pitchFamily="65" charset="-120"/>
              <a:ea typeface="標楷體" panose="03000509000000000000" pitchFamily="65" charset="-120"/>
            </a:endParaRPr>
          </a:p>
          <a:p>
            <a:pPr marL="0" indent="0">
              <a:buNone/>
            </a:pPr>
            <a:r>
              <a:rPr lang="zh-TW" altLang="en-US" sz="2400" dirty="0">
                <a:solidFill>
                  <a:srgbClr val="002060"/>
                </a:solidFill>
                <a:latin typeface="標楷體" panose="03000509000000000000" pitchFamily="65" charset="-120"/>
                <a:ea typeface="標楷體" panose="03000509000000000000" pitchFamily="65" charset="-120"/>
              </a:rPr>
              <a:t>更重要的是 </a:t>
            </a:r>
          </a:p>
          <a:p>
            <a:pPr marL="0" indent="0">
              <a:buNone/>
            </a:pPr>
            <a:r>
              <a:rPr lang="zh-TW" altLang="en-US" sz="2400" dirty="0">
                <a:solidFill>
                  <a:srgbClr val="002060"/>
                </a:solidFill>
                <a:latin typeface="標楷體" panose="03000509000000000000" pitchFamily="65" charset="-120"/>
                <a:ea typeface="標楷體" panose="03000509000000000000" pitchFamily="65" charset="-120"/>
              </a:rPr>
              <a:t>住在河兩旁的人愛這條河</a:t>
            </a:r>
            <a:r>
              <a:rPr lang="zh-TW" altLang="en-US" sz="2400" dirty="0" smtClean="0">
                <a:solidFill>
                  <a:srgbClr val="002060"/>
                </a:solidFill>
                <a:latin typeface="標楷體" panose="03000509000000000000" pitchFamily="65" charset="-120"/>
                <a:ea typeface="標楷體" panose="03000509000000000000" pitchFamily="65" charset="-120"/>
              </a:rPr>
              <a:t>，</a:t>
            </a:r>
            <a:endParaRPr lang="en-US" altLang="zh-TW" sz="2400" dirty="0" smtClean="0">
              <a:solidFill>
                <a:srgbClr val="002060"/>
              </a:solidFill>
              <a:latin typeface="標楷體" panose="03000509000000000000" pitchFamily="65" charset="-120"/>
              <a:ea typeface="標楷體" panose="03000509000000000000" pitchFamily="65" charset="-120"/>
            </a:endParaRPr>
          </a:p>
          <a:p>
            <a:pPr marL="0" indent="0">
              <a:buNone/>
            </a:pPr>
            <a:r>
              <a:rPr lang="zh-TW" altLang="en-US" sz="2400" dirty="0" smtClean="0">
                <a:solidFill>
                  <a:srgbClr val="9E1A04"/>
                </a:solidFill>
                <a:latin typeface="標楷體" panose="03000509000000000000" pitchFamily="65" charset="-120"/>
                <a:ea typeface="標楷體" panose="03000509000000000000" pitchFamily="65" charset="-120"/>
              </a:rPr>
              <a:t>河</a:t>
            </a:r>
            <a:r>
              <a:rPr lang="zh-TW" altLang="en-US" sz="2400" dirty="0">
                <a:solidFill>
                  <a:srgbClr val="9E1A04"/>
                </a:solidFill>
                <a:latin typeface="標楷體" panose="03000509000000000000" pitchFamily="65" charset="-120"/>
                <a:ea typeface="標楷體" panose="03000509000000000000" pitchFamily="65" charset="-120"/>
              </a:rPr>
              <a:t>才會活下去</a:t>
            </a:r>
            <a:r>
              <a:rPr lang="zh-TW" altLang="en-US" sz="2400" dirty="0" smtClean="0">
                <a:solidFill>
                  <a:srgbClr val="9E1A04"/>
                </a:solidFill>
                <a:latin typeface="標楷體" panose="03000509000000000000" pitchFamily="65" charset="-120"/>
                <a:ea typeface="標楷體" panose="03000509000000000000" pitchFamily="65" charset="-120"/>
              </a:rPr>
              <a:t>！</a:t>
            </a:r>
            <a:endParaRPr lang="zh-TW" altLang="en-US" sz="2400" dirty="0">
              <a:solidFill>
                <a:srgbClr val="9E1A04"/>
              </a:solidFill>
              <a:latin typeface="標楷體" panose="03000509000000000000" pitchFamily="65" charset="-120"/>
              <a:ea typeface="標楷體" panose="03000509000000000000" pitchFamily="65" charset="-120"/>
            </a:endParaRPr>
          </a:p>
        </p:txBody>
      </p:sp>
      <p:sp>
        <p:nvSpPr>
          <p:cNvPr id="2" name="標題 1"/>
          <p:cNvSpPr>
            <a:spLocks noGrp="1"/>
          </p:cNvSpPr>
          <p:nvPr>
            <p:ph type="title"/>
          </p:nvPr>
        </p:nvSpPr>
        <p:spPr>
          <a:xfrm>
            <a:off x="2267744" y="125745"/>
            <a:ext cx="3888432"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未來展望</a:t>
            </a:r>
          </a:p>
        </p:txBody>
      </p:sp>
      <p:sp>
        <p:nvSpPr>
          <p:cNvPr id="6" name="AutoShape 4" descr="D:\103-506\%E6%A1%82%E6%9E%97%E5%A4%A7%E6%B2%B3%E6%88%80%E4%BB%8B%E7%B4%B9\%E6%84%9B%E6%B2%B3\%E6%84%9B%E6%B2%B3\library.taiwanschoolnet.org\cyberfair2005\yacjh\images\pru0-5.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sp>
        <p:nvSpPr>
          <p:cNvPr id="10" name="矩形 9"/>
          <p:cNvSpPr/>
          <p:nvPr/>
        </p:nvSpPr>
        <p:spPr>
          <a:xfrm>
            <a:off x="6300192" y="260648"/>
            <a:ext cx="2777945" cy="830997"/>
          </a:xfrm>
          <a:prstGeom prst="rect">
            <a:avLst/>
          </a:prstGeom>
        </p:spPr>
        <p:txBody>
          <a:bodyPr wrap="square">
            <a:spAutoFit/>
          </a:bodyPr>
          <a:lstStyle/>
          <a:p>
            <a:pPr lvl="0">
              <a:spcBef>
                <a:spcPct val="20000"/>
              </a:spcBef>
            </a:pPr>
            <a:r>
              <a:rPr lang="en-US" altLang="zh-TW" sz="1600" dirty="0">
                <a:latin typeface="標楷體" panose="03000509000000000000" pitchFamily="65" charset="-120"/>
                <a:ea typeface="標楷體" panose="03000509000000000000" pitchFamily="65" charset="-120"/>
              </a:rPr>
              <a:t>&lt;&lt;</a:t>
            </a:r>
            <a:r>
              <a:rPr lang="zh-TW" altLang="en-US" sz="1600" dirty="0">
                <a:latin typeface="標楷體" panose="03000509000000000000" pitchFamily="65" charset="-120"/>
                <a:ea typeface="標楷體" panose="03000509000000000000" pitchFamily="65" charset="-120"/>
              </a:rPr>
              <a:t>節錄</a:t>
            </a:r>
            <a:r>
              <a:rPr lang="en-US" altLang="zh-TW" sz="1600" dirty="0">
                <a:latin typeface="標楷體" panose="03000509000000000000" pitchFamily="65" charset="-120"/>
                <a:ea typeface="標楷體" panose="03000509000000000000" pitchFamily="65" charset="-120"/>
              </a:rPr>
              <a:t>&gt;&gt;</a:t>
            </a:r>
            <a:r>
              <a:rPr lang="zh-TW" altLang="en-US" sz="1600" dirty="0">
                <a:latin typeface="標楷體" panose="03000509000000000000" pitchFamily="65" charset="-120"/>
                <a:ea typeface="標楷體" panose="03000509000000000000" pitchFamily="65" charset="-120"/>
              </a:rPr>
              <a:t>文化愛河協會期刊，第二期</a:t>
            </a:r>
            <a:r>
              <a:rPr lang="zh-TW" altLang="en-US" sz="1600" dirty="0" smtClean="0">
                <a:latin typeface="標楷體" panose="03000509000000000000" pitchFamily="65" charset="-120"/>
                <a:ea typeface="標楷體" panose="03000509000000000000" pitchFamily="65" charset="-120"/>
              </a:rPr>
              <a:t>，「</a:t>
            </a:r>
            <a:r>
              <a:rPr lang="zh-TW" altLang="en-US" sz="1600" dirty="0">
                <a:latin typeface="標楷體" panose="03000509000000000000" pitchFamily="65" charset="-120"/>
                <a:ea typeface="標楷體" panose="03000509000000000000" pitchFamily="65" charset="-120"/>
              </a:rPr>
              <a:t>冬山河的經驗傳承」，</a:t>
            </a:r>
            <a:r>
              <a:rPr lang="en-US" altLang="zh-TW" sz="1600" dirty="0" err="1">
                <a:latin typeface="標楷體" panose="03000509000000000000" pitchFamily="65" charset="-120"/>
                <a:ea typeface="標楷體" panose="03000509000000000000" pitchFamily="65" charset="-120"/>
              </a:rPr>
              <a:t>P13~15</a:t>
            </a:r>
            <a:endParaRPr lang="zh-TW" altLang="en-US" sz="16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8503229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9058" y="4462333"/>
            <a:ext cx="3136900" cy="2349500"/>
          </a:xfrm>
          <a:prstGeom prst="rect">
            <a:avLst/>
          </a:prstGeom>
        </p:spPr>
      </p:pic>
      <p:sp>
        <p:nvSpPr>
          <p:cNvPr id="3" name="內容版面配置區 2"/>
          <p:cNvSpPr>
            <a:spLocks noGrp="1"/>
          </p:cNvSpPr>
          <p:nvPr>
            <p:ph idx="1"/>
          </p:nvPr>
        </p:nvSpPr>
        <p:spPr>
          <a:xfrm>
            <a:off x="307975" y="908720"/>
            <a:ext cx="8836025" cy="5949280"/>
          </a:xfrm>
        </p:spPr>
        <p:txBody>
          <a:bodyPr>
            <a:noAutofit/>
          </a:bodyPr>
          <a:lstStyle/>
          <a:p>
            <a:pPr marL="0" indent="0">
              <a:buNone/>
            </a:pPr>
            <a:r>
              <a:rPr lang="zh-TW" altLang="en-US" sz="1600" dirty="0">
                <a:solidFill>
                  <a:srgbClr val="9E1A04"/>
                </a:solidFill>
                <a:latin typeface="標楷體" panose="03000509000000000000" pitchFamily="65" charset="-120"/>
                <a:ea typeface="標楷體" panose="03000509000000000000" pitchFamily="65" charset="-120"/>
              </a:rPr>
              <a:t>高雄市議會公報 第 </a:t>
            </a:r>
            <a:r>
              <a:rPr lang="en-US" altLang="zh-TW" sz="1600" dirty="0">
                <a:solidFill>
                  <a:srgbClr val="9E1A04"/>
                </a:solidFill>
                <a:latin typeface="標楷體" panose="03000509000000000000" pitchFamily="65" charset="-120"/>
                <a:ea typeface="標楷體" panose="03000509000000000000" pitchFamily="65" charset="-120"/>
              </a:rPr>
              <a:t>5 </a:t>
            </a:r>
            <a:r>
              <a:rPr lang="zh-TW" altLang="en-US" sz="1600" dirty="0">
                <a:solidFill>
                  <a:srgbClr val="9E1A04"/>
                </a:solidFill>
                <a:latin typeface="標楷體" panose="03000509000000000000" pitchFamily="65" charset="-120"/>
                <a:ea typeface="標楷體" panose="03000509000000000000" pitchFamily="65" charset="-120"/>
              </a:rPr>
              <a:t>卷 第 </a:t>
            </a:r>
            <a:r>
              <a:rPr lang="en-US" altLang="zh-TW" sz="1600" dirty="0">
                <a:solidFill>
                  <a:srgbClr val="9E1A04"/>
                </a:solidFill>
                <a:latin typeface="標楷體" panose="03000509000000000000" pitchFamily="65" charset="-120"/>
                <a:ea typeface="標楷體" panose="03000509000000000000" pitchFamily="65" charset="-120"/>
              </a:rPr>
              <a:t>12 </a:t>
            </a:r>
            <a:r>
              <a:rPr lang="zh-TW" altLang="en-US" sz="1600" dirty="0">
                <a:solidFill>
                  <a:srgbClr val="9E1A04"/>
                </a:solidFill>
                <a:latin typeface="標楷體" panose="03000509000000000000" pitchFamily="65" charset="-120"/>
                <a:ea typeface="標楷體" panose="03000509000000000000" pitchFamily="65" charset="-120"/>
              </a:rPr>
              <a:t>期（上</a:t>
            </a:r>
            <a:r>
              <a:rPr lang="zh-TW" altLang="en-US" sz="1600" dirty="0" smtClean="0">
                <a:solidFill>
                  <a:srgbClr val="9E1A04"/>
                </a:solidFill>
                <a:latin typeface="標楷體" panose="03000509000000000000" pitchFamily="65" charset="-120"/>
                <a:ea typeface="標楷體" panose="03000509000000000000" pitchFamily="65" charset="-120"/>
              </a:rPr>
              <a:t>）</a:t>
            </a:r>
            <a:r>
              <a:rPr lang="en-US" altLang="zh-TW" sz="1600" dirty="0">
                <a:solidFill>
                  <a:srgbClr val="9E1A04"/>
                </a:solidFill>
                <a:latin typeface="標楷體" panose="03000509000000000000" pitchFamily="65" charset="-120"/>
                <a:ea typeface="標楷體" panose="03000509000000000000" pitchFamily="65" charset="-120"/>
              </a:rPr>
              <a:t>102 </a:t>
            </a:r>
            <a:r>
              <a:rPr lang="zh-TW" altLang="en-US" sz="1600" dirty="0">
                <a:solidFill>
                  <a:srgbClr val="9E1A04"/>
                </a:solidFill>
                <a:latin typeface="標楷體" panose="03000509000000000000" pitchFamily="65" charset="-120"/>
                <a:ea typeface="標楷體" panose="03000509000000000000" pitchFamily="65" charset="-120"/>
              </a:rPr>
              <a:t>年 </a:t>
            </a:r>
            <a:r>
              <a:rPr lang="en-US" altLang="zh-TW" sz="1600" dirty="0">
                <a:solidFill>
                  <a:srgbClr val="9E1A04"/>
                </a:solidFill>
                <a:latin typeface="標楷體" panose="03000509000000000000" pitchFamily="65" charset="-120"/>
                <a:ea typeface="標楷體" panose="03000509000000000000" pitchFamily="65" charset="-120"/>
              </a:rPr>
              <a:t>4 </a:t>
            </a:r>
            <a:r>
              <a:rPr lang="zh-TW" altLang="en-US" sz="1600" dirty="0">
                <a:solidFill>
                  <a:srgbClr val="9E1A04"/>
                </a:solidFill>
                <a:latin typeface="標楷體" panose="03000509000000000000" pitchFamily="65" charset="-120"/>
                <a:ea typeface="標楷體" panose="03000509000000000000" pitchFamily="65" charset="-120"/>
              </a:rPr>
              <a:t>月 </a:t>
            </a:r>
            <a:r>
              <a:rPr lang="en-US" altLang="zh-TW" sz="1600" dirty="0">
                <a:solidFill>
                  <a:srgbClr val="9E1A04"/>
                </a:solidFill>
                <a:latin typeface="標楷體" panose="03000509000000000000" pitchFamily="65" charset="-120"/>
                <a:ea typeface="標楷體" panose="03000509000000000000" pitchFamily="65" charset="-120"/>
              </a:rPr>
              <a:t>3 </a:t>
            </a:r>
            <a:r>
              <a:rPr lang="zh-TW" altLang="en-US" sz="1600" dirty="0" smtClean="0">
                <a:solidFill>
                  <a:srgbClr val="9E1A04"/>
                </a:solidFill>
                <a:latin typeface="標楷體" panose="03000509000000000000" pitchFamily="65" charset="-120"/>
                <a:ea typeface="標楷體" panose="03000509000000000000" pitchFamily="65" charset="-120"/>
              </a:rPr>
              <a:t>日</a:t>
            </a:r>
            <a:endParaRPr lang="zh-TW" altLang="en-US" sz="1600" dirty="0">
              <a:solidFill>
                <a:srgbClr val="9E1A04"/>
              </a:solidFill>
              <a:latin typeface="標楷體" panose="03000509000000000000" pitchFamily="65" charset="-120"/>
              <a:ea typeface="標楷體" panose="03000509000000000000" pitchFamily="65" charset="-120"/>
            </a:endParaRP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「除臭、去泥、再創愛河心生命」</a:t>
            </a:r>
            <a:r>
              <a:rPr lang="en-US" altLang="zh-TW" sz="1600" dirty="0" smtClean="0">
                <a:solidFill>
                  <a:srgbClr val="9E1A04"/>
                </a:solidFill>
                <a:latin typeface="標楷體" panose="03000509000000000000" pitchFamily="65" charset="-120"/>
                <a:ea typeface="標楷體" panose="03000509000000000000" pitchFamily="65" charset="-120"/>
              </a:rPr>
              <a:t>1985</a:t>
            </a:r>
            <a:r>
              <a:rPr lang="zh-TW" altLang="en-US" sz="1600" dirty="0" smtClean="0">
                <a:solidFill>
                  <a:srgbClr val="9E1A04"/>
                </a:solidFill>
                <a:latin typeface="標楷體" panose="03000509000000000000" pitchFamily="65" charset="-120"/>
                <a:ea typeface="標楷體" panose="03000509000000000000" pitchFamily="65" charset="-120"/>
              </a:rPr>
              <a:t>年，</a:t>
            </a:r>
            <a:r>
              <a:rPr lang="en-US" altLang="zh-TW" sz="1600" dirty="0" smtClean="0">
                <a:solidFill>
                  <a:srgbClr val="9E1A04"/>
                </a:solidFill>
                <a:latin typeface="標楷體" panose="03000509000000000000" pitchFamily="65" charset="-120"/>
                <a:ea typeface="標楷體" panose="03000509000000000000" pitchFamily="65" charset="-120"/>
              </a:rPr>
              <a:t>6</a:t>
            </a:r>
            <a:r>
              <a:rPr lang="zh-TW" altLang="en-US" sz="1600" dirty="0" smtClean="0">
                <a:solidFill>
                  <a:srgbClr val="9E1A04"/>
                </a:solidFill>
                <a:latin typeface="標楷體" panose="03000509000000000000" pitchFamily="65" charset="-120"/>
                <a:ea typeface="標楷體" panose="03000509000000000000" pitchFamily="65" charset="-120"/>
              </a:rPr>
              <a:t>卷</a:t>
            </a:r>
            <a:r>
              <a:rPr lang="en-US" altLang="zh-TW" sz="1600" dirty="0" smtClean="0">
                <a:solidFill>
                  <a:srgbClr val="9E1A04"/>
                </a:solidFill>
                <a:latin typeface="標楷體" panose="03000509000000000000" pitchFamily="65" charset="-120"/>
                <a:ea typeface="標楷體" panose="03000509000000000000" pitchFamily="65" charset="-120"/>
              </a:rPr>
              <a:t>10</a:t>
            </a:r>
            <a:r>
              <a:rPr lang="zh-TW" altLang="en-US" sz="1600" dirty="0" smtClean="0">
                <a:solidFill>
                  <a:srgbClr val="9E1A04"/>
                </a:solidFill>
                <a:latin typeface="標楷體" panose="03000509000000000000" pitchFamily="65" charset="-120"/>
                <a:ea typeface="標楷體" panose="03000509000000000000" pitchFamily="65" charset="-120"/>
              </a:rPr>
              <a:t>期</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「親親愛河」</a:t>
            </a:r>
            <a:r>
              <a:rPr lang="en-US" altLang="zh-TW" sz="1600" dirty="0" smtClean="0">
                <a:solidFill>
                  <a:srgbClr val="9E1A04"/>
                </a:solidFill>
                <a:latin typeface="標楷體" panose="03000509000000000000" pitchFamily="65" charset="-120"/>
                <a:ea typeface="標楷體" panose="03000509000000000000" pitchFamily="65" charset="-120"/>
              </a:rPr>
              <a:t>1999</a:t>
            </a:r>
            <a:r>
              <a:rPr lang="zh-TW" altLang="en-US" sz="1600" dirty="0" smtClean="0">
                <a:solidFill>
                  <a:srgbClr val="9E1A04"/>
                </a:solidFill>
                <a:latin typeface="標楷體" panose="03000509000000000000" pitchFamily="65" charset="-120"/>
                <a:ea typeface="標楷體" panose="03000509000000000000" pitchFamily="65" charset="-120"/>
              </a:rPr>
              <a:t>年，高雄市文化愛河協會出版</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「打狗滄桑」</a:t>
            </a:r>
            <a:r>
              <a:rPr lang="en-US" altLang="zh-TW" sz="1600" dirty="0" smtClean="0">
                <a:solidFill>
                  <a:srgbClr val="9E1A04"/>
                </a:solidFill>
                <a:latin typeface="標楷體" panose="03000509000000000000" pitchFamily="65" charset="-120"/>
                <a:ea typeface="標楷體" panose="03000509000000000000" pitchFamily="65" charset="-120"/>
              </a:rPr>
              <a:t>1985</a:t>
            </a:r>
            <a:r>
              <a:rPr lang="zh-TW" altLang="en-US" sz="1600" dirty="0" smtClean="0">
                <a:solidFill>
                  <a:srgbClr val="9E1A04"/>
                </a:solidFill>
                <a:latin typeface="標楷體" panose="03000509000000000000" pitchFamily="65" charset="-120"/>
                <a:ea typeface="標楷體" panose="03000509000000000000" pitchFamily="65" charset="-120"/>
              </a:rPr>
              <a:t>年，林曙光，春暉出版</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「台灣賞樹情報」</a:t>
            </a:r>
            <a:r>
              <a:rPr lang="en-US" altLang="zh-TW" sz="1600" dirty="0" smtClean="0">
                <a:solidFill>
                  <a:srgbClr val="9E1A04"/>
                </a:solidFill>
                <a:latin typeface="標楷體" panose="03000509000000000000" pitchFamily="65" charset="-120"/>
                <a:ea typeface="標楷體" panose="03000509000000000000" pitchFamily="65" charset="-120"/>
              </a:rPr>
              <a:t>1994</a:t>
            </a:r>
            <a:r>
              <a:rPr lang="zh-TW" altLang="en-US" sz="1600" dirty="0" smtClean="0">
                <a:solidFill>
                  <a:srgbClr val="9E1A04"/>
                </a:solidFill>
                <a:latin typeface="標楷體" panose="03000509000000000000" pitchFamily="65" charset="-120"/>
                <a:ea typeface="標楷體" panose="03000509000000000000" pitchFamily="65" charset="-120"/>
              </a:rPr>
              <a:t>年，張碧員，大樹文化出版</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「文化愛河協會期刊」第一～六期，高雄市文化愛河協會出版</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「愛河行旅」</a:t>
            </a:r>
            <a:r>
              <a:rPr lang="en-US" altLang="zh-TW" sz="1600" dirty="0" smtClean="0">
                <a:solidFill>
                  <a:srgbClr val="9E1A04"/>
                </a:solidFill>
                <a:latin typeface="標楷體" panose="03000509000000000000" pitchFamily="65" charset="-120"/>
                <a:ea typeface="標楷體" panose="03000509000000000000" pitchFamily="65" charset="-120"/>
              </a:rPr>
              <a:t>2004</a:t>
            </a:r>
            <a:r>
              <a:rPr lang="zh-TW" altLang="en-US" sz="1600" dirty="0" smtClean="0">
                <a:solidFill>
                  <a:srgbClr val="9E1A04"/>
                </a:solidFill>
                <a:latin typeface="標楷體" panose="03000509000000000000" pitchFamily="65" charset="-120"/>
                <a:ea typeface="標楷體" panose="03000509000000000000" pitchFamily="65" charset="-120"/>
              </a:rPr>
              <a:t>年，高雄市立美術館出版</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「愛河映像」，</a:t>
            </a:r>
            <a:r>
              <a:rPr lang="en-US" altLang="zh-TW" sz="1600" dirty="0" smtClean="0">
                <a:solidFill>
                  <a:srgbClr val="9E1A04"/>
                </a:solidFill>
                <a:latin typeface="標楷體" panose="03000509000000000000" pitchFamily="65" charset="-120"/>
                <a:ea typeface="標楷體" panose="03000509000000000000" pitchFamily="65" charset="-120"/>
              </a:rPr>
              <a:t>1999</a:t>
            </a:r>
            <a:r>
              <a:rPr lang="zh-TW" altLang="en-US" sz="1600" dirty="0" smtClean="0">
                <a:solidFill>
                  <a:srgbClr val="9E1A04"/>
                </a:solidFill>
                <a:latin typeface="標楷體" panose="03000509000000000000" pitchFamily="65" charset="-120"/>
                <a:ea typeface="標楷體" panose="03000509000000000000" pitchFamily="65" charset="-120"/>
              </a:rPr>
              <a:t>年，高雄市文化愛河協會出版</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「漫步愛河花與樹」</a:t>
            </a:r>
            <a:r>
              <a:rPr lang="en-US" altLang="zh-TW" sz="1600" dirty="0" smtClean="0">
                <a:solidFill>
                  <a:srgbClr val="9E1A04"/>
                </a:solidFill>
                <a:latin typeface="標楷體" panose="03000509000000000000" pitchFamily="65" charset="-120"/>
                <a:ea typeface="標楷體" panose="03000509000000000000" pitchFamily="65" charset="-120"/>
              </a:rPr>
              <a:t>2003</a:t>
            </a:r>
            <a:r>
              <a:rPr lang="zh-TW" altLang="en-US" sz="1600" dirty="0" smtClean="0">
                <a:solidFill>
                  <a:srgbClr val="9E1A04"/>
                </a:solidFill>
                <a:latin typeface="標楷體" panose="03000509000000000000" pitchFamily="65" charset="-120"/>
                <a:ea typeface="標楷體" panose="03000509000000000000" pitchFamily="65" charset="-120"/>
              </a:rPr>
              <a:t>年，高雄市文化愛河協會出版</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「高雄灣紅樹林調查現狀報告」</a:t>
            </a:r>
            <a:r>
              <a:rPr lang="en-US" altLang="zh-TW" sz="1600" dirty="0" smtClean="0">
                <a:solidFill>
                  <a:srgbClr val="9E1A04"/>
                </a:solidFill>
                <a:latin typeface="標楷體" panose="03000509000000000000" pitchFamily="65" charset="-120"/>
                <a:ea typeface="標楷體" panose="03000509000000000000" pitchFamily="65" charset="-120"/>
              </a:rPr>
              <a:t>1984</a:t>
            </a:r>
            <a:r>
              <a:rPr lang="zh-TW" altLang="en-US" sz="1600" dirty="0" smtClean="0">
                <a:solidFill>
                  <a:srgbClr val="9E1A04"/>
                </a:solidFill>
                <a:latin typeface="標楷體" panose="03000509000000000000" pitchFamily="65" charset="-120"/>
                <a:ea typeface="標楷體" panose="03000509000000000000" pitchFamily="65" charset="-120"/>
              </a:rPr>
              <a:t>年，謝家林，高雄文獻</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「台灣賞鳥地圖」</a:t>
            </a:r>
            <a:r>
              <a:rPr lang="en-US" altLang="zh-TW" sz="1600" dirty="0" smtClean="0">
                <a:solidFill>
                  <a:srgbClr val="9E1A04"/>
                </a:solidFill>
                <a:latin typeface="標楷體" panose="03000509000000000000" pitchFamily="65" charset="-120"/>
                <a:ea typeface="標楷體" panose="03000509000000000000" pitchFamily="65" charset="-120"/>
              </a:rPr>
              <a:t>1995</a:t>
            </a:r>
            <a:r>
              <a:rPr lang="zh-TW" altLang="en-US" sz="1600" dirty="0" smtClean="0">
                <a:solidFill>
                  <a:srgbClr val="9E1A04"/>
                </a:solidFill>
                <a:latin typeface="標楷體" panose="03000509000000000000" pitchFamily="65" charset="-120"/>
                <a:ea typeface="標楷體" panose="03000509000000000000" pitchFamily="65" charset="-120"/>
              </a:rPr>
              <a:t>年，吳尊賢、徐偉斌，大樹文化出版</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「高美館訊」</a:t>
            </a:r>
            <a:r>
              <a:rPr lang="en-US" altLang="zh-TW" sz="1600" dirty="0" smtClean="0">
                <a:solidFill>
                  <a:srgbClr val="9E1A04"/>
                </a:solidFill>
                <a:latin typeface="標楷體" panose="03000509000000000000" pitchFamily="65" charset="-120"/>
                <a:ea typeface="標楷體" panose="03000509000000000000" pitchFamily="65" charset="-120"/>
              </a:rPr>
              <a:t>2004</a:t>
            </a:r>
            <a:r>
              <a:rPr lang="zh-TW" altLang="en-US" sz="1600" dirty="0" smtClean="0">
                <a:solidFill>
                  <a:srgbClr val="9E1A04"/>
                </a:solidFill>
                <a:latin typeface="標楷體" panose="03000509000000000000" pitchFamily="65" charset="-120"/>
                <a:ea typeface="標楷體" panose="03000509000000000000" pitchFamily="65" charset="-120"/>
              </a:rPr>
              <a:t>年</a:t>
            </a:r>
            <a:r>
              <a:rPr lang="en-US" altLang="zh-TW" sz="1600" dirty="0" smtClean="0">
                <a:solidFill>
                  <a:srgbClr val="9E1A04"/>
                </a:solidFill>
                <a:latin typeface="標楷體" panose="03000509000000000000" pitchFamily="65" charset="-120"/>
                <a:ea typeface="標楷體" panose="03000509000000000000" pitchFamily="65" charset="-120"/>
              </a:rPr>
              <a:t>12</a:t>
            </a:r>
            <a:r>
              <a:rPr lang="zh-TW" altLang="en-US" sz="1600" dirty="0" smtClean="0">
                <a:solidFill>
                  <a:srgbClr val="9E1A04"/>
                </a:solidFill>
                <a:latin typeface="標楷體" panose="03000509000000000000" pitchFamily="65" charset="-120"/>
                <a:ea typeface="標楷體" panose="03000509000000000000" pitchFamily="65" charset="-120"/>
              </a:rPr>
              <a:t>月，高雄市立美術館出版</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「文化愛河鄉土教育創意課程」，</a:t>
            </a:r>
            <a:r>
              <a:rPr lang="en-US" altLang="zh-TW" sz="1600" dirty="0" smtClean="0">
                <a:solidFill>
                  <a:srgbClr val="9E1A04"/>
                </a:solidFill>
                <a:latin typeface="標楷體" panose="03000509000000000000" pitchFamily="65" charset="-120"/>
                <a:ea typeface="標楷體" panose="03000509000000000000" pitchFamily="65" charset="-120"/>
              </a:rPr>
              <a:t>2003</a:t>
            </a:r>
            <a:r>
              <a:rPr lang="zh-TW" altLang="en-US" sz="1600" dirty="0" smtClean="0">
                <a:solidFill>
                  <a:srgbClr val="9E1A04"/>
                </a:solidFill>
                <a:latin typeface="標楷體" panose="03000509000000000000" pitchFamily="65" charset="-120"/>
                <a:ea typeface="標楷體" panose="03000509000000000000" pitchFamily="65" charset="-120"/>
              </a:rPr>
              <a:t>年，鼓山高中</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「文化愛河協會期刊」第五期，</a:t>
            </a:r>
            <a:r>
              <a:rPr lang="en-US" altLang="zh-TW" sz="1600" dirty="0" smtClean="0">
                <a:solidFill>
                  <a:srgbClr val="9E1A04"/>
                </a:solidFill>
                <a:latin typeface="標楷體" panose="03000509000000000000" pitchFamily="65" charset="-120"/>
                <a:ea typeface="標楷體" panose="03000509000000000000" pitchFamily="65" charset="-120"/>
              </a:rPr>
              <a:t>90</a:t>
            </a:r>
            <a:r>
              <a:rPr lang="zh-TW" altLang="en-US" sz="1600" dirty="0" smtClean="0">
                <a:solidFill>
                  <a:srgbClr val="9E1A04"/>
                </a:solidFill>
                <a:latin typeface="標楷體" panose="03000509000000000000" pitchFamily="65" charset="-120"/>
                <a:ea typeface="標楷體" panose="03000509000000000000" pitchFamily="65" charset="-120"/>
              </a:rPr>
              <a:t>年</a:t>
            </a:r>
            <a:r>
              <a:rPr lang="en-US" altLang="zh-TW" sz="1600" dirty="0" smtClean="0">
                <a:solidFill>
                  <a:srgbClr val="9E1A04"/>
                </a:solidFill>
                <a:latin typeface="標楷體" panose="03000509000000000000" pitchFamily="65" charset="-120"/>
                <a:ea typeface="標楷體" panose="03000509000000000000" pitchFamily="65" charset="-120"/>
              </a:rPr>
              <a:t>3</a:t>
            </a:r>
            <a:r>
              <a:rPr lang="zh-TW" altLang="en-US" sz="1600" dirty="0" smtClean="0">
                <a:solidFill>
                  <a:srgbClr val="9E1A04"/>
                </a:solidFill>
                <a:latin typeface="標楷體" panose="03000509000000000000" pitchFamily="65" charset="-120"/>
                <a:ea typeface="標楷體" panose="03000509000000000000" pitchFamily="65" charset="-120"/>
              </a:rPr>
              <a:t>月，高雄市文化愛河協會出版</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「認識我們的城市</a:t>
            </a:r>
            <a:r>
              <a:rPr lang="en-US" altLang="zh-TW" sz="1600" dirty="0" smtClean="0">
                <a:solidFill>
                  <a:srgbClr val="9E1A04"/>
                </a:solidFill>
                <a:latin typeface="標楷體" panose="03000509000000000000" pitchFamily="65" charset="-120"/>
                <a:ea typeface="標楷體" panose="03000509000000000000" pitchFamily="65" charset="-120"/>
              </a:rPr>
              <a:t>--</a:t>
            </a:r>
            <a:r>
              <a:rPr lang="zh-TW" altLang="en-US" sz="1600" dirty="0" smtClean="0">
                <a:solidFill>
                  <a:srgbClr val="9E1A04"/>
                </a:solidFill>
                <a:latin typeface="標楷體" panose="03000509000000000000" pitchFamily="65" charset="-120"/>
                <a:ea typeface="標楷體" panose="03000509000000000000" pitchFamily="65" charset="-120"/>
              </a:rPr>
              <a:t>愛河、高雄港水岸」</a:t>
            </a:r>
            <a:r>
              <a:rPr lang="en-US" altLang="zh-TW" sz="1600" dirty="0" smtClean="0">
                <a:solidFill>
                  <a:srgbClr val="9E1A04"/>
                </a:solidFill>
                <a:latin typeface="標楷體" panose="03000509000000000000" pitchFamily="65" charset="-120"/>
                <a:ea typeface="標楷體" panose="03000509000000000000" pitchFamily="65" charset="-120"/>
              </a:rPr>
              <a:t>2003</a:t>
            </a:r>
            <a:r>
              <a:rPr lang="zh-TW" altLang="en-US" sz="1600" dirty="0" smtClean="0">
                <a:solidFill>
                  <a:srgbClr val="9E1A04"/>
                </a:solidFill>
                <a:latin typeface="標楷體" panose="03000509000000000000" pitchFamily="65" charset="-120"/>
                <a:ea typeface="標楷體" panose="03000509000000000000" pitchFamily="65" charset="-120"/>
              </a:rPr>
              <a:t>年，鼓岩小學</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「中都采風」第二期，許玲齡，文化愛河協會出版</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「高雄畫刊」</a:t>
            </a:r>
            <a:r>
              <a:rPr lang="en-US" altLang="zh-TW" sz="1600" dirty="0" smtClean="0">
                <a:solidFill>
                  <a:srgbClr val="9E1A04"/>
                </a:solidFill>
                <a:latin typeface="標楷體" panose="03000509000000000000" pitchFamily="65" charset="-120"/>
                <a:ea typeface="標楷體" panose="03000509000000000000" pitchFamily="65" charset="-120"/>
              </a:rPr>
              <a:t>93</a:t>
            </a:r>
            <a:r>
              <a:rPr lang="zh-TW" altLang="en-US" sz="1600" dirty="0" smtClean="0">
                <a:solidFill>
                  <a:srgbClr val="9E1A04"/>
                </a:solidFill>
                <a:latin typeface="標楷體" panose="03000509000000000000" pitchFamily="65" charset="-120"/>
                <a:ea typeface="標楷體" panose="03000509000000000000" pitchFamily="65" charset="-120"/>
              </a:rPr>
              <a:t>年</a:t>
            </a:r>
            <a:r>
              <a:rPr lang="en-US" altLang="zh-TW" sz="1600" dirty="0" smtClean="0">
                <a:solidFill>
                  <a:srgbClr val="9E1A04"/>
                </a:solidFill>
                <a:latin typeface="標楷體" panose="03000509000000000000" pitchFamily="65" charset="-120"/>
                <a:ea typeface="標楷體" panose="03000509000000000000" pitchFamily="65" charset="-120"/>
              </a:rPr>
              <a:t>12</a:t>
            </a:r>
            <a:r>
              <a:rPr lang="zh-TW" altLang="en-US" sz="1600" dirty="0" smtClean="0">
                <a:solidFill>
                  <a:srgbClr val="9E1A04"/>
                </a:solidFill>
                <a:latin typeface="標楷體" panose="03000509000000000000" pitchFamily="65" charset="-120"/>
                <a:ea typeface="標楷體" panose="03000509000000000000" pitchFamily="65" charset="-120"/>
              </a:rPr>
              <a:t>月，高雄市政府新聞處</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「中都采風」創刊號，許玲齡，文化愛河協會出版</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「中都采風」第三期，許玲齡，文化愛河協會出版</a:t>
            </a:r>
          </a:p>
          <a:p>
            <a:pPr marL="0" indent="0">
              <a:buNone/>
            </a:pPr>
            <a:r>
              <a:rPr lang="zh-TW" altLang="en-US" sz="1600" dirty="0" smtClean="0">
                <a:solidFill>
                  <a:srgbClr val="9E1A04"/>
                </a:solidFill>
                <a:latin typeface="標楷體" panose="03000509000000000000" pitchFamily="65" charset="-120"/>
                <a:ea typeface="標楷體" panose="03000509000000000000" pitchFamily="65" charset="-120"/>
              </a:rPr>
              <a:t>「高雄市史蹟探源」</a:t>
            </a:r>
            <a:r>
              <a:rPr lang="en-US" altLang="zh-TW" sz="1600" dirty="0" smtClean="0">
                <a:solidFill>
                  <a:srgbClr val="9E1A04"/>
                </a:solidFill>
                <a:latin typeface="標楷體" panose="03000509000000000000" pitchFamily="65" charset="-120"/>
                <a:ea typeface="標楷體" panose="03000509000000000000" pitchFamily="65" charset="-120"/>
              </a:rPr>
              <a:t>2001</a:t>
            </a:r>
            <a:r>
              <a:rPr lang="zh-TW" altLang="en-US" sz="1600" dirty="0" smtClean="0">
                <a:solidFill>
                  <a:srgbClr val="9E1A04"/>
                </a:solidFill>
                <a:latin typeface="標楷體" panose="03000509000000000000" pitchFamily="65" charset="-120"/>
                <a:ea typeface="標楷體" panose="03000509000000000000" pitchFamily="65" charset="-120"/>
              </a:rPr>
              <a:t>年，楊玉姿，高雄市文獻會出版</a:t>
            </a:r>
            <a:endParaRPr lang="zh-TW" altLang="en-US" sz="1600" dirty="0">
              <a:solidFill>
                <a:srgbClr val="9E1A04"/>
              </a:solidFill>
              <a:latin typeface="標楷體" panose="03000509000000000000" pitchFamily="65" charset="-120"/>
              <a:ea typeface="標楷體" panose="03000509000000000000" pitchFamily="65" charset="-120"/>
            </a:endParaRPr>
          </a:p>
        </p:txBody>
      </p:sp>
      <p:sp>
        <p:nvSpPr>
          <p:cNvPr id="2" name="標題 1"/>
          <p:cNvSpPr>
            <a:spLocks noGrp="1"/>
          </p:cNvSpPr>
          <p:nvPr>
            <p:ph type="title"/>
          </p:nvPr>
        </p:nvSpPr>
        <p:spPr>
          <a:xfrm>
            <a:off x="2555776" y="59418"/>
            <a:ext cx="3888432" cy="908720"/>
          </a:xfrm>
        </p:spPr>
        <p:txBody>
          <a:bodyPr/>
          <a:lstStyle/>
          <a:p>
            <a:r>
              <a:rPr lang="zh-TW" altLang="en-US" sz="4800" dirty="0">
                <a:solidFill>
                  <a:srgbClr val="0070C0"/>
                </a:solidFill>
                <a:latin typeface="標楷體" panose="03000509000000000000" pitchFamily="65" charset="-120"/>
                <a:ea typeface="標楷體" panose="03000509000000000000" pitchFamily="65" charset="-120"/>
              </a:rPr>
              <a:t>參考書目</a:t>
            </a:r>
          </a:p>
        </p:txBody>
      </p:sp>
      <p:sp>
        <p:nvSpPr>
          <p:cNvPr id="6" name="AutoShape 4" descr="D:\103-506\%E6%A1%82%E6%9E%97%E5%A4%A7%E6%B2%B3%E6%88%80%E4%BB%8B%E7%B4%B9\%E6%84%9B%E6%B2%B3\%E6%84%9B%E6%B2%B3\library.taiwanschoolnet.org\cyberfair2005\yacjh\images\pru0-5.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5" name="圖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78469" y="279800"/>
            <a:ext cx="3136900" cy="4182533"/>
          </a:xfrm>
          <a:prstGeom prst="rect">
            <a:avLst/>
          </a:prstGeom>
        </p:spPr>
      </p:pic>
    </p:spTree>
    <p:extLst>
      <p:ext uri="{BB962C8B-B14F-4D97-AF65-F5344CB8AC3E}">
        <p14:creationId xmlns:p14="http://schemas.microsoft.com/office/powerpoint/2010/main" val="152908465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475656" y="5121770"/>
            <a:ext cx="6552727" cy="1547589"/>
          </a:xfrm>
        </p:spPr>
        <p:txBody>
          <a:bodyPr/>
          <a:lstStyle/>
          <a:p>
            <a:r>
              <a:rPr lang="zh-TW" altLang="en-US" sz="8800" dirty="0" smtClean="0">
                <a:solidFill>
                  <a:srgbClr val="0070C0"/>
                </a:solidFill>
                <a:latin typeface="標楷體" panose="03000509000000000000" pitchFamily="65" charset="-120"/>
                <a:ea typeface="標楷體" panose="03000509000000000000" pitchFamily="65" charset="-120"/>
              </a:rPr>
              <a:t>謝謝大家</a:t>
            </a:r>
            <a:endParaRPr lang="zh-TW" altLang="en-US" sz="8800" dirty="0">
              <a:solidFill>
                <a:srgbClr val="0070C0"/>
              </a:solidFill>
              <a:latin typeface="標楷體" panose="03000509000000000000" pitchFamily="65" charset="-120"/>
              <a:ea typeface="標楷體" panose="03000509000000000000" pitchFamily="65" charset="-120"/>
            </a:endParaRPr>
          </a:p>
        </p:txBody>
      </p:sp>
      <p:sp>
        <p:nvSpPr>
          <p:cNvPr id="6" name="AutoShape 4" descr="D:\103-506\%E6%A1%82%E6%9E%97%E5%A4%A7%E6%B2%B3%E6%88%80%E4%BB%8B%E7%B4%B9\%E6%84%9B%E6%B2%B3\%E6%84%9B%E6%B2%B3\library.taiwanschoolnet.org\cyberfair2005\yacjh\images\pru0-5.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975" y="553482"/>
            <a:ext cx="6056890" cy="4536504"/>
          </a:xfrm>
          <a:prstGeom prst="rect">
            <a:avLst/>
          </a:prstGeom>
        </p:spPr>
      </p:pic>
      <p:pic>
        <p:nvPicPr>
          <p:cNvPr id="5" name="內容版面配置區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663553" y="553482"/>
            <a:ext cx="3314700" cy="4527604"/>
          </a:xfrm>
        </p:spPr>
      </p:pic>
      <p:sp>
        <p:nvSpPr>
          <p:cNvPr id="8" name="矩形 7"/>
          <p:cNvSpPr/>
          <p:nvPr/>
        </p:nvSpPr>
        <p:spPr>
          <a:xfrm>
            <a:off x="431411" y="7937"/>
            <a:ext cx="6840760" cy="984885"/>
          </a:xfrm>
          <a:prstGeom prst="rect">
            <a:avLst/>
          </a:prstGeom>
        </p:spPr>
        <p:txBody>
          <a:bodyPr wrap="square">
            <a:spAutoFit/>
          </a:bodyPr>
          <a:lstStyle/>
          <a:p>
            <a:r>
              <a:rPr lang="zh-TW" altLang="en-US" sz="4000" b="1" dirty="0">
                <a:ln w="12700">
                  <a:solidFill>
                    <a:srgbClr val="04617B"/>
                  </a:solidFill>
                </a:ln>
                <a:solidFill>
                  <a:srgbClr val="0070C0"/>
                </a:solidFill>
                <a:effectLst>
                  <a:outerShdw blurRad="50800" dist="38100" dir="8100000" algn="tr" rotWithShape="0">
                    <a:prstClr val="black">
                      <a:alpha val="40000"/>
                    </a:prstClr>
                  </a:outerShdw>
                </a:effectLst>
                <a:latin typeface="標楷體" panose="03000509000000000000" pitchFamily="65" charset="-120"/>
                <a:ea typeface="標楷體" panose="03000509000000000000" pitchFamily="65" charset="-120"/>
                <a:cs typeface="+mj-cs"/>
              </a:rPr>
              <a:t>讓我們永浴愛河幸福美滿！</a:t>
            </a:r>
            <a:r>
              <a:rPr lang="en-US" altLang="zh-TW" sz="4000" b="1" dirty="0">
                <a:ln w="12700">
                  <a:solidFill>
                    <a:srgbClr val="04617B"/>
                  </a:solidFill>
                </a:ln>
                <a:solidFill>
                  <a:srgbClr val="0070C0"/>
                </a:solidFill>
                <a:effectLst>
                  <a:outerShdw blurRad="50800" dist="38100" dir="8100000" algn="tr" rotWithShape="0">
                    <a:prstClr val="black">
                      <a:alpha val="40000"/>
                    </a:prstClr>
                  </a:outerShdw>
                </a:effectLst>
                <a:latin typeface="標楷體" panose="03000509000000000000" pitchFamily="65" charset="-120"/>
                <a:ea typeface="標楷體" panose="03000509000000000000" pitchFamily="65" charset="-120"/>
                <a:cs typeface="+mj-cs"/>
              </a:rPr>
              <a:t/>
            </a:r>
            <a:br>
              <a:rPr lang="en-US" altLang="zh-TW" sz="4000" b="1" dirty="0">
                <a:ln w="12700">
                  <a:solidFill>
                    <a:srgbClr val="04617B"/>
                  </a:solidFill>
                </a:ln>
                <a:solidFill>
                  <a:srgbClr val="0070C0"/>
                </a:solidFill>
                <a:effectLst>
                  <a:outerShdw blurRad="50800" dist="38100" dir="8100000" algn="tr" rotWithShape="0">
                    <a:prstClr val="black">
                      <a:alpha val="40000"/>
                    </a:prstClr>
                  </a:outerShdw>
                </a:effectLst>
                <a:latin typeface="標楷體" panose="03000509000000000000" pitchFamily="65" charset="-120"/>
                <a:ea typeface="標楷體" panose="03000509000000000000" pitchFamily="65" charset="-120"/>
                <a:cs typeface="+mj-cs"/>
              </a:rPr>
            </a:br>
            <a:endParaRPr lang="zh-TW" altLang="en-US" dirty="0"/>
          </a:p>
        </p:txBody>
      </p:sp>
    </p:spTree>
    <p:extLst>
      <p:ext uri="{BB962C8B-B14F-4D97-AF65-F5344CB8AC3E}">
        <p14:creationId xmlns:p14="http://schemas.microsoft.com/office/powerpoint/2010/main" val="136535247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熱力">
  <a:themeElements>
    <a:clrScheme name="流線">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熱力">
      <a:maj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熱力">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3175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63500" dist="38100" dir="8100000" rotWithShape="0">
              <a:srgbClr val="000000">
                <a:alpha val="45000"/>
              </a:srgbClr>
            </a:outerShdw>
          </a:effectLst>
        </a:effectStyle>
        <a:effectStyle>
          <a:effectLst>
            <a:outerShdw blurRad="101600" dist="63500" dir="8100000" rotWithShape="0">
              <a:srgbClr val="000000">
                <a:alpha val="40000"/>
              </a:srgbClr>
            </a:outerShdw>
          </a:effectLst>
          <a:scene3d>
            <a:camera prst="orthographicFront">
              <a:rot lat="0" lon="0" rev="0"/>
            </a:camera>
            <a:lightRig rig="threePt" dir="t">
              <a:rot lat="0" lon="0" rev="3000000"/>
            </a:lightRig>
          </a:scene3d>
          <a:sp3d>
            <a:bevelT h="19050"/>
          </a:sp3d>
        </a:effectStyle>
      </a:effectStyleLst>
      <a:bgFillStyleLst>
        <a:solidFill>
          <a:schemeClr val="phClr"/>
        </a:solidFill>
        <a:gradFill rotWithShape="1">
          <a:gsLst>
            <a:gs pos="0">
              <a:schemeClr val="phClr">
                <a:tint val="100000"/>
                <a:lumMod val="125000"/>
              </a:schemeClr>
            </a:gs>
            <a:gs pos="55000">
              <a:schemeClr val="phClr">
                <a:shade val="100000"/>
                <a:satMod val="100000"/>
                <a:lumMod val="100000"/>
              </a:schemeClr>
            </a:gs>
            <a:gs pos="100000">
              <a:schemeClr val="phClr">
                <a:shade val="90000"/>
                <a:satMod val="300000"/>
                <a:lumMod val="95000"/>
              </a:schemeClr>
            </a:gs>
          </a:gsLst>
          <a:lin ang="5400000" scaled="0"/>
        </a:gradFill>
        <a:blipFill>
          <a:blip xmlns:r="http://schemas.openxmlformats.org/officeDocument/2006/relationships" r:embed="rId1">
            <a:duotone>
              <a:schemeClr val="phClr">
                <a:shade val="80000"/>
              </a:schemeClr>
              <a:schemeClr val="phClr">
                <a:tint val="98000"/>
                <a:satMod val="13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906</TotalTime>
  <Words>4469</Words>
  <Application>Microsoft Office PowerPoint</Application>
  <PresentationFormat>如螢幕大小 (4:3)</PresentationFormat>
  <Paragraphs>204</Paragraphs>
  <Slides>33</Slides>
  <Notes>0</Notes>
  <HiddenSlides>0</HiddenSlides>
  <MMClips>0</MMClips>
  <ScaleCrop>false</ScaleCrop>
  <HeadingPairs>
    <vt:vector size="4" baseType="variant">
      <vt:variant>
        <vt:lpstr>佈景主題</vt:lpstr>
      </vt:variant>
      <vt:variant>
        <vt:i4>1</vt:i4>
      </vt:variant>
      <vt:variant>
        <vt:lpstr>投影片標題</vt:lpstr>
      </vt:variant>
      <vt:variant>
        <vt:i4>33</vt:i4>
      </vt:variant>
    </vt:vector>
  </HeadingPairs>
  <TitlesOfParts>
    <vt:vector size="34" baseType="lpstr">
      <vt:lpstr>熱力</vt:lpstr>
      <vt:lpstr>愛河生態探索</vt:lpstr>
      <vt:lpstr>沿岸生態～前言</vt:lpstr>
      <vt:lpstr>沿岸生態～魚類種類</vt:lpstr>
      <vt:lpstr>愛河常見的魚類〈一〉</vt:lpstr>
      <vt:lpstr>愛河常見的魚類〈二〉</vt:lpstr>
      <vt:lpstr>愛河常見的魚類〈三〉</vt:lpstr>
      <vt:lpstr>沿岸生態～植物種類</vt:lpstr>
      <vt:lpstr>愛河沿岸常見的植物〈一〉</vt:lpstr>
      <vt:lpstr>愛河沿岸常見的植物〈二〉</vt:lpstr>
      <vt:lpstr>愛河沿岸常見的植物〈三〉</vt:lpstr>
      <vt:lpstr>愛河沿岸常見的植物〈四〉</vt:lpstr>
      <vt:lpstr>愛河沿岸常見的植物〈五〉</vt:lpstr>
      <vt:lpstr>愛河沿岸常見的植物〈六〉</vt:lpstr>
      <vt:lpstr>沿岸生態～鳥類種類</vt:lpstr>
      <vt:lpstr>愛河沿岸常見的鳥類〈一〉</vt:lpstr>
      <vt:lpstr>愛河沿岸常見的鳥類〈二〉</vt:lpstr>
      <vt:lpstr>愛河沿岸常見的鳥類〈三〉</vt:lpstr>
      <vt:lpstr>愛河的環境危機─前言</vt:lpstr>
      <vt:lpstr>愛河的環境危機─家庭工業污水</vt:lpstr>
      <vt:lpstr>早期對愛河污染問題的處理</vt:lpstr>
      <vt:lpstr>愛河的環境危機─河岸破壞一</vt:lpstr>
      <vt:lpstr>愛河的環境危機─河岸破壞二</vt:lpstr>
      <vt:lpstr>愛河的整治方法～前言</vt:lpstr>
      <vt:lpstr>愛河的整治方法～污水地下道一</vt:lpstr>
      <vt:lpstr>愛河的整治方法～污水地下道二</vt:lpstr>
      <vt:lpstr>愛河的整治方法～污水地下道三</vt:lpstr>
      <vt:lpstr>愛河的整治方法～截流站</vt:lpstr>
      <vt:lpstr>愛河的整治方法～截流站功能</vt:lpstr>
      <vt:lpstr>愛河的整治方法～截流站問題</vt:lpstr>
      <vt:lpstr>愛河的整治方法～仿自然河岸</vt:lpstr>
      <vt:lpstr>未來展望</vt:lpstr>
      <vt:lpstr>參考書目</vt:lpstr>
      <vt:lpstr>謝謝大家</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愛河的簡介與故事</dc:title>
  <dc:creator>user</dc:creator>
  <cp:lastModifiedBy>user</cp:lastModifiedBy>
  <cp:revision>96</cp:revision>
  <dcterms:created xsi:type="dcterms:W3CDTF">2015-04-08T07:10:36Z</dcterms:created>
  <dcterms:modified xsi:type="dcterms:W3CDTF">2015-05-05T05:25:20Z</dcterms:modified>
</cp:coreProperties>
</file>